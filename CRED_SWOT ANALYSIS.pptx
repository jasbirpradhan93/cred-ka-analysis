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27"/>
  </p:notesMasterIdLst>
  <p:sldIdLst>
    <p:sldId id="256" r:id="rId2"/>
    <p:sldId id="284" r:id="rId3"/>
    <p:sldId id="313" r:id="rId4"/>
    <p:sldId id="328" r:id="rId5"/>
    <p:sldId id="314" r:id="rId6"/>
    <p:sldId id="270" r:id="rId7"/>
    <p:sldId id="316" r:id="rId8"/>
    <p:sldId id="330" r:id="rId9"/>
    <p:sldId id="317" r:id="rId10"/>
    <p:sldId id="329" r:id="rId11"/>
    <p:sldId id="318" r:id="rId12"/>
    <p:sldId id="315" r:id="rId13"/>
    <p:sldId id="319" r:id="rId14"/>
    <p:sldId id="320" r:id="rId15"/>
    <p:sldId id="321" r:id="rId16"/>
    <p:sldId id="322" r:id="rId17"/>
    <p:sldId id="331" r:id="rId18"/>
    <p:sldId id="323" r:id="rId19"/>
    <p:sldId id="327" r:id="rId20"/>
    <p:sldId id="325" r:id="rId21"/>
    <p:sldId id="324" r:id="rId22"/>
    <p:sldId id="326" r:id="rId23"/>
    <p:sldId id="332" r:id="rId24"/>
    <p:sldId id="269" r:id="rId25"/>
    <p:sldId id="333" r:id="rId26"/>
  </p:sldIdLst>
  <p:sldSz cx="9144000" cy="5143500" type="screen16x9"/>
  <p:notesSz cx="6858000" cy="9144000"/>
  <p:embeddedFontLst>
    <p:embeddedFont>
      <p:font typeface="Archivo" panose="020B0604020202020204" charset="0"/>
      <p:regular r:id="rId28"/>
      <p:bold r:id="rId29"/>
      <p:italic r:id="rId30"/>
      <p:boldItalic r:id="rId31"/>
    </p:embeddedFont>
    <p:embeddedFont>
      <p:font typeface="Krona One" panose="020B0604020202020204" charset="0"/>
      <p:regular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4B7472A-872E-42B0-8786-194885A10E59}">
  <a:tblStyle styleId="{04B7472A-872E-42B0-8786-194885A10E5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080" y="31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158c2dfc6bb_1_177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8" name="Google Shape;1058;g158c2dfc6bb_1_177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158c2dfc6bb_1_174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158c2dfc6bb_1_174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158c2dfc6bb_1_175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158c2dfc6bb_1_175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287175" y="2201050"/>
            <a:ext cx="6795600" cy="6795600"/>
          </a:xfrm>
          <a:prstGeom prst="ellipse">
            <a:avLst/>
          </a:prstGeom>
          <a:gradFill>
            <a:gsLst>
              <a:gs pos="0">
                <a:schemeClr val="accent3"/>
              </a:gs>
              <a:gs pos="4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2399825" y="-3101675"/>
            <a:ext cx="6795600" cy="6795600"/>
          </a:xfrm>
          <a:prstGeom prst="ellipse">
            <a:avLst/>
          </a:prstGeom>
          <a:gradFill>
            <a:gsLst>
              <a:gs pos="0">
                <a:schemeClr val="dk2"/>
              </a:gs>
              <a:gs pos="4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3626200" y="1039188"/>
            <a:ext cx="4802700" cy="22749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626201" y="3693913"/>
            <a:ext cx="4802700" cy="410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3" name="Google Shape;13;p2"/>
          <p:cNvCxnSpPr/>
          <p:nvPr/>
        </p:nvCxnSpPr>
        <p:spPr>
          <a:xfrm>
            <a:off x="715050" y="493563"/>
            <a:ext cx="7713900" cy="0"/>
          </a:xfrm>
          <a:prstGeom prst="straightConnector1">
            <a:avLst/>
          </a:prstGeom>
          <a:noFill/>
          <a:ln w="9525" cap="flat" cmpd="sng">
            <a:solidFill>
              <a:schemeClr val="dk1"/>
            </a:solidFill>
            <a:prstDash val="solid"/>
            <a:round/>
            <a:headEnd type="none" w="med" len="med"/>
            <a:tailEnd type="none" w="med" len="med"/>
          </a:ln>
        </p:spPr>
      </p:cxnSp>
      <p:cxnSp>
        <p:nvCxnSpPr>
          <p:cNvPr id="14" name="Google Shape;14;p2"/>
          <p:cNvCxnSpPr/>
          <p:nvPr/>
        </p:nvCxnSpPr>
        <p:spPr>
          <a:xfrm>
            <a:off x="715050" y="4649938"/>
            <a:ext cx="7713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7"/>
        <p:cNvGrpSpPr/>
        <p:nvPr/>
      </p:nvGrpSpPr>
      <p:grpSpPr>
        <a:xfrm>
          <a:off x="0" y="0"/>
          <a:ext cx="0" cy="0"/>
          <a:chOff x="0" y="0"/>
          <a:chExt cx="0" cy="0"/>
        </a:xfrm>
      </p:grpSpPr>
      <p:sp>
        <p:nvSpPr>
          <p:cNvPr id="68" name="Google Shape;68;p10"/>
          <p:cNvSpPr txBox="1">
            <a:spLocks noGrp="1"/>
          </p:cNvSpPr>
          <p:nvPr>
            <p:ph type="body" idx="1"/>
          </p:nvPr>
        </p:nvSpPr>
        <p:spPr>
          <a:xfrm>
            <a:off x="2033550" y="3608825"/>
            <a:ext cx="5076900" cy="1002000"/>
          </a:xfrm>
          <a:prstGeom prst="rect">
            <a:avLst/>
          </a:prstGeom>
          <a:solidFill>
            <a:schemeClr val="lt1"/>
          </a:solidFill>
        </p:spPr>
        <p:txBody>
          <a:bodyPr spcFirstLastPara="1" wrap="square" lIns="91425" tIns="91425" rIns="91425" bIns="91425" anchor="t" anchorCtr="0">
            <a:noAutofit/>
          </a:bodyPr>
          <a:lstStyle>
            <a:lvl1pPr marL="457200" lvl="0" indent="-228600" algn="ctr">
              <a:lnSpc>
                <a:spcPct val="100000"/>
              </a:lnSpc>
              <a:spcBef>
                <a:spcPts val="0"/>
              </a:spcBef>
              <a:spcAft>
                <a:spcPts val="0"/>
              </a:spcAft>
              <a:buSzPts val="1400"/>
              <a:buNone/>
              <a:defRPr sz="2800">
                <a:latin typeface="Krona One"/>
                <a:ea typeface="Krona One"/>
                <a:cs typeface="Krona One"/>
                <a:sym typeface="Krona One"/>
              </a:defRPr>
            </a:lvl1pPr>
          </a:lstStyle>
          <a:p>
            <a:endParaRPr/>
          </a:p>
        </p:txBody>
      </p:sp>
      <p:cxnSp>
        <p:nvCxnSpPr>
          <p:cNvPr id="69" name="Google Shape;69;p10"/>
          <p:cNvCxnSpPr/>
          <p:nvPr/>
        </p:nvCxnSpPr>
        <p:spPr>
          <a:xfrm>
            <a:off x="715050" y="493563"/>
            <a:ext cx="7713900" cy="0"/>
          </a:xfrm>
          <a:prstGeom prst="straightConnector1">
            <a:avLst/>
          </a:prstGeom>
          <a:noFill/>
          <a:ln w="9525" cap="flat" cmpd="sng">
            <a:solidFill>
              <a:schemeClr val="dk1"/>
            </a:solidFill>
            <a:prstDash val="solid"/>
            <a:round/>
            <a:headEnd type="none" w="med" len="med"/>
            <a:tailEnd type="none" w="med" len="med"/>
          </a:ln>
        </p:spPr>
      </p:cxnSp>
      <p:cxnSp>
        <p:nvCxnSpPr>
          <p:cNvPr id="70" name="Google Shape;70;p10"/>
          <p:cNvCxnSpPr/>
          <p:nvPr/>
        </p:nvCxnSpPr>
        <p:spPr>
          <a:xfrm>
            <a:off x="715050" y="4649938"/>
            <a:ext cx="7713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BLANK_6">
    <p:spTree>
      <p:nvGrpSpPr>
        <p:cNvPr id="1" name="Shape 97"/>
        <p:cNvGrpSpPr/>
        <p:nvPr/>
      </p:nvGrpSpPr>
      <p:grpSpPr>
        <a:xfrm>
          <a:off x="0" y="0"/>
          <a:ext cx="0" cy="0"/>
          <a:chOff x="0" y="0"/>
          <a:chExt cx="0" cy="0"/>
        </a:xfrm>
      </p:grpSpPr>
      <p:sp>
        <p:nvSpPr>
          <p:cNvPr id="98" name="Google Shape;98;p14"/>
          <p:cNvSpPr/>
          <p:nvPr/>
        </p:nvSpPr>
        <p:spPr>
          <a:xfrm>
            <a:off x="3060200" y="2656475"/>
            <a:ext cx="6795600" cy="6795600"/>
          </a:xfrm>
          <a:prstGeom prst="ellipse">
            <a:avLst/>
          </a:prstGeom>
          <a:gradFill>
            <a:gsLst>
              <a:gs pos="0">
                <a:schemeClr val="accent3"/>
              </a:gs>
              <a:gs pos="4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4"/>
          <p:cNvSpPr/>
          <p:nvPr/>
        </p:nvSpPr>
        <p:spPr>
          <a:xfrm>
            <a:off x="-3333425" y="-3160500"/>
            <a:ext cx="6795600" cy="6795600"/>
          </a:xfrm>
          <a:prstGeom prst="ellipse">
            <a:avLst/>
          </a:prstGeom>
          <a:gradFill>
            <a:gsLst>
              <a:gs pos="0">
                <a:schemeClr val="dk2"/>
              </a:gs>
              <a:gs pos="4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4"/>
          <p:cNvSpPr txBox="1">
            <a:spLocks noGrp="1"/>
          </p:cNvSpPr>
          <p:nvPr>
            <p:ph type="title"/>
          </p:nvPr>
        </p:nvSpPr>
        <p:spPr>
          <a:xfrm>
            <a:off x="4352150" y="3322350"/>
            <a:ext cx="4076100" cy="397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101" name="Google Shape;101;p14"/>
          <p:cNvSpPr txBox="1">
            <a:spLocks noGrp="1"/>
          </p:cNvSpPr>
          <p:nvPr>
            <p:ph type="subTitle" idx="1"/>
          </p:nvPr>
        </p:nvSpPr>
        <p:spPr>
          <a:xfrm>
            <a:off x="4352150" y="1423675"/>
            <a:ext cx="4076100" cy="1686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400"/>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
        <p:nvSpPr>
          <p:cNvPr id="102" name="Google Shape;102;p14"/>
          <p:cNvSpPr>
            <a:spLocks noGrp="1"/>
          </p:cNvSpPr>
          <p:nvPr>
            <p:ph type="pic" idx="2"/>
          </p:nvPr>
        </p:nvSpPr>
        <p:spPr>
          <a:xfrm>
            <a:off x="868200" y="1102200"/>
            <a:ext cx="3051600" cy="2939100"/>
          </a:xfrm>
          <a:prstGeom prst="round2DiagRect">
            <a:avLst>
              <a:gd name="adj1" fmla="val 16667"/>
              <a:gd name="adj2" fmla="val 0"/>
            </a:avLst>
          </a:prstGeom>
          <a:noFill/>
          <a:ln w="38100" cap="flat" cmpd="sng">
            <a:solidFill>
              <a:schemeClr val="lt2"/>
            </a:solidFill>
            <a:prstDash val="solid"/>
            <a:round/>
            <a:headEnd type="none" w="sm" len="sm"/>
            <a:tailEnd type="none" w="sm" len="sm"/>
          </a:ln>
        </p:spPr>
      </p:sp>
      <p:cxnSp>
        <p:nvCxnSpPr>
          <p:cNvPr id="103" name="Google Shape;103;p14"/>
          <p:cNvCxnSpPr/>
          <p:nvPr/>
        </p:nvCxnSpPr>
        <p:spPr>
          <a:xfrm>
            <a:off x="715050" y="493563"/>
            <a:ext cx="7713900" cy="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14"/>
          <p:cNvCxnSpPr/>
          <p:nvPr/>
        </p:nvCxnSpPr>
        <p:spPr>
          <a:xfrm>
            <a:off x="715050" y="4649938"/>
            <a:ext cx="7713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1">
  <p:cSld name="BLANK_21">
    <p:bg>
      <p:bgPr>
        <a:noFill/>
        <a:effectLst/>
      </p:bgPr>
    </p:bg>
    <p:spTree>
      <p:nvGrpSpPr>
        <p:cNvPr id="1" name="Shape 251"/>
        <p:cNvGrpSpPr/>
        <p:nvPr/>
      </p:nvGrpSpPr>
      <p:grpSpPr>
        <a:xfrm>
          <a:off x="0" y="0"/>
          <a:ext cx="0" cy="0"/>
          <a:chOff x="0" y="0"/>
          <a:chExt cx="0" cy="0"/>
        </a:xfrm>
      </p:grpSpPr>
      <p:sp>
        <p:nvSpPr>
          <p:cNvPr id="252" name="Google Shape;252;p29"/>
          <p:cNvSpPr/>
          <p:nvPr/>
        </p:nvSpPr>
        <p:spPr>
          <a:xfrm>
            <a:off x="123575" y="2387050"/>
            <a:ext cx="6795600" cy="6795600"/>
          </a:xfrm>
          <a:prstGeom prst="ellipse">
            <a:avLst/>
          </a:prstGeom>
          <a:gradFill>
            <a:gsLst>
              <a:gs pos="0">
                <a:schemeClr val="accent3"/>
              </a:gs>
              <a:gs pos="4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9"/>
          <p:cNvSpPr/>
          <p:nvPr/>
        </p:nvSpPr>
        <p:spPr>
          <a:xfrm>
            <a:off x="5821200" y="-3491475"/>
            <a:ext cx="6795600" cy="6795600"/>
          </a:xfrm>
          <a:prstGeom prst="ellipse">
            <a:avLst/>
          </a:prstGeom>
          <a:gradFill>
            <a:gsLst>
              <a:gs pos="0">
                <a:schemeClr val="dk2"/>
              </a:gs>
              <a:gs pos="4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9"/>
          <p:cNvSpPr txBox="1">
            <a:spLocks noGrp="1"/>
          </p:cNvSpPr>
          <p:nvPr>
            <p:ph type="title"/>
          </p:nvPr>
        </p:nvSpPr>
        <p:spPr>
          <a:xfrm>
            <a:off x="715800" y="536998"/>
            <a:ext cx="7712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255" name="Google Shape;255;p29"/>
          <p:cNvCxnSpPr/>
          <p:nvPr/>
        </p:nvCxnSpPr>
        <p:spPr>
          <a:xfrm>
            <a:off x="715050" y="493563"/>
            <a:ext cx="7713900" cy="0"/>
          </a:xfrm>
          <a:prstGeom prst="straightConnector1">
            <a:avLst/>
          </a:prstGeom>
          <a:noFill/>
          <a:ln w="9525" cap="flat" cmpd="sng">
            <a:solidFill>
              <a:schemeClr val="dk1"/>
            </a:solidFill>
            <a:prstDash val="solid"/>
            <a:round/>
            <a:headEnd type="none" w="med" len="med"/>
            <a:tailEnd type="none" w="med" len="med"/>
          </a:ln>
        </p:spPr>
      </p:cxnSp>
      <p:cxnSp>
        <p:nvCxnSpPr>
          <p:cNvPr id="256" name="Google Shape;256;p29"/>
          <p:cNvCxnSpPr/>
          <p:nvPr/>
        </p:nvCxnSpPr>
        <p:spPr>
          <a:xfrm>
            <a:off x="715050" y="4649938"/>
            <a:ext cx="7713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3">
    <p:spTree>
      <p:nvGrpSpPr>
        <p:cNvPr id="1" name="Shape 271"/>
        <p:cNvGrpSpPr/>
        <p:nvPr/>
      </p:nvGrpSpPr>
      <p:grpSpPr>
        <a:xfrm>
          <a:off x="0" y="0"/>
          <a:ext cx="0" cy="0"/>
          <a:chOff x="0" y="0"/>
          <a:chExt cx="0" cy="0"/>
        </a:xfrm>
      </p:grpSpPr>
      <p:sp>
        <p:nvSpPr>
          <p:cNvPr id="272" name="Google Shape;272;p32"/>
          <p:cNvSpPr/>
          <p:nvPr/>
        </p:nvSpPr>
        <p:spPr>
          <a:xfrm>
            <a:off x="5750675" y="2200625"/>
            <a:ext cx="6795600" cy="6795600"/>
          </a:xfrm>
          <a:prstGeom prst="ellipse">
            <a:avLst/>
          </a:prstGeom>
          <a:gradFill>
            <a:gsLst>
              <a:gs pos="0">
                <a:schemeClr val="accent3"/>
              </a:gs>
              <a:gs pos="4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2"/>
          <p:cNvSpPr/>
          <p:nvPr/>
        </p:nvSpPr>
        <p:spPr>
          <a:xfrm>
            <a:off x="905925" y="-3728750"/>
            <a:ext cx="6795600" cy="6795600"/>
          </a:xfrm>
          <a:prstGeom prst="ellipse">
            <a:avLst/>
          </a:prstGeom>
          <a:gradFill>
            <a:gsLst>
              <a:gs pos="0">
                <a:schemeClr val="dk2"/>
              </a:gs>
              <a:gs pos="4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4" name="Google Shape;274;p32"/>
          <p:cNvCxnSpPr/>
          <p:nvPr/>
        </p:nvCxnSpPr>
        <p:spPr>
          <a:xfrm>
            <a:off x="715050" y="493563"/>
            <a:ext cx="7713900" cy="0"/>
          </a:xfrm>
          <a:prstGeom prst="straightConnector1">
            <a:avLst/>
          </a:prstGeom>
          <a:noFill/>
          <a:ln w="9525" cap="flat" cmpd="sng">
            <a:solidFill>
              <a:schemeClr val="dk1"/>
            </a:solidFill>
            <a:prstDash val="solid"/>
            <a:round/>
            <a:headEnd type="none" w="med" len="med"/>
            <a:tailEnd type="none" w="med" len="med"/>
          </a:ln>
        </p:spPr>
      </p:cxnSp>
      <p:cxnSp>
        <p:nvCxnSpPr>
          <p:cNvPr id="275" name="Google Shape;275;p32"/>
          <p:cNvCxnSpPr/>
          <p:nvPr/>
        </p:nvCxnSpPr>
        <p:spPr>
          <a:xfrm>
            <a:off x="715050" y="4649938"/>
            <a:ext cx="7713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2">
    <p:spTree>
      <p:nvGrpSpPr>
        <p:cNvPr id="1" name="Shape 276"/>
        <p:cNvGrpSpPr/>
        <p:nvPr/>
      </p:nvGrpSpPr>
      <p:grpSpPr>
        <a:xfrm>
          <a:off x="0" y="0"/>
          <a:ext cx="0" cy="0"/>
          <a:chOff x="0" y="0"/>
          <a:chExt cx="0" cy="0"/>
        </a:xfrm>
      </p:grpSpPr>
      <p:sp>
        <p:nvSpPr>
          <p:cNvPr id="277" name="Google Shape;277;p33"/>
          <p:cNvSpPr/>
          <p:nvPr/>
        </p:nvSpPr>
        <p:spPr>
          <a:xfrm>
            <a:off x="-2822875" y="1370775"/>
            <a:ext cx="6795600" cy="6795600"/>
          </a:xfrm>
          <a:prstGeom prst="ellipse">
            <a:avLst/>
          </a:prstGeom>
          <a:gradFill>
            <a:gsLst>
              <a:gs pos="0">
                <a:schemeClr val="dk2"/>
              </a:gs>
              <a:gs pos="4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3"/>
          <p:cNvSpPr/>
          <p:nvPr/>
        </p:nvSpPr>
        <p:spPr>
          <a:xfrm>
            <a:off x="3482175" y="-3798675"/>
            <a:ext cx="6795600" cy="6795600"/>
          </a:xfrm>
          <a:prstGeom prst="ellipse">
            <a:avLst/>
          </a:prstGeom>
          <a:gradFill>
            <a:gsLst>
              <a:gs pos="0">
                <a:schemeClr val="dk2"/>
              </a:gs>
              <a:gs pos="43000">
                <a:schemeClr val="lt1"/>
              </a:gs>
              <a:gs pos="100000">
                <a:schemeClr val="lt1"/>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9" name="Google Shape;279;p33"/>
          <p:cNvCxnSpPr/>
          <p:nvPr/>
        </p:nvCxnSpPr>
        <p:spPr>
          <a:xfrm>
            <a:off x="715050" y="4649938"/>
            <a:ext cx="7713900" cy="0"/>
          </a:xfrm>
          <a:prstGeom prst="straightConnector1">
            <a:avLst/>
          </a:prstGeom>
          <a:noFill/>
          <a:ln w="9525" cap="flat" cmpd="sng">
            <a:solidFill>
              <a:schemeClr val="dk1"/>
            </a:solidFill>
            <a:prstDash val="solid"/>
            <a:round/>
            <a:headEnd type="none" w="med" len="med"/>
            <a:tailEnd type="none" w="med" len="med"/>
          </a:ln>
        </p:spPr>
      </p:cxnSp>
      <p:cxnSp>
        <p:nvCxnSpPr>
          <p:cNvPr id="280" name="Google Shape;280;p33"/>
          <p:cNvCxnSpPr/>
          <p:nvPr/>
        </p:nvCxnSpPr>
        <p:spPr>
          <a:xfrm>
            <a:off x="715050" y="493563"/>
            <a:ext cx="77139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800" y="536998"/>
            <a:ext cx="77124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1pPr>
            <a:lvl2pPr lvl="1">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2pPr>
            <a:lvl3pPr lvl="2">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3pPr>
            <a:lvl4pPr lvl="3">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4pPr>
            <a:lvl5pPr lvl="4">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5pPr>
            <a:lvl6pPr lvl="5">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6pPr>
            <a:lvl7pPr lvl="6">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7pPr>
            <a:lvl8pPr lvl="7">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8pPr>
            <a:lvl9pPr lvl="8">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9pPr>
          </a:lstStyle>
          <a:p>
            <a:endParaRPr/>
          </a:p>
        </p:txBody>
      </p:sp>
      <p:sp>
        <p:nvSpPr>
          <p:cNvPr id="7" name="Google Shape;7;p1"/>
          <p:cNvSpPr txBox="1">
            <a:spLocks noGrp="1"/>
          </p:cNvSpPr>
          <p:nvPr>
            <p:ph type="body" idx="1"/>
          </p:nvPr>
        </p:nvSpPr>
        <p:spPr>
          <a:xfrm>
            <a:off x="715800" y="1173423"/>
            <a:ext cx="77124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1pPr>
            <a:lvl2pPr marL="914400" lvl="1"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6" r:id="rId2"/>
    <p:sldLayoutId id="2147483658" r:id="rId3"/>
    <p:sldLayoutId id="2147483660" r:id="rId4"/>
    <p:sldLayoutId id="2147483675" r:id="rId5"/>
    <p:sldLayoutId id="2147483678" r:id="rId6"/>
    <p:sldLayoutId id="2147483679"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37"/>
          <p:cNvSpPr txBox="1">
            <a:spLocks noGrp="1"/>
          </p:cNvSpPr>
          <p:nvPr>
            <p:ph type="ctrTitle"/>
          </p:nvPr>
        </p:nvSpPr>
        <p:spPr>
          <a:xfrm>
            <a:off x="3626200" y="1704814"/>
            <a:ext cx="3805237" cy="160927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sz="4400" dirty="0"/>
              <a:t> </a:t>
            </a:r>
            <a:r>
              <a:rPr lang="en" sz="4400" dirty="0">
                <a:solidFill>
                  <a:schemeClr val="accent2"/>
                </a:solidFill>
              </a:rPr>
              <a:t> SWOT Analysis</a:t>
            </a:r>
            <a:endParaRPr sz="4400" dirty="0">
              <a:solidFill>
                <a:schemeClr val="accent2"/>
              </a:solidFill>
            </a:endParaRPr>
          </a:p>
        </p:txBody>
      </p:sp>
      <p:grpSp>
        <p:nvGrpSpPr>
          <p:cNvPr id="293" name="Google Shape;293;p37"/>
          <p:cNvGrpSpPr/>
          <p:nvPr/>
        </p:nvGrpSpPr>
        <p:grpSpPr>
          <a:xfrm>
            <a:off x="999586" y="1474898"/>
            <a:ext cx="2193602" cy="2193614"/>
            <a:chOff x="722902" y="1198378"/>
            <a:chExt cx="2746809" cy="2746825"/>
          </a:xfrm>
        </p:grpSpPr>
        <p:sp>
          <p:nvSpPr>
            <p:cNvPr id="294" name="Google Shape;294;p37"/>
            <p:cNvSpPr/>
            <p:nvPr/>
          </p:nvSpPr>
          <p:spPr>
            <a:xfrm>
              <a:off x="722902" y="1198378"/>
              <a:ext cx="2746800" cy="2746800"/>
            </a:xfrm>
            <a:prstGeom prst="blockArc">
              <a:avLst>
                <a:gd name="adj1" fmla="val 10800000"/>
                <a:gd name="adj2" fmla="val 16232441"/>
                <a:gd name="adj3" fmla="val 30912"/>
              </a:avLst>
            </a:prstGeom>
            <a:solidFill>
              <a:schemeClr val="accent1"/>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7"/>
            <p:cNvSpPr/>
            <p:nvPr/>
          </p:nvSpPr>
          <p:spPr>
            <a:xfrm flipH="1">
              <a:off x="722911" y="1198378"/>
              <a:ext cx="2746800" cy="2746800"/>
            </a:xfrm>
            <a:prstGeom prst="blockArc">
              <a:avLst>
                <a:gd name="adj1" fmla="val 10800000"/>
                <a:gd name="adj2" fmla="val 16204330"/>
                <a:gd name="adj3" fmla="val 30913"/>
              </a:avLst>
            </a:prstGeom>
            <a:solidFill>
              <a:schemeClr val="accent2"/>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7"/>
            <p:cNvSpPr/>
            <p:nvPr/>
          </p:nvSpPr>
          <p:spPr>
            <a:xfrm rot="10800000">
              <a:off x="722911" y="1198403"/>
              <a:ext cx="2746800" cy="2746800"/>
            </a:xfrm>
            <a:prstGeom prst="blockArc">
              <a:avLst>
                <a:gd name="adj1" fmla="val 10800000"/>
                <a:gd name="adj2" fmla="val 16167723"/>
                <a:gd name="adj3" fmla="val 30851"/>
              </a:avLst>
            </a:prstGeom>
            <a:solidFill>
              <a:schemeClr val="dk2"/>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7"/>
            <p:cNvSpPr/>
            <p:nvPr/>
          </p:nvSpPr>
          <p:spPr>
            <a:xfrm rot="10800000" flipH="1">
              <a:off x="722902" y="1198403"/>
              <a:ext cx="2746800" cy="2746800"/>
            </a:xfrm>
            <a:prstGeom prst="blockArc">
              <a:avLst>
                <a:gd name="adj1" fmla="val 10800000"/>
                <a:gd name="adj2" fmla="val 16232337"/>
                <a:gd name="adj3" fmla="val 30851"/>
              </a:avLst>
            </a:prstGeom>
            <a:solidFill>
              <a:schemeClr val="accent3"/>
            </a:solidFill>
            <a:ln w="381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8" name="Google Shape;298;p37"/>
          <p:cNvSpPr/>
          <p:nvPr/>
        </p:nvSpPr>
        <p:spPr>
          <a:xfrm>
            <a:off x="875302" y="1350753"/>
            <a:ext cx="718200" cy="718200"/>
          </a:xfrm>
          <a:prstGeom prst="round2DiagRect">
            <a:avLst>
              <a:gd name="adj1" fmla="val 0"/>
              <a:gd name="adj2" fmla="val 50000"/>
            </a:avLst>
          </a:prstGeom>
          <a:solidFill>
            <a:schemeClr val="accent1"/>
          </a:solidFill>
          <a:ln w="381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2000" dirty="0">
                <a:solidFill>
                  <a:schemeClr val="dk1"/>
                </a:solidFill>
                <a:latin typeface="Krona One"/>
                <a:ea typeface="Krona One"/>
                <a:cs typeface="Krona One"/>
                <a:sym typeface="Krona One"/>
              </a:rPr>
              <a:t>S</a:t>
            </a:r>
            <a:endParaRPr sz="2000" dirty="0">
              <a:solidFill>
                <a:schemeClr val="dk1"/>
              </a:solidFill>
              <a:latin typeface="Krona One"/>
              <a:ea typeface="Krona One"/>
              <a:cs typeface="Krona One"/>
              <a:sym typeface="Krona One"/>
            </a:endParaRPr>
          </a:p>
        </p:txBody>
      </p:sp>
      <p:sp>
        <p:nvSpPr>
          <p:cNvPr id="299" name="Google Shape;299;p37"/>
          <p:cNvSpPr/>
          <p:nvPr/>
        </p:nvSpPr>
        <p:spPr>
          <a:xfrm>
            <a:off x="2599241" y="1350753"/>
            <a:ext cx="718200" cy="718200"/>
          </a:xfrm>
          <a:prstGeom prst="round2DiagRect">
            <a:avLst>
              <a:gd name="adj1" fmla="val 50000"/>
              <a:gd name="adj2" fmla="val 0"/>
            </a:avLst>
          </a:prstGeom>
          <a:solidFill>
            <a:schemeClr val="accent2"/>
          </a:solidFill>
          <a:ln w="381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2000">
                <a:solidFill>
                  <a:schemeClr val="dk1"/>
                </a:solidFill>
                <a:latin typeface="Krona One"/>
                <a:ea typeface="Krona One"/>
                <a:cs typeface="Krona One"/>
                <a:sym typeface="Krona One"/>
              </a:rPr>
              <a:t>W</a:t>
            </a:r>
            <a:endParaRPr sz="2000">
              <a:solidFill>
                <a:schemeClr val="dk1"/>
              </a:solidFill>
              <a:latin typeface="Krona One"/>
              <a:ea typeface="Krona One"/>
              <a:cs typeface="Krona One"/>
              <a:sym typeface="Krona One"/>
            </a:endParaRPr>
          </a:p>
        </p:txBody>
      </p:sp>
      <p:sp>
        <p:nvSpPr>
          <p:cNvPr id="300" name="Google Shape;300;p37"/>
          <p:cNvSpPr/>
          <p:nvPr/>
        </p:nvSpPr>
        <p:spPr>
          <a:xfrm>
            <a:off x="875302" y="3074578"/>
            <a:ext cx="718200" cy="718200"/>
          </a:xfrm>
          <a:prstGeom prst="round2DiagRect">
            <a:avLst>
              <a:gd name="adj1" fmla="val 50000"/>
              <a:gd name="adj2" fmla="val 0"/>
            </a:avLst>
          </a:prstGeom>
          <a:solidFill>
            <a:schemeClr val="accent3"/>
          </a:solidFill>
          <a:ln w="381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2000" dirty="0">
                <a:solidFill>
                  <a:schemeClr val="dk1"/>
                </a:solidFill>
                <a:latin typeface="Krona One"/>
                <a:ea typeface="Krona One"/>
                <a:cs typeface="Krona One"/>
                <a:sym typeface="Krona One"/>
              </a:rPr>
              <a:t>O</a:t>
            </a:r>
            <a:endParaRPr sz="2000" dirty="0">
              <a:solidFill>
                <a:schemeClr val="dk1"/>
              </a:solidFill>
              <a:latin typeface="Krona One"/>
              <a:ea typeface="Krona One"/>
              <a:cs typeface="Krona One"/>
              <a:sym typeface="Krona One"/>
            </a:endParaRPr>
          </a:p>
        </p:txBody>
      </p:sp>
      <p:sp>
        <p:nvSpPr>
          <p:cNvPr id="301" name="Google Shape;301;p37"/>
          <p:cNvSpPr/>
          <p:nvPr/>
        </p:nvSpPr>
        <p:spPr>
          <a:xfrm>
            <a:off x="2599261" y="3074578"/>
            <a:ext cx="718200" cy="718200"/>
          </a:xfrm>
          <a:prstGeom prst="round2DiagRect">
            <a:avLst>
              <a:gd name="adj1" fmla="val 0"/>
              <a:gd name="adj2" fmla="val 50000"/>
            </a:avLst>
          </a:prstGeom>
          <a:solidFill>
            <a:schemeClr val="dk2"/>
          </a:solidFill>
          <a:ln w="381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2000" dirty="0">
                <a:solidFill>
                  <a:schemeClr val="dk1"/>
                </a:solidFill>
                <a:latin typeface="Krona One"/>
                <a:ea typeface="Krona One"/>
                <a:cs typeface="Krona One"/>
                <a:sym typeface="Krona One"/>
              </a:rPr>
              <a:t>T</a:t>
            </a:r>
            <a:endParaRPr sz="2000" dirty="0">
              <a:solidFill>
                <a:schemeClr val="dk1"/>
              </a:solidFill>
              <a:latin typeface="Krona One"/>
              <a:ea typeface="Krona One"/>
              <a:cs typeface="Krona One"/>
              <a:sym typeface="Krona One"/>
            </a:endParaRPr>
          </a:p>
        </p:txBody>
      </p:sp>
      <p:cxnSp>
        <p:nvCxnSpPr>
          <p:cNvPr id="302" name="Google Shape;302;p37"/>
          <p:cNvCxnSpPr/>
          <p:nvPr/>
        </p:nvCxnSpPr>
        <p:spPr>
          <a:xfrm>
            <a:off x="4778586" y="4143116"/>
            <a:ext cx="1412400" cy="0"/>
          </a:xfrm>
          <a:prstGeom prst="straightConnector1">
            <a:avLst/>
          </a:prstGeom>
          <a:noFill/>
          <a:ln w="9525" cap="flat" cmpd="sng">
            <a:solidFill>
              <a:schemeClr val="dk1"/>
            </a:solidFill>
            <a:prstDash val="solid"/>
            <a:round/>
            <a:headEnd type="none" w="med" len="med"/>
            <a:tailEnd type="none" w="med" len="med"/>
          </a:ln>
        </p:spPr>
      </p:cxnSp>
      <p:pic>
        <p:nvPicPr>
          <p:cNvPr id="3" name="Picture 2">
            <a:extLst>
              <a:ext uri="{FF2B5EF4-FFF2-40B4-BE49-F238E27FC236}">
                <a16:creationId xmlns:a16="http://schemas.microsoft.com/office/drawing/2014/main" id="{590215B0-7B8A-D353-611F-A344907ADB2E}"/>
              </a:ext>
            </a:extLst>
          </p:cNvPr>
          <p:cNvPicPr>
            <a:picLocks noChangeAspect="1"/>
          </p:cNvPicPr>
          <p:nvPr/>
        </p:nvPicPr>
        <p:blipFill>
          <a:blip r:embed="rId3"/>
          <a:stretch>
            <a:fillRect/>
          </a:stretch>
        </p:blipFill>
        <p:spPr>
          <a:xfrm>
            <a:off x="4967382" y="492707"/>
            <a:ext cx="1122872" cy="12121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98"/>
                                        </p:tgtEl>
                                        <p:attrNameLst>
                                          <p:attrName>style.visibility</p:attrName>
                                        </p:attrNameLst>
                                      </p:cBhvr>
                                      <p:to>
                                        <p:strVal val="visible"/>
                                      </p:to>
                                    </p:set>
                                    <p:anim calcmode="lin" valueType="num">
                                      <p:cBhvr>
                                        <p:cTn id="7" dur="1000" fill="hold"/>
                                        <p:tgtEl>
                                          <p:spTgt spid="298"/>
                                        </p:tgtEl>
                                        <p:attrNameLst>
                                          <p:attrName>ppt_w</p:attrName>
                                        </p:attrNameLst>
                                      </p:cBhvr>
                                      <p:tavLst>
                                        <p:tav tm="0">
                                          <p:val>
                                            <p:fltVal val="0"/>
                                          </p:val>
                                        </p:tav>
                                        <p:tav tm="100000">
                                          <p:val>
                                            <p:strVal val="#ppt_w"/>
                                          </p:val>
                                        </p:tav>
                                      </p:tavLst>
                                    </p:anim>
                                    <p:anim calcmode="lin" valueType="num">
                                      <p:cBhvr>
                                        <p:cTn id="8" dur="1000" fill="hold"/>
                                        <p:tgtEl>
                                          <p:spTgt spid="298"/>
                                        </p:tgtEl>
                                        <p:attrNameLst>
                                          <p:attrName>ppt_h</p:attrName>
                                        </p:attrNameLst>
                                      </p:cBhvr>
                                      <p:tavLst>
                                        <p:tav tm="0">
                                          <p:val>
                                            <p:fltVal val="0"/>
                                          </p:val>
                                        </p:tav>
                                        <p:tav tm="100000">
                                          <p:val>
                                            <p:strVal val="#ppt_h"/>
                                          </p:val>
                                        </p:tav>
                                      </p:tavLst>
                                    </p:anim>
                                    <p:anim calcmode="lin" valueType="num">
                                      <p:cBhvr>
                                        <p:cTn id="9" dur="1000" fill="hold"/>
                                        <p:tgtEl>
                                          <p:spTgt spid="298"/>
                                        </p:tgtEl>
                                        <p:attrNameLst>
                                          <p:attrName>style.rotation</p:attrName>
                                        </p:attrNameLst>
                                      </p:cBhvr>
                                      <p:tavLst>
                                        <p:tav tm="0">
                                          <p:val>
                                            <p:fltVal val="90"/>
                                          </p:val>
                                        </p:tav>
                                        <p:tav tm="100000">
                                          <p:val>
                                            <p:fltVal val="0"/>
                                          </p:val>
                                        </p:tav>
                                      </p:tavLst>
                                    </p:anim>
                                    <p:animEffect transition="in" filter="fade">
                                      <p:cBhvr>
                                        <p:cTn id="10" dur="1000"/>
                                        <p:tgtEl>
                                          <p:spTgt spid="298"/>
                                        </p:tgtEl>
                                      </p:cBhvr>
                                    </p:animEffect>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grpId="0" nodeType="clickEffect">
                                  <p:stCondLst>
                                    <p:cond delay="0"/>
                                  </p:stCondLst>
                                  <p:childTnLst>
                                    <p:set>
                                      <p:cBhvr>
                                        <p:cTn id="14" dur="1" fill="hold">
                                          <p:stCondLst>
                                            <p:cond delay="0"/>
                                          </p:stCondLst>
                                        </p:cTn>
                                        <p:tgtEl>
                                          <p:spTgt spid="299"/>
                                        </p:tgtEl>
                                        <p:attrNameLst>
                                          <p:attrName>style.visibility</p:attrName>
                                        </p:attrNameLst>
                                      </p:cBhvr>
                                      <p:to>
                                        <p:strVal val="visible"/>
                                      </p:to>
                                    </p:set>
                                    <p:animEffect transition="in" filter="fade">
                                      <p:cBhvr>
                                        <p:cTn id="15" dur="2000"/>
                                        <p:tgtEl>
                                          <p:spTgt spid="299"/>
                                        </p:tgtEl>
                                      </p:cBhvr>
                                    </p:animEffect>
                                    <p:anim calcmode="lin" valueType="num">
                                      <p:cBhvr>
                                        <p:cTn id="16" dur="2000" fill="hold"/>
                                        <p:tgtEl>
                                          <p:spTgt spid="299"/>
                                        </p:tgtEl>
                                        <p:attrNameLst>
                                          <p:attrName>ppt_w</p:attrName>
                                        </p:attrNameLst>
                                      </p:cBhvr>
                                      <p:tavLst>
                                        <p:tav tm="0" fmla="#ppt_w*sin(2.5*pi*$)">
                                          <p:val>
                                            <p:fltVal val="0"/>
                                          </p:val>
                                        </p:tav>
                                        <p:tav tm="100000">
                                          <p:val>
                                            <p:fltVal val="1"/>
                                          </p:val>
                                        </p:tav>
                                      </p:tavLst>
                                    </p:anim>
                                    <p:anim calcmode="lin" valueType="num">
                                      <p:cBhvr>
                                        <p:cTn id="17" dur="2000" fill="hold"/>
                                        <p:tgtEl>
                                          <p:spTgt spid="299"/>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6" presetClass="entr" presetSubtype="0" fill="hold" grpId="0" nodeType="clickEffect">
                                  <p:stCondLst>
                                    <p:cond delay="0"/>
                                  </p:stCondLst>
                                  <p:childTnLst>
                                    <p:set>
                                      <p:cBhvr>
                                        <p:cTn id="21" dur="1" fill="hold">
                                          <p:stCondLst>
                                            <p:cond delay="0"/>
                                          </p:stCondLst>
                                        </p:cTn>
                                        <p:tgtEl>
                                          <p:spTgt spid="300"/>
                                        </p:tgtEl>
                                        <p:attrNameLst>
                                          <p:attrName>style.visibility</p:attrName>
                                        </p:attrNameLst>
                                      </p:cBhvr>
                                      <p:to>
                                        <p:strVal val="visible"/>
                                      </p:to>
                                    </p:set>
                                    <p:animEffect transition="in" filter="wipe(down)">
                                      <p:cBhvr>
                                        <p:cTn id="22" dur="580">
                                          <p:stCondLst>
                                            <p:cond delay="0"/>
                                          </p:stCondLst>
                                        </p:cTn>
                                        <p:tgtEl>
                                          <p:spTgt spid="300"/>
                                        </p:tgtEl>
                                      </p:cBhvr>
                                    </p:animEffect>
                                    <p:anim calcmode="lin" valueType="num">
                                      <p:cBhvr>
                                        <p:cTn id="23" dur="1822" tmFilter="0,0; 0.14,0.36; 0.43,0.73; 0.71,0.91; 1.0,1.0">
                                          <p:stCondLst>
                                            <p:cond delay="0"/>
                                          </p:stCondLst>
                                        </p:cTn>
                                        <p:tgtEl>
                                          <p:spTgt spid="300"/>
                                        </p:tgtEl>
                                        <p:attrNameLst>
                                          <p:attrName>ppt_x</p:attrName>
                                        </p:attrNameLst>
                                      </p:cBhvr>
                                      <p:tavLst>
                                        <p:tav tm="0">
                                          <p:val>
                                            <p:strVal val="#ppt_x-0.25"/>
                                          </p:val>
                                        </p:tav>
                                        <p:tav tm="100000">
                                          <p:val>
                                            <p:strVal val="#ppt_x"/>
                                          </p:val>
                                        </p:tav>
                                      </p:tavLst>
                                    </p:anim>
                                    <p:anim calcmode="lin" valueType="num">
                                      <p:cBhvr>
                                        <p:cTn id="24" dur="664" tmFilter="0.0,0.0; 0.25,0.07; 0.50,0.2; 0.75,0.467; 1.0,1.0">
                                          <p:stCondLst>
                                            <p:cond delay="0"/>
                                          </p:stCondLst>
                                        </p:cTn>
                                        <p:tgtEl>
                                          <p:spTgt spid="300"/>
                                        </p:tgtEl>
                                        <p:attrNameLst>
                                          <p:attrName>ppt_y</p:attrName>
                                        </p:attrNameLst>
                                      </p:cBhvr>
                                      <p:tavLst>
                                        <p:tav tm="0" fmla="#ppt_y-sin(pi*$)/3">
                                          <p:val>
                                            <p:fltVal val="0.5"/>
                                          </p:val>
                                        </p:tav>
                                        <p:tav tm="100000">
                                          <p:val>
                                            <p:fltVal val="1"/>
                                          </p:val>
                                        </p:tav>
                                      </p:tavLst>
                                    </p:anim>
                                    <p:anim calcmode="lin" valueType="num">
                                      <p:cBhvr>
                                        <p:cTn id="25" dur="664" tmFilter="0, 0; 0.125,0.2665; 0.25,0.4; 0.375,0.465; 0.5,0.5;  0.625,0.535; 0.75,0.6; 0.875,0.7335; 1,1">
                                          <p:stCondLst>
                                            <p:cond delay="664"/>
                                          </p:stCondLst>
                                        </p:cTn>
                                        <p:tgtEl>
                                          <p:spTgt spid="300"/>
                                        </p:tgtEl>
                                        <p:attrNameLst>
                                          <p:attrName>ppt_y</p:attrName>
                                        </p:attrNameLst>
                                      </p:cBhvr>
                                      <p:tavLst>
                                        <p:tav tm="0" fmla="#ppt_y-sin(pi*$)/9">
                                          <p:val>
                                            <p:fltVal val="0"/>
                                          </p:val>
                                        </p:tav>
                                        <p:tav tm="100000">
                                          <p:val>
                                            <p:fltVal val="1"/>
                                          </p:val>
                                        </p:tav>
                                      </p:tavLst>
                                    </p:anim>
                                    <p:anim calcmode="lin" valueType="num">
                                      <p:cBhvr>
                                        <p:cTn id="26" dur="332" tmFilter="0, 0; 0.125,0.2665; 0.25,0.4; 0.375,0.465; 0.5,0.5;  0.625,0.535; 0.75,0.6; 0.875,0.7335; 1,1">
                                          <p:stCondLst>
                                            <p:cond delay="1324"/>
                                          </p:stCondLst>
                                        </p:cTn>
                                        <p:tgtEl>
                                          <p:spTgt spid="300"/>
                                        </p:tgtEl>
                                        <p:attrNameLst>
                                          <p:attrName>ppt_y</p:attrName>
                                        </p:attrNameLst>
                                      </p:cBhvr>
                                      <p:tavLst>
                                        <p:tav tm="0" fmla="#ppt_y-sin(pi*$)/27">
                                          <p:val>
                                            <p:fltVal val="0"/>
                                          </p:val>
                                        </p:tav>
                                        <p:tav tm="100000">
                                          <p:val>
                                            <p:fltVal val="1"/>
                                          </p:val>
                                        </p:tav>
                                      </p:tavLst>
                                    </p:anim>
                                    <p:anim calcmode="lin" valueType="num">
                                      <p:cBhvr>
                                        <p:cTn id="27" dur="164" tmFilter="0, 0; 0.125,0.2665; 0.25,0.4; 0.375,0.465; 0.5,0.5;  0.625,0.535; 0.75,0.6; 0.875,0.7335; 1,1">
                                          <p:stCondLst>
                                            <p:cond delay="1656"/>
                                          </p:stCondLst>
                                        </p:cTn>
                                        <p:tgtEl>
                                          <p:spTgt spid="300"/>
                                        </p:tgtEl>
                                        <p:attrNameLst>
                                          <p:attrName>ppt_y</p:attrName>
                                        </p:attrNameLst>
                                      </p:cBhvr>
                                      <p:tavLst>
                                        <p:tav tm="0" fmla="#ppt_y-sin(pi*$)/81">
                                          <p:val>
                                            <p:fltVal val="0"/>
                                          </p:val>
                                        </p:tav>
                                        <p:tav tm="100000">
                                          <p:val>
                                            <p:fltVal val="1"/>
                                          </p:val>
                                        </p:tav>
                                      </p:tavLst>
                                    </p:anim>
                                    <p:animScale>
                                      <p:cBhvr>
                                        <p:cTn id="28" dur="26">
                                          <p:stCondLst>
                                            <p:cond delay="650"/>
                                          </p:stCondLst>
                                        </p:cTn>
                                        <p:tgtEl>
                                          <p:spTgt spid="300"/>
                                        </p:tgtEl>
                                      </p:cBhvr>
                                      <p:to x="100000" y="60000"/>
                                    </p:animScale>
                                    <p:animScale>
                                      <p:cBhvr>
                                        <p:cTn id="29" dur="166" decel="50000">
                                          <p:stCondLst>
                                            <p:cond delay="676"/>
                                          </p:stCondLst>
                                        </p:cTn>
                                        <p:tgtEl>
                                          <p:spTgt spid="300"/>
                                        </p:tgtEl>
                                      </p:cBhvr>
                                      <p:to x="100000" y="100000"/>
                                    </p:animScale>
                                    <p:animScale>
                                      <p:cBhvr>
                                        <p:cTn id="30" dur="26">
                                          <p:stCondLst>
                                            <p:cond delay="1312"/>
                                          </p:stCondLst>
                                        </p:cTn>
                                        <p:tgtEl>
                                          <p:spTgt spid="300"/>
                                        </p:tgtEl>
                                      </p:cBhvr>
                                      <p:to x="100000" y="80000"/>
                                    </p:animScale>
                                    <p:animScale>
                                      <p:cBhvr>
                                        <p:cTn id="31" dur="166" decel="50000">
                                          <p:stCondLst>
                                            <p:cond delay="1338"/>
                                          </p:stCondLst>
                                        </p:cTn>
                                        <p:tgtEl>
                                          <p:spTgt spid="300"/>
                                        </p:tgtEl>
                                      </p:cBhvr>
                                      <p:to x="100000" y="100000"/>
                                    </p:animScale>
                                    <p:animScale>
                                      <p:cBhvr>
                                        <p:cTn id="32" dur="26">
                                          <p:stCondLst>
                                            <p:cond delay="1642"/>
                                          </p:stCondLst>
                                        </p:cTn>
                                        <p:tgtEl>
                                          <p:spTgt spid="300"/>
                                        </p:tgtEl>
                                      </p:cBhvr>
                                      <p:to x="100000" y="90000"/>
                                    </p:animScale>
                                    <p:animScale>
                                      <p:cBhvr>
                                        <p:cTn id="33" dur="166" decel="50000">
                                          <p:stCondLst>
                                            <p:cond delay="1668"/>
                                          </p:stCondLst>
                                        </p:cTn>
                                        <p:tgtEl>
                                          <p:spTgt spid="300"/>
                                        </p:tgtEl>
                                      </p:cBhvr>
                                      <p:to x="100000" y="100000"/>
                                    </p:animScale>
                                    <p:animScale>
                                      <p:cBhvr>
                                        <p:cTn id="34" dur="26">
                                          <p:stCondLst>
                                            <p:cond delay="1808"/>
                                          </p:stCondLst>
                                        </p:cTn>
                                        <p:tgtEl>
                                          <p:spTgt spid="300"/>
                                        </p:tgtEl>
                                      </p:cBhvr>
                                      <p:to x="100000" y="95000"/>
                                    </p:animScale>
                                    <p:animScale>
                                      <p:cBhvr>
                                        <p:cTn id="35" dur="166" decel="50000">
                                          <p:stCondLst>
                                            <p:cond delay="1834"/>
                                          </p:stCondLst>
                                        </p:cTn>
                                        <p:tgtEl>
                                          <p:spTgt spid="300"/>
                                        </p:tgtEl>
                                      </p:cBhvr>
                                      <p:to x="100000" y="100000"/>
                                    </p:animScale>
                                  </p:childTnLst>
                                </p:cTn>
                              </p:par>
                            </p:childTnLst>
                          </p:cTn>
                        </p:par>
                      </p:childTnLst>
                    </p:cTn>
                  </p:par>
                  <p:par>
                    <p:cTn id="36" fill="hold">
                      <p:stCondLst>
                        <p:cond delay="indefinite"/>
                      </p:stCondLst>
                      <p:childTnLst>
                        <p:par>
                          <p:cTn id="37" fill="hold">
                            <p:stCondLst>
                              <p:cond delay="0"/>
                            </p:stCondLst>
                            <p:childTnLst>
                              <p:par>
                                <p:cTn id="38" presetID="31" presetClass="entr" presetSubtype="0" fill="hold" grpId="0" nodeType="clickEffect">
                                  <p:stCondLst>
                                    <p:cond delay="0"/>
                                  </p:stCondLst>
                                  <p:childTnLst>
                                    <p:set>
                                      <p:cBhvr>
                                        <p:cTn id="39" dur="1" fill="hold">
                                          <p:stCondLst>
                                            <p:cond delay="0"/>
                                          </p:stCondLst>
                                        </p:cTn>
                                        <p:tgtEl>
                                          <p:spTgt spid="301"/>
                                        </p:tgtEl>
                                        <p:attrNameLst>
                                          <p:attrName>style.visibility</p:attrName>
                                        </p:attrNameLst>
                                      </p:cBhvr>
                                      <p:to>
                                        <p:strVal val="visible"/>
                                      </p:to>
                                    </p:set>
                                    <p:anim calcmode="lin" valueType="num">
                                      <p:cBhvr>
                                        <p:cTn id="40" dur="1000" fill="hold"/>
                                        <p:tgtEl>
                                          <p:spTgt spid="301"/>
                                        </p:tgtEl>
                                        <p:attrNameLst>
                                          <p:attrName>ppt_w</p:attrName>
                                        </p:attrNameLst>
                                      </p:cBhvr>
                                      <p:tavLst>
                                        <p:tav tm="0">
                                          <p:val>
                                            <p:fltVal val="0"/>
                                          </p:val>
                                        </p:tav>
                                        <p:tav tm="100000">
                                          <p:val>
                                            <p:strVal val="#ppt_w"/>
                                          </p:val>
                                        </p:tav>
                                      </p:tavLst>
                                    </p:anim>
                                    <p:anim calcmode="lin" valueType="num">
                                      <p:cBhvr>
                                        <p:cTn id="41" dur="1000" fill="hold"/>
                                        <p:tgtEl>
                                          <p:spTgt spid="301"/>
                                        </p:tgtEl>
                                        <p:attrNameLst>
                                          <p:attrName>ppt_h</p:attrName>
                                        </p:attrNameLst>
                                      </p:cBhvr>
                                      <p:tavLst>
                                        <p:tav tm="0">
                                          <p:val>
                                            <p:fltVal val="0"/>
                                          </p:val>
                                        </p:tav>
                                        <p:tav tm="100000">
                                          <p:val>
                                            <p:strVal val="#ppt_h"/>
                                          </p:val>
                                        </p:tav>
                                      </p:tavLst>
                                    </p:anim>
                                    <p:anim calcmode="lin" valueType="num">
                                      <p:cBhvr>
                                        <p:cTn id="42" dur="1000" fill="hold"/>
                                        <p:tgtEl>
                                          <p:spTgt spid="301"/>
                                        </p:tgtEl>
                                        <p:attrNameLst>
                                          <p:attrName>style.rotation</p:attrName>
                                        </p:attrNameLst>
                                      </p:cBhvr>
                                      <p:tavLst>
                                        <p:tav tm="0">
                                          <p:val>
                                            <p:fltVal val="90"/>
                                          </p:val>
                                        </p:tav>
                                        <p:tav tm="100000">
                                          <p:val>
                                            <p:fltVal val="0"/>
                                          </p:val>
                                        </p:tav>
                                      </p:tavLst>
                                    </p:anim>
                                    <p:animEffect transition="in" filter="fade">
                                      <p:cBhvr>
                                        <p:cTn id="43" dur="1000"/>
                                        <p:tgtEl>
                                          <p:spTgt spid="301"/>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barn(inVertical)">
                                      <p:cBhvr>
                                        <p:cTn id="48" dur="5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91"/>
                                        </p:tgtEl>
                                        <p:attrNameLst>
                                          <p:attrName>style.visibility</p:attrName>
                                        </p:attrNameLst>
                                      </p:cBhvr>
                                      <p:to>
                                        <p:strVal val="visible"/>
                                      </p:to>
                                    </p:set>
                                    <p:animEffect transition="in" filter="fade">
                                      <p:cBhvr>
                                        <p:cTn id="53" dur="500"/>
                                        <p:tgtEl>
                                          <p:spTgt spid="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 grpId="0"/>
      <p:bldP spid="298" grpId="0" animBg="1"/>
      <p:bldP spid="299" grpId="0" animBg="1"/>
      <p:bldP spid="300" grpId="0" animBg="1"/>
      <p:bldP spid="30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1" name="Google Shape;1061;p65"/>
          <p:cNvSpPr/>
          <p:nvPr/>
        </p:nvSpPr>
        <p:spPr>
          <a:xfrm>
            <a:off x="849159" y="1405709"/>
            <a:ext cx="864000" cy="748200"/>
          </a:xfrm>
          <a:prstGeom prst="round2DiagRect">
            <a:avLst>
              <a:gd name="adj1" fmla="val 50000"/>
              <a:gd name="adj2" fmla="val 0"/>
            </a:avLst>
          </a:prstGeom>
          <a:solidFill>
            <a:schemeClr val="accent3"/>
          </a:solidFill>
          <a:ln w="3810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Krona One"/>
                <a:ea typeface="Krona One"/>
                <a:cs typeface="Krona One"/>
                <a:sym typeface="Krona One"/>
              </a:rPr>
              <a:t>S</a:t>
            </a:r>
            <a:endParaRPr sz="2000">
              <a:solidFill>
                <a:schemeClr val="dk1"/>
              </a:solidFill>
              <a:latin typeface="Krona One"/>
              <a:ea typeface="Krona One"/>
              <a:cs typeface="Krona One"/>
              <a:sym typeface="Krona One"/>
            </a:endParaRPr>
          </a:p>
        </p:txBody>
      </p:sp>
      <p:sp>
        <p:nvSpPr>
          <p:cNvPr id="1062" name="Google Shape;1062;p65"/>
          <p:cNvSpPr/>
          <p:nvPr/>
        </p:nvSpPr>
        <p:spPr>
          <a:xfrm>
            <a:off x="849147" y="3092257"/>
            <a:ext cx="864000" cy="748200"/>
          </a:xfrm>
          <a:prstGeom prst="round2DiagRect">
            <a:avLst>
              <a:gd name="adj1" fmla="val 0"/>
              <a:gd name="adj2" fmla="val 37633"/>
            </a:avLst>
          </a:prstGeom>
          <a:solidFill>
            <a:schemeClr val="accent2"/>
          </a:solidFill>
          <a:ln w="3810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Krona One"/>
                <a:ea typeface="Krona One"/>
                <a:cs typeface="Krona One"/>
                <a:sym typeface="Krona One"/>
              </a:rPr>
              <a:t>W</a:t>
            </a:r>
            <a:endParaRPr sz="2000">
              <a:solidFill>
                <a:schemeClr val="dk1"/>
              </a:solidFill>
              <a:latin typeface="Krona One"/>
              <a:ea typeface="Krona One"/>
              <a:cs typeface="Krona One"/>
              <a:sym typeface="Krona One"/>
            </a:endParaRPr>
          </a:p>
        </p:txBody>
      </p:sp>
      <p:sp>
        <p:nvSpPr>
          <p:cNvPr id="1063" name="Google Shape;1063;p65"/>
          <p:cNvSpPr/>
          <p:nvPr/>
        </p:nvSpPr>
        <p:spPr>
          <a:xfrm>
            <a:off x="4764159" y="1405709"/>
            <a:ext cx="864000" cy="748200"/>
          </a:xfrm>
          <a:prstGeom prst="round2DiagRect">
            <a:avLst>
              <a:gd name="adj1" fmla="val 0"/>
              <a:gd name="adj2" fmla="val 40461"/>
            </a:avLst>
          </a:prstGeom>
          <a:solidFill>
            <a:schemeClr val="bg2"/>
          </a:solid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Krona One"/>
                <a:ea typeface="Krona One"/>
                <a:cs typeface="Krona One"/>
                <a:sym typeface="Krona One"/>
              </a:rPr>
              <a:t>O</a:t>
            </a:r>
            <a:endParaRPr sz="2000">
              <a:solidFill>
                <a:schemeClr val="dk1"/>
              </a:solidFill>
              <a:latin typeface="Krona One"/>
              <a:ea typeface="Krona One"/>
              <a:cs typeface="Krona One"/>
              <a:sym typeface="Krona One"/>
            </a:endParaRPr>
          </a:p>
        </p:txBody>
      </p:sp>
      <p:sp>
        <p:nvSpPr>
          <p:cNvPr id="1064" name="Google Shape;1064;p65"/>
          <p:cNvSpPr/>
          <p:nvPr/>
        </p:nvSpPr>
        <p:spPr>
          <a:xfrm>
            <a:off x="4764159" y="3092257"/>
            <a:ext cx="864000" cy="748200"/>
          </a:xfrm>
          <a:prstGeom prst="round2DiagRect">
            <a:avLst>
              <a:gd name="adj1" fmla="val 39177"/>
              <a:gd name="adj2" fmla="val 0"/>
            </a:avLst>
          </a:prstGeom>
          <a:solidFill>
            <a:schemeClr val="tx2"/>
          </a:solidFill>
          <a:ln w="3810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Krona One"/>
                <a:ea typeface="Krona One"/>
                <a:cs typeface="Krona One"/>
                <a:sym typeface="Krona One"/>
              </a:rPr>
              <a:t>T</a:t>
            </a:r>
            <a:endParaRPr sz="2000">
              <a:solidFill>
                <a:schemeClr val="dk1"/>
              </a:solidFill>
              <a:latin typeface="Krona One"/>
              <a:ea typeface="Krona One"/>
              <a:cs typeface="Krona One"/>
              <a:sym typeface="Krona One"/>
            </a:endParaRPr>
          </a:p>
        </p:txBody>
      </p:sp>
      <p:sp>
        <p:nvSpPr>
          <p:cNvPr id="1065" name="Google Shape;1065;p65"/>
          <p:cNvSpPr txBox="1"/>
          <p:nvPr/>
        </p:nvSpPr>
        <p:spPr>
          <a:xfrm>
            <a:off x="1941753" y="995885"/>
            <a:ext cx="2438100" cy="449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chemeClr val="dk1"/>
                </a:solidFill>
                <a:latin typeface="Krona One"/>
                <a:ea typeface="Krona One"/>
                <a:cs typeface="Krona One"/>
                <a:sym typeface="Krona One"/>
              </a:rPr>
              <a:t>Strengths</a:t>
            </a:r>
            <a:endParaRPr sz="1800" dirty="0">
              <a:solidFill>
                <a:schemeClr val="dk1"/>
              </a:solidFill>
              <a:latin typeface="Krona One"/>
              <a:ea typeface="Krona One"/>
              <a:cs typeface="Krona One"/>
              <a:sym typeface="Krona One"/>
            </a:endParaRPr>
          </a:p>
        </p:txBody>
      </p:sp>
      <p:sp>
        <p:nvSpPr>
          <p:cNvPr id="1066" name="Google Shape;1066;p65"/>
          <p:cNvSpPr txBox="1"/>
          <p:nvPr/>
        </p:nvSpPr>
        <p:spPr>
          <a:xfrm>
            <a:off x="1941742" y="1424774"/>
            <a:ext cx="2438100" cy="1107900"/>
          </a:xfrm>
          <a:prstGeom prst="rect">
            <a:avLst/>
          </a:prstGeom>
          <a:noFill/>
          <a:ln>
            <a:noFill/>
          </a:ln>
        </p:spPr>
        <p:txBody>
          <a:bodyPr spcFirstLastPara="1" wrap="square" lIns="91425" tIns="91425" rIns="91425" bIns="91425" anchor="t" anchorCtr="0">
            <a:noAutofit/>
          </a:bodyPr>
          <a:lstStyle/>
          <a:p>
            <a:pPr marL="228600" lvl="0" indent="-203200" algn="l" rtl="0">
              <a:spcBef>
                <a:spcPts val="0"/>
              </a:spcBef>
              <a:spcAft>
                <a:spcPts val="0"/>
              </a:spcAft>
              <a:buClr>
                <a:schemeClr val="accent3"/>
              </a:buClr>
              <a:buSzPts val="1400"/>
              <a:buFont typeface="Archivo"/>
              <a:buChar char="●"/>
            </a:pPr>
            <a:r>
              <a:rPr lang="en-IN" dirty="0">
                <a:solidFill>
                  <a:schemeClr val="dk1"/>
                </a:solidFill>
                <a:latin typeface="Archivo"/>
                <a:ea typeface="Archivo"/>
                <a:cs typeface="Archivo"/>
                <a:sym typeface="Archivo"/>
              </a:rPr>
              <a:t>Unique value proposition</a:t>
            </a:r>
          </a:p>
          <a:p>
            <a:pPr marL="228600" lvl="0" indent="-203200" algn="l" rtl="0">
              <a:spcBef>
                <a:spcPts val="0"/>
              </a:spcBef>
              <a:spcAft>
                <a:spcPts val="0"/>
              </a:spcAft>
              <a:buClr>
                <a:schemeClr val="accent3"/>
              </a:buClr>
              <a:buSzPts val="1400"/>
              <a:buFont typeface="Archivo"/>
              <a:buChar char="●"/>
            </a:pPr>
            <a:r>
              <a:rPr lang="en-IN" dirty="0">
                <a:solidFill>
                  <a:schemeClr val="dk1"/>
                </a:solidFill>
                <a:latin typeface="Archivo"/>
                <a:ea typeface="Archivo"/>
                <a:cs typeface="Archivo"/>
                <a:sym typeface="Archivo"/>
              </a:rPr>
              <a:t>Strong Brand Identity and reputation</a:t>
            </a:r>
          </a:p>
          <a:p>
            <a:pPr marL="228600" lvl="0" indent="-203200" algn="l" rtl="0">
              <a:spcBef>
                <a:spcPts val="0"/>
              </a:spcBef>
              <a:spcAft>
                <a:spcPts val="0"/>
              </a:spcAft>
              <a:buClr>
                <a:schemeClr val="accent3"/>
              </a:buClr>
              <a:buSzPts val="1400"/>
              <a:buFont typeface="Archivo"/>
              <a:buChar char="●"/>
            </a:pPr>
            <a:r>
              <a:rPr lang="en-IN" dirty="0">
                <a:solidFill>
                  <a:schemeClr val="dk1"/>
                </a:solidFill>
                <a:latin typeface="Archivo"/>
                <a:ea typeface="Archivo"/>
                <a:cs typeface="Archivo"/>
                <a:sym typeface="Archivo"/>
              </a:rPr>
              <a:t>Loyal affluent user base customer service</a:t>
            </a:r>
            <a:endParaRPr dirty="0">
              <a:solidFill>
                <a:schemeClr val="dk1"/>
              </a:solidFill>
              <a:latin typeface="Archivo"/>
              <a:ea typeface="Archivo"/>
              <a:cs typeface="Archivo"/>
              <a:sym typeface="Archivo"/>
            </a:endParaRPr>
          </a:p>
        </p:txBody>
      </p:sp>
      <p:sp>
        <p:nvSpPr>
          <p:cNvPr id="1067" name="Google Shape;1067;p65"/>
          <p:cNvSpPr txBox="1"/>
          <p:nvPr/>
        </p:nvSpPr>
        <p:spPr>
          <a:xfrm>
            <a:off x="1941741" y="2780866"/>
            <a:ext cx="2438100" cy="449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chemeClr val="dk1"/>
                </a:solidFill>
                <a:latin typeface="Krona One"/>
                <a:ea typeface="Krona One"/>
                <a:cs typeface="Krona One"/>
                <a:sym typeface="Krona One"/>
              </a:rPr>
              <a:t>Weaknesses</a:t>
            </a:r>
            <a:endParaRPr sz="1800" dirty="0">
              <a:solidFill>
                <a:schemeClr val="dk1"/>
              </a:solidFill>
              <a:latin typeface="Krona One"/>
              <a:ea typeface="Krona One"/>
              <a:cs typeface="Krona One"/>
              <a:sym typeface="Krona One"/>
            </a:endParaRPr>
          </a:p>
        </p:txBody>
      </p:sp>
      <p:sp>
        <p:nvSpPr>
          <p:cNvPr id="1068" name="Google Shape;1068;p65"/>
          <p:cNvSpPr txBox="1"/>
          <p:nvPr/>
        </p:nvSpPr>
        <p:spPr>
          <a:xfrm>
            <a:off x="1941741" y="3229966"/>
            <a:ext cx="2438100" cy="1107900"/>
          </a:xfrm>
          <a:prstGeom prst="rect">
            <a:avLst/>
          </a:prstGeom>
          <a:noFill/>
          <a:ln>
            <a:noFill/>
          </a:ln>
        </p:spPr>
        <p:txBody>
          <a:bodyPr spcFirstLastPara="1" wrap="square" lIns="91425" tIns="91425" rIns="91425" bIns="91425" anchor="t" anchorCtr="0">
            <a:noAutofit/>
          </a:bodyPr>
          <a:lstStyle/>
          <a:p>
            <a:pPr marL="228600" lvl="0" indent="-203200" algn="l" rtl="0">
              <a:spcBef>
                <a:spcPts val="0"/>
              </a:spcBef>
              <a:spcAft>
                <a:spcPts val="0"/>
              </a:spcAft>
              <a:buClr>
                <a:schemeClr val="accent2"/>
              </a:buClr>
              <a:buSzPts val="1400"/>
              <a:buFont typeface="Archivo"/>
              <a:buChar char="●"/>
            </a:pPr>
            <a:r>
              <a:rPr lang="en-IN" dirty="0">
                <a:solidFill>
                  <a:schemeClr val="dk1"/>
                </a:solidFill>
                <a:latin typeface="Archivo"/>
                <a:ea typeface="Archivo"/>
                <a:cs typeface="Archivo"/>
                <a:sym typeface="Archivo"/>
              </a:rPr>
              <a:t>Limited User Base</a:t>
            </a:r>
          </a:p>
          <a:p>
            <a:pPr marL="228600" lvl="0" indent="-203200" algn="l" rtl="0">
              <a:spcBef>
                <a:spcPts val="0"/>
              </a:spcBef>
              <a:spcAft>
                <a:spcPts val="0"/>
              </a:spcAft>
              <a:buClr>
                <a:schemeClr val="accent2"/>
              </a:buClr>
              <a:buSzPts val="1400"/>
              <a:buFont typeface="Archivo"/>
              <a:buChar char="●"/>
            </a:pPr>
            <a:r>
              <a:rPr lang="en-IN" dirty="0">
                <a:solidFill>
                  <a:schemeClr val="dk1"/>
                </a:solidFill>
                <a:latin typeface="Archivo"/>
                <a:ea typeface="Archivo"/>
                <a:cs typeface="Archivo"/>
                <a:sym typeface="Archivo"/>
              </a:rPr>
              <a:t>Higher dependence on rewards</a:t>
            </a:r>
          </a:p>
          <a:p>
            <a:pPr marL="228600" lvl="0" indent="-203200" algn="l" rtl="0">
              <a:spcBef>
                <a:spcPts val="0"/>
              </a:spcBef>
              <a:spcAft>
                <a:spcPts val="0"/>
              </a:spcAft>
              <a:buClr>
                <a:schemeClr val="accent2"/>
              </a:buClr>
              <a:buSzPts val="1400"/>
              <a:buFont typeface="Archivo"/>
              <a:buChar char="●"/>
            </a:pPr>
            <a:r>
              <a:rPr lang="en-IN" dirty="0">
                <a:solidFill>
                  <a:schemeClr val="dk1"/>
                </a:solidFill>
                <a:latin typeface="Archivo"/>
                <a:ea typeface="Archivo"/>
                <a:cs typeface="Archivo"/>
                <a:sym typeface="Archivo"/>
              </a:rPr>
              <a:t>Profitability Challenges</a:t>
            </a:r>
            <a:endParaRPr dirty="0">
              <a:solidFill>
                <a:schemeClr val="dk1"/>
              </a:solidFill>
              <a:latin typeface="Archivo"/>
              <a:ea typeface="Archivo"/>
              <a:cs typeface="Archivo"/>
              <a:sym typeface="Archivo"/>
            </a:endParaRPr>
          </a:p>
        </p:txBody>
      </p:sp>
      <p:sp>
        <p:nvSpPr>
          <p:cNvPr id="1069" name="Google Shape;1069;p65"/>
          <p:cNvSpPr txBox="1"/>
          <p:nvPr/>
        </p:nvSpPr>
        <p:spPr>
          <a:xfrm>
            <a:off x="5856753" y="975674"/>
            <a:ext cx="2438100" cy="449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chemeClr val="dk1"/>
                </a:solidFill>
                <a:latin typeface="Krona One"/>
                <a:ea typeface="Krona One"/>
                <a:cs typeface="Krona One"/>
                <a:sym typeface="Krona One"/>
              </a:rPr>
              <a:t>Opportunities</a:t>
            </a:r>
            <a:endParaRPr sz="1800">
              <a:solidFill>
                <a:schemeClr val="dk1"/>
              </a:solidFill>
              <a:latin typeface="Krona One"/>
              <a:ea typeface="Krona One"/>
              <a:cs typeface="Krona One"/>
              <a:sym typeface="Krona One"/>
            </a:endParaRPr>
          </a:p>
        </p:txBody>
      </p:sp>
      <p:sp>
        <p:nvSpPr>
          <p:cNvPr id="1070" name="Google Shape;1070;p65"/>
          <p:cNvSpPr txBox="1"/>
          <p:nvPr/>
        </p:nvSpPr>
        <p:spPr>
          <a:xfrm>
            <a:off x="5856741" y="1463850"/>
            <a:ext cx="2834872" cy="1107900"/>
          </a:xfrm>
          <a:prstGeom prst="rect">
            <a:avLst/>
          </a:prstGeom>
          <a:noFill/>
          <a:ln>
            <a:noFill/>
          </a:ln>
        </p:spPr>
        <p:txBody>
          <a:bodyPr spcFirstLastPara="1" wrap="square" lIns="91425" tIns="91425" rIns="91425" bIns="91425" anchor="t" anchorCtr="0">
            <a:noAutofit/>
          </a:bodyPr>
          <a:lstStyle/>
          <a:p>
            <a:pPr marL="228600" lvl="0" indent="-203200" algn="l" rtl="0">
              <a:spcBef>
                <a:spcPts val="0"/>
              </a:spcBef>
              <a:spcAft>
                <a:spcPts val="0"/>
              </a:spcAft>
              <a:buClr>
                <a:schemeClr val="dk2"/>
              </a:buClr>
              <a:buSzPts val="1400"/>
              <a:buFont typeface="Archivo"/>
              <a:buChar char="●"/>
            </a:pPr>
            <a:r>
              <a:rPr lang="en-IN" dirty="0">
                <a:solidFill>
                  <a:schemeClr val="dk1"/>
                </a:solidFill>
                <a:latin typeface="Archivo"/>
                <a:ea typeface="Archivo"/>
                <a:cs typeface="Archivo"/>
                <a:sym typeface="Archivo"/>
              </a:rPr>
              <a:t>Service and Market expansion</a:t>
            </a:r>
          </a:p>
          <a:p>
            <a:pPr marL="228600" lvl="0" indent="-203200" algn="l" rtl="0">
              <a:spcBef>
                <a:spcPts val="0"/>
              </a:spcBef>
              <a:spcAft>
                <a:spcPts val="0"/>
              </a:spcAft>
              <a:buClr>
                <a:schemeClr val="dk2"/>
              </a:buClr>
              <a:buSzPts val="1400"/>
              <a:buFont typeface="Archivo"/>
              <a:buChar char="●"/>
            </a:pPr>
            <a:r>
              <a:rPr lang="en-IN" dirty="0">
                <a:solidFill>
                  <a:schemeClr val="dk1"/>
                </a:solidFill>
                <a:latin typeface="Archivo"/>
                <a:ea typeface="Archivo"/>
                <a:cs typeface="Archivo"/>
                <a:sym typeface="Archivo"/>
              </a:rPr>
              <a:t>Data driven personalization</a:t>
            </a:r>
          </a:p>
          <a:p>
            <a:pPr marL="228600" lvl="0" indent="-203200" algn="l" rtl="0">
              <a:spcBef>
                <a:spcPts val="0"/>
              </a:spcBef>
              <a:spcAft>
                <a:spcPts val="0"/>
              </a:spcAft>
              <a:buClr>
                <a:schemeClr val="dk2"/>
              </a:buClr>
              <a:buSzPts val="1400"/>
              <a:buFont typeface="Archivo"/>
              <a:buChar char="●"/>
            </a:pPr>
            <a:r>
              <a:rPr lang="en-IN" dirty="0">
                <a:solidFill>
                  <a:schemeClr val="dk1"/>
                </a:solidFill>
                <a:latin typeface="Archivo"/>
                <a:ea typeface="Archivo"/>
                <a:cs typeface="Archivo"/>
                <a:sym typeface="Archivo"/>
              </a:rPr>
              <a:t>Partnerships and international expansion</a:t>
            </a:r>
          </a:p>
          <a:p>
            <a:pPr marL="228600" lvl="0" indent="-203200" algn="l" rtl="0">
              <a:spcBef>
                <a:spcPts val="0"/>
              </a:spcBef>
              <a:spcAft>
                <a:spcPts val="0"/>
              </a:spcAft>
              <a:buClr>
                <a:schemeClr val="dk2"/>
              </a:buClr>
              <a:buSzPts val="1400"/>
              <a:buFont typeface="Archivo"/>
              <a:buChar char="●"/>
            </a:pPr>
            <a:endParaRPr dirty="0">
              <a:solidFill>
                <a:schemeClr val="dk1"/>
              </a:solidFill>
              <a:latin typeface="Archivo"/>
              <a:ea typeface="Archivo"/>
              <a:cs typeface="Archivo"/>
              <a:sym typeface="Archivo"/>
            </a:endParaRPr>
          </a:p>
        </p:txBody>
      </p:sp>
      <p:sp>
        <p:nvSpPr>
          <p:cNvPr id="1071" name="Google Shape;1071;p65"/>
          <p:cNvSpPr txBox="1"/>
          <p:nvPr/>
        </p:nvSpPr>
        <p:spPr>
          <a:xfrm>
            <a:off x="5856753" y="2780866"/>
            <a:ext cx="2438100" cy="4491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dirty="0">
                <a:solidFill>
                  <a:schemeClr val="dk1"/>
                </a:solidFill>
                <a:latin typeface="Krona One"/>
                <a:ea typeface="Krona One"/>
                <a:cs typeface="Krona One"/>
                <a:sym typeface="Krona One"/>
              </a:rPr>
              <a:t>Threats</a:t>
            </a:r>
            <a:endParaRPr sz="1800" dirty="0">
              <a:solidFill>
                <a:schemeClr val="dk1"/>
              </a:solidFill>
              <a:latin typeface="Krona One"/>
              <a:ea typeface="Krona One"/>
              <a:cs typeface="Krona One"/>
              <a:sym typeface="Krona One"/>
            </a:endParaRPr>
          </a:p>
        </p:txBody>
      </p:sp>
      <p:sp>
        <p:nvSpPr>
          <p:cNvPr id="1072" name="Google Shape;1072;p65"/>
          <p:cNvSpPr txBox="1"/>
          <p:nvPr/>
        </p:nvSpPr>
        <p:spPr>
          <a:xfrm>
            <a:off x="5856753" y="3229966"/>
            <a:ext cx="2438100" cy="1107900"/>
          </a:xfrm>
          <a:prstGeom prst="rect">
            <a:avLst/>
          </a:prstGeom>
          <a:noFill/>
          <a:ln>
            <a:noFill/>
          </a:ln>
        </p:spPr>
        <p:txBody>
          <a:bodyPr spcFirstLastPara="1" wrap="square" lIns="91425" tIns="91425" rIns="91425" bIns="91425" anchor="t" anchorCtr="0">
            <a:noAutofit/>
          </a:bodyPr>
          <a:lstStyle/>
          <a:p>
            <a:pPr marL="228600" lvl="0" indent="-203200" algn="l" rtl="0">
              <a:spcBef>
                <a:spcPts val="0"/>
              </a:spcBef>
              <a:spcAft>
                <a:spcPts val="0"/>
              </a:spcAft>
              <a:buClr>
                <a:schemeClr val="lt2"/>
              </a:buClr>
              <a:buSzPts val="1400"/>
              <a:buFont typeface="Archivo"/>
              <a:buChar char="●"/>
            </a:pPr>
            <a:r>
              <a:rPr lang="en-IN" dirty="0">
                <a:solidFill>
                  <a:schemeClr val="dk1"/>
                </a:solidFill>
                <a:latin typeface="Archivo"/>
                <a:ea typeface="Archivo"/>
                <a:cs typeface="Archivo"/>
                <a:sym typeface="Archivo"/>
              </a:rPr>
              <a:t>Intense competition</a:t>
            </a:r>
          </a:p>
          <a:p>
            <a:pPr marL="228600" lvl="0" indent="-203200" algn="l" rtl="0">
              <a:spcBef>
                <a:spcPts val="0"/>
              </a:spcBef>
              <a:spcAft>
                <a:spcPts val="0"/>
              </a:spcAft>
              <a:buClr>
                <a:schemeClr val="lt2"/>
              </a:buClr>
              <a:buSzPts val="1400"/>
              <a:buFont typeface="Archivo"/>
              <a:buChar char="●"/>
            </a:pPr>
            <a:r>
              <a:rPr lang="en-IN" dirty="0">
                <a:solidFill>
                  <a:schemeClr val="dk1"/>
                </a:solidFill>
                <a:latin typeface="Archivo"/>
                <a:ea typeface="Archivo"/>
                <a:cs typeface="Archivo"/>
                <a:sym typeface="Archivo"/>
              </a:rPr>
              <a:t>Regulatory risks </a:t>
            </a:r>
          </a:p>
          <a:p>
            <a:pPr marL="228600" lvl="0" indent="-203200" algn="l" rtl="0">
              <a:spcBef>
                <a:spcPts val="0"/>
              </a:spcBef>
              <a:spcAft>
                <a:spcPts val="0"/>
              </a:spcAft>
              <a:buClr>
                <a:schemeClr val="lt2"/>
              </a:buClr>
              <a:buSzPts val="1400"/>
              <a:buFont typeface="Archivo"/>
              <a:buChar char="●"/>
            </a:pPr>
            <a:r>
              <a:rPr lang="en-IN" dirty="0">
                <a:solidFill>
                  <a:schemeClr val="dk1"/>
                </a:solidFill>
                <a:latin typeface="Archivo"/>
                <a:ea typeface="Archivo"/>
                <a:cs typeface="Archivo"/>
                <a:sym typeface="Archivo"/>
              </a:rPr>
              <a:t>User Fatigue</a:t>
            </a:r>
            <a:endParaRPr dirty="0">
              <a:solidFill>
                <a:schemeClr val="dk1"/>
              </a:solidFill>
              <a:latin typeface="Archivo"/>
              <a:ea typeface="Archivo"/>
              <a:cs typeface="Archivo"/>
              <a:sym typeface="Archiv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6441;p87">
            <a:extLst>
              <a:ext uri="{FF2B5EF4-FFF2-40B4-BE49-F238E27FC236}">
                <a16:creationId xmlns:a16="http://schemas.microsoft.com/office/drawing/2014/main" id="{9A4443BA-50F1-BC10-E7B3-B88BAEC72F0F}"/>
              </a:ext>
            </a:extLst>
          </p:cNvPr>
          <p:cNvSpPr/>
          <p:nvPr/>
        </p:nvSpPr>
        <p:spPr>
          <a:xfrm>
            <a:off x="644893" y="100583"/>
            <a:ext cx="471233" cy="449100"/>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065;p65">
            <a:extLst>
              <a:ext uri="{FF2B5EF4-FFF2-40B4-BE49-F238E27FC236}">
                <a16:creationId xmlns:a16="http://schemas.microsoft.com/office/drawing/2014/main" id="{A7B3472B-99C7-7BE1-D342-FFE6B8595D4B}"/>
              </a:ext>
            </a:extLst>
          </p:cNvPr>
          <p:cNvSpPr txBox="1"/>
          <p:nvPr/>
        </p:nvSpPr>
        <p:spPr>
          <a:xfrm>
            <a:off x="1193128" y="85663"/>
            <a:ext cx="2438100" cy="449100"/>
          </a:xfrm>
          <a:prstGeom prst="rect">
            <a:avLst/>
          </a:prstGeom>
          <a:solidFill>
            <a:schemeClr val="accent3"/>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2400" dirty="0">
                <a:solidFill>
                  <a:schemeClr val="tx1"/>
                </a:solidFill>
                <a:latin typeface="Krona One"/>
                <a:ea typeface="Krona One"/>
                <a:cs typeface="Krona One"/>
                <a:sym typeface="Krona One"/>
              </a:rPr>
              <a:t>Strengths</a:t>
            </a:r>
            <a:endParaRPr sz="2400" dirty="0">
              <a:solidFill>
                <a:schemeClr val="tx1"/>
              </a:solidFill>
              <a:latin typeface="Krona One"/>
              <a:ea typeface="Krona One"/>
              <a:cs typeface="Krona One"/>
              <a:sym typeface="Krona One"/>
            </a:endParaRPr>
          </a:p>
        </p:txBody>
      </p:sp>
      <p:sp>
        <p:nvSpPr>
          <p:cNvPr id="6" name="TextBox 5">
            <a:extLst>
              <a:ext uri="{FF2B5EF4-FFF2-40B4-BE49-F238E27FC236}">
                <a16:creationId xmlns:a16="http://schemas.microsoft.com/office/drawing/2014/main" id="{2E48C388-320F-5440-DDC7-7012DB07212B}"/>
              </a:ext>
            </a:extLst>
          </p:cNvPr>
          <p:cNvSpPr txBox="1"/>
          <p:nvPr/>
        </p:nvSpPr>
        <p:spPr>
          <a:xfrm>
            <a:off x="548640" y="773494"/>
            <a:ext cx="5736657" cy="3754874"/>
          </a:xfrm>
          <a:prstGeom prst="rect">
            <a:avLst/>
          </a:prstGeom>
          <a:blipFill dpi="0" rotWithShape="1">
            <a:blip r:embed="rId2">
              <a:duotone>
                <a:schemeClr val="accent5">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a:blipFill>
        </p:spPr>
        <p:txBody>
          <a:bodyPr wrap="square" rtlCol="0">
            <a:spAutoFit/>
          </a:bodyPr>
          <a:lstStyle/>
          <a:p>
            <a:r>
              <a:rPr lang="en-US" sz="1600" b="1" dirty="0">
                <a:latin typeface="Aptos Display" panose="020B0004020202020204" pitchFamily="34" charset="0"/>
              </a:rPr>
              <a:t>1. Unique Value Proposition</a:t>
            </a:r>
          </a:p>
          <a:p>
            <a:pPr marL="285750" indent="-285750">
              <a:buFont typeface="Arial" panose="020B0604020202020204" pitchFamily="34" charset="0"/>
              <a:buChar char="•"/>
            </a:pPr>
            <a:r>
              <a:rPr lang="en-US" sz="1600" b="1" dirty="0">
                <a:latin typeface="Aptos Display" panose="020B0004020202020204" pitchFamily="34" charset="0"/>
              </a:rPr>
              <a:t>What it is:</a:t>
            </a:r>
            <a:br>
              <a:rPr lang="en-US" sz="1600" dirty="0">
                <a:latin typeface="Aptos Display" panose="020B0004020202020204" pitchFamily="34" charset="0"/>
              </a:rPr>
            </a:br>
            <a:r>
              <a:rPr lang="en-US" sz="1600" dirty="0">
                <a:latin typeface="Aptos Display" panose="020B0004020202020204" pitchFamily="34" charset="0"/>
              </a:rPr>
              <a:t>CRED rewards users for paying their credit card bills on time, turning a routine financial task into a rewarding experience.</a:t>
            </a:r>
          </a:p>
          <a:p>
            <a:pPr marL="285750" indent="-285750">
              <a:buFont typeface="Arial" panose="020B0604020202020204" pitchFamily="34" charset="0"/>
              <a:buChar char="•"/>
            </a:pPr>
            <a:r>
              <a:rPr lang="en-US" sz="1600" b="1" dirty="0">
                <a:latin typeface="Aptos Display" panose="020B0004020202020204" pitchFamily="34" charset="0"/>
              </a:rPr>
              <a:t>Why it works:</a:t>
            </a:r>
            <a:endParaRPr lang="en-US" sz="1600" dirty="0">
              <a:latin typeface="Aptos Display" panose="020B0004020202020204" pitchFamily="34" charset="0"/>
            </a:endParaRPr>
          </a:p>
          <a:p>
            <a:pPr marL="285750" indent="-285750">
              <a:buFont typeface="Arial" panose="020B0604020202020204" pitchFamily="34" charset="0"/>
              <a:buChar char="•"/>
            </a:pPr>
            <a:r>
              <a:rPr lang="en-US" sz="1600" b="1" dirty="0">
                <a:latin typeface="Aptos Display" panose="020B0004020202020204" pitchFamily="34" charset="0"/>
              </a:rPr>
              <a:t>Gamification:</a:t>
            </a:r>
            <a:r>
              <a:rPr lang="en-US" sz="1600" dirty="0">
                <a:latin typeface="Aptos Display" panose="020B0004020202020204" pitchFamily="34" charset="0"/>
              </a:rPr>
              <a:t> The app makes payments feel fun and rewarding by offering “CRED coins” which users can redeem for discounts, products, or even contest entries.</a:t>
            </a:r>
          </a:p>
          <a:p>
            <a:pPr marL="285750" indent="-285750">
              <a:buFont typeface="Arial" panose="020B0604020202020204" pitchFamily="34" charset="0"/>
              <a:buChar char="•"/>
            </a:pPr>
            <a:r>
              <a:rPr lang="en-US" sz="1600" b="1" dirty="0">
                <a:latin typeface="Aptos Display" panose="020B0004020202020204" pitchFamily="34" charset="0"/>
              </a:rPr>
              <a:t>User psychology:</a:t>
            </a:r>
            <a:r>
              <a:rPr lang="en-US" sz="1600" dirty="0">
                <a:latin typeface="Aptos Display" panose="020B0004020202020204" pitchFamily="34" charset="0"/>
              </a:rPr>
              <a:t> This taps into behavioral economics — rewarding good financial behavior helps drive consistent usage and habit formation.</a:t>
            </a:r>
          </a:p>
          <a:p>
            <a:pPr marL="285750" indent="-285750">
              <a:buFont typeface="Arial" panose="020B0604020202020204" pitchFamily="34" charset="0"/>
              <a:buChar char="•"/>
            </a:pPr>
            <a:r>
              <a:rPr lang="en-US" sz="1600" b="1" dirty="0">
                <a:latin typeface="Aptos Display" panose="020B0004020202020204" pitchFamily="34" charset="0"/>
              </a:rPr>
              <a:t>Tech infrastructure:</a:t>
            </a:r>
            <a:r>
              <a:rPr lang="en-US" sz="1600" dirty="0">
                <a:latin typeface="Aptos Display" panose="020B0004020202020204" pitchFamily="34" charset="0"/>
              </a:rPr>
              <a:t> Behind the scenes, the app relies on secure API integrations with banks and credit bureaus to fetch credit data and payments in real-time.</a:t>
            </a:r>
          </a:p>
          <a:p>
            <a:endParaRPr lang="en-IN" sz="1600" dirty="0">
              <a:latin typeface="Aptos Display" panose="020B0004020202020204" pitchFamily="34" charset="0"/>
            </a:endParaRPr>
          </a:p>
        </p:txBody>
      </p:sp>
      <p:grpSp>
        <p:nvGrpSpPr>
          <p:cNvPr id="29" name="Google Shape;1520;p72">
            <a:extLst>
              <a:ext uri="{FF2B5EF4-FFF2-40B4-BE49-F238E27FC236}">
                <a16:creationId xmlns:a16="http://schemas.microsoft.com/office/drawing/2014/main" id="{942A6500-8253-A863-B6F2-202033BDB73C}"/>
              </a:ext>
            </a:extLst>
          </p:cNvPr>
          <p:cNvGrpSpPr/>
          <p:nvPr/>
        </p:nvGrpSpPr>
        <p:grpSpPr>
          <a:xfrm>
            <a:off x="6085559" y="1343797"/>
            <a:ext cx="399475" cy="399091"/>
            <a:chOff x="2174626" y="2054005"/>
            <a:chExt cx="399475" cy="399091"/>
          </a:xfrm>
        </p:grpSpPr>
        <p:sp>
          <p:nvSpPr>
            <p:cNvPr id="30" name="Google Shape;1521;p72">
              <a:extLst>
                <a:ext uri="{FF2B5EF4-FFF2-40B4-BE49-F238E27FC236}">
                  <a16:creationId xmlns:a16="http://schemas.microsoft.com/office/drawing/2014/main" id="{D8C6C5C9-D1B9-31DB-4FA6-36B7AE0BEACD}"/>
                </a:ext>
              </a:extLst>
            </p:cNvPr>
            <p:cNvSpPr/>
            <p:nvPr/>
          </p:nvSpPr>
          <p:spPr>
            <a:xfrm>
              <a:off x="2473627" y="2277289"/>
              <a:ext cx="79933" cy="95906"/>
            </a:xfrm>
            <a:custGeom>
              <a:avLst/>
              <a:gdLst/>
              <a:ahLst/>
              <a:cxnLst/>
              <a:rect l="l" t="t" r="r" b="b"/>
              <a:pathLst>
                <a:path w="2502" h="3002" extrusionOk="0">
                  <a:moveTo>
                    <a:pt x="382" y="1"/>
                  </a:moveTo>
                  <a:cubicBezTo>
                    <a:pt x="168" y="1"/>
                    <a:pt x="1" y="168"/>
                    <a:pt x="1" y="358"/>
                  </a:cubicBezTo>
                  <a:lnTo>
                    <a:pt x="1" y="3002"/>
                  </a:lnTo>
                  <a:lnTo>
                    <a:pt x="2501" y="3002"/>
                  </a:lnTo>
                  <a:lnTo>
                    <a:pt x="2501" y="358"/>
                  </a:lnTo>
                  <a:cubicBezTo>
                    <a:pt x="2501" y="168"/>
                    <a:pt x="2335" y="1"/>
                    <a:pt x="2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522;p72">
              <a:extLst>
                <a:ext uri="{FF2B5EF4-FFF2-40B4-BE49-F238E27FC236}">
                  <a16:creationId xmlns:a16="http://schemas.microsoft.com/office/drawing/2014/main" id="{9FC8BBAD-4D03-547E-1795-A3C768EF22AE}"/>
                </a:ext>
              </a:extLst>
            </p:cNvPr>
            <p:cNvSpPr/>
            <p:nvPr/>
          </p:nvSpPr>
          <p:spPr>
            <a:xfrm>
              <a:off x="2364844" y="2219495"/>
              <a:ext cx="79166" cy="153699"/>
            </a:xfrm>
            <a:custGeom>
              <a:avLst/>
              <a:gdLst/>
              <a:ahLst/>
              <a:cxnLst/>
              <a:rect l="l" t="t" r="r" b="b"/>
              <a:pathLst>
                <a:path w="2478" h="4811" extrusionOk="0">
                  <a:moveTo>
                    <a:pt x="358" y="0"/>
                  </a:moveTo>
                  <a:cubicBezTo>
                    <a:pt x="167" y="0"/>
                    <a:pt x="0" y="167"/>
                    <a:pt x="0" y="357"/>
                  </a:cubicBezTo>
                  <a:lnTo>
                    <a:pt x="0" y="1596"/>
                  </a:lnTo>
                  <a:cubicBezTo>
                    <a:pt x="620" y="2286"/>
                    <a:pt x="1001" y="3191"/>
                    <a:pt x="1001" y="4191"/>
                  </a:cubicBezTo>
                  <a:cubicBezTo>
                    <a:pt x="1001" y="4406"/>
                    <a:pt x="1001" y="4596"/>
                    <a:pt x="953" y="4811"/>
                  </a:cubicBezTo>
                  <a:lnTo>
                    <a:pt x="2477" y="4811"/>
                  </a:lnTo>
                  <a:lnTo>
                    <a:pt x="2477" y="357"/>
                  </a:lnTo>
                  <a:cubicBezTo>
                    <a:pt x="2477" y="167"/>
                    <a:pt x="2310" y="0"/>
                    <a:pt x="21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523;p72">
              <a:extLst>
                <a:ext uri="{FF2B5EF4-FFF2-40B4-BE49-F238E27FC236}">
                  <a16:creationId xmlns:a16="http://schemas.microsoft.com/office/drawing/2014/main" id="{E167C24B-22A2-988B-DF49-12439F609DCB}"/>
                </a:ext>
              </a:extLst>
            </p:cNvPr>
            <p:cNvSpPr/>
            <p:nvPr/>
          </p:nvSpPr>
          <p:spPr>
            <a:xfrm>
              <a:off x="2247691" y="2110681"/>
              <a:ext cx="79901" cy="131656"/>
            </a:xfrm>
            <a:custGeom>
              <a:avLst/>
              <a:gdLst/>
              <a:ahLst/>
              <a:cxnLst/>
              <a:rect l="l" t="t" r="r" b="b"/>
              <a:pathLst>
                <a:path w="2501" h="4121" extrusionOk="0">
                  <a:moveTo>
                    <a:pt x="357" y="1"/>
                  </a:moveTo>
                  <a:cubicBezTo>
                    <a:pt x="167" y="1"/>
                    <a:pt x="0" y="143"/>
                    <a:pt x="0" y="358"/>
                  </a:cubicBezTo>
                  <a:lnTo>
                    <a:pt x="0" y="3835"/>
                  </a:lnTo>
                  <a:cubicBezTo>
                    <a:pt x="262" y="3787"/>
                    <a:pt x="548" y="3739"/>
                    <a:pt x="810" y="3739"/>
                  </a:cubicBezTo>
                  <a:cubicBezTo>
                    <a:pt x="1429" y="3739"/>
                    <a:pt x="1977" y="3882"/>
                    <a:pt x="2501" y="4120"/>
                  </a:cubicBezTo>
                  <a:lnTo>
                    <a:pt x="2501" y="358"/>
                  </a:lnTo>
                  <a:cubicBezTo>
                    <a:pt x="2501" y="143"/>
                    <a:pt x="2334" y="1"/>
                    <a:pt x="2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524;p72">
              <a:extLst>
                <a:ext uri="{FF2B5EF4-FFF2-40B4-BE49-F238E27FC236}">
                  <a16:creationId xmlns:a16="http://schemas.microsoft.com/office/drawing/2014/main" id="{4735ACF5-F214-4834-CFEE-300E70096C72}"/>
                </a:ext>
              </a:extLst>
            </p:cNvPr>
            <p:cNvSpPr/>
            <p:nvPr/>
          </p:nvSpPr>
          <p:spPr>
            <a:xfrm>
              <a:off x="2200503" y="2054325"/>
              <a:ext cx="22842" cy="200950"/>
            </a:xfrm>
            <a:custGeom>
              <a:avLst/>
              <a:gdLst/>
              <a:ahLst/>
              <a:cxnLst/>
              <a:rect l="l" t="t" r="r" b="b"/>
              <a:pathLst>
                <a:path w="715" h="6290" extrusionOk="0">
                  <a:moveTo>
                    <a:pt x="351" y="0"/>
                  </a:moveTo>
                  <a:cubicBezTo>
                    <a:pt x="337" y="0"/>
                    <a:pt x="324" y="1"/>
                    <a:pt x="310" y="2"/>
                  </a:cubicBezTo>
                  <a:cubicBezTo>
                    <a:pt x="120" y="26"/>
                    <a:pt x="1" y="193"/>
                    <a:pt x="1" y="360"/>
                  </a:cubicBezTo>
                  <a:lnTo>
                    <a:pt x="1" y="6289"/>
                  </a:lnTo>
                  <a:cubicBezTo>
                    <a:pt x="215" y="6123"/>
                    <a:pt x="453" y="5956"/>
                    <a:pt x="715" y="5837"/>
                  </a:cubicBezTo>
                  <a:lnTo>
                    <a:pt x="715" y="360"/>
                  </a:lnTo>
                  <a:cubicBezTo>
                    <a:pt x="715" y="159"/>
                    <a:pt x="548" y="0"/>
                    <a:pt x="3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525;p72">
              <a:extLst>
                <a:ext uri="{FF2B5EF4-FFF2-40B4-BE49-F238E27FC236}">
                  <a16:creationId xmlns:a16="http://schemas.microsoft.com/office/drawing/2014/main" id="{28666484-3281-72AC-B976-04FD6807F5CB}"/>
                </a:ext>
              </a:extLst>
            </p:cNvPr>
            <p:cNvSpPr/>
            <p:nvPr/>
          </p:nvSpPr>
          <p:spPr>
            <a:xfrm>
              <a:off x="2464521" y="2054005"/>
              <a:ext cx="97408" cy="98622"/>
            </a:xfrm>
            <a:custGeom>
              <a:avLst/>
              <a:gdLst/>
              <a:ahLst/>
              <a:cxnLst/>
              <a:rect l="l" t="t" r="r" b="b"/>
              <a:pathLst>
                <a:path w="3049" h="3087" extrusionOk="0">
                  <a:moveTo>
                    <a:pt x="1536" y="0"/>
                  </a:moveTo>
                  <a:cubicBezTo>
                    <a:pt x="1447" y="0"/>
                    <a:pt x="1358" y="36"/>
                    <a:pt x="1286" y="108"/>
                  </a:cubicBezTo>
                  <a:lnTo>
                    <a:pt x="143" y="1227"/>
                  </a:lnTo>
                  <a:cubicBezTo>
                    <a:pt x="0" y="1370"/>
                    <a:pt x="0" y="1608"/>
                    <a:pt x="143" y="1751"/>
                  </a:cubicBezTo>
                  <a:cubicBezTo>
                    <a:pt x="214" y="1822"/>
                    <a:pt x="310" y="1858"/>
                    <a:pt x="405" y="1858"/>
                  </a:cubicBezTo>
                  <a:cubicBezTo>
                    <a:pt x="500" y="1858"/>
                    <a:pt x="596" y="1822"/>
                    <a:pt x="667" y="1751"/>
                  </a:cubicBezTo>
                  <a:lnTo>
                    <a:pt x="1167" y="1251"/>
                  </a:lnTo>
                  <a:lnTo>
                    <a:pt x="1167" y="2703"/>
                  </a:lnTo>
                  <a:cubicBezTo>
                    <a:pt x="1167" y="2926"/>
                    <a:pt x="1334" y="3087"/>
                    <a:pt x="1531" y="3087"/>
                  </a:cubicBezTo>
                  <a:cubicBezTo>
                    <a:pt x="1545" y="3087"/>
                    <a:pt x="1558" y="3086"/>
                    <a:pt x="1572" y="3084"/>
                  </a:cubicBezTo>
                  <a:cubicBezTo>
                    <a:pt x="1762" y="3061"/>
                    <a:pt x="1905" y="2894"/>
                    <a:pt x="1905" y="2703"/>
                  </a:cubicBezTo>
                  <a:lnTo>
                    <a:pt x="1905" y="1251"/>
                  </a:lnTo>
                  <a:lnTo>
                    <a:pt x="2405" y="1751"/>
                  </a:lnTo>
                  <a:cubicBezTo>
                    <a:pt x="2477" y="1822"/>
                    <a:pt x="2566" y="1858"/>
                    <a:pt x="2655" y="1858"/>
                  </a:cubicBezTo>
                  <a:cubicBezTo>
                    <a:pt x="2745" y="1858"/>
                    <a:pt x="2834" y="1822"/>
                    <a:pt x="2906" y="1751"/>
                  </a:cubicBezTo>
                  <a:cubicBezTo>
                    <a:pt x="3048" y="1608"/>
                    <a:pt x="3048" y="1370"/>
                    <a:pt x="2906" y="1227"/>
                  </a:cubicBezTo>
                  <a:lnTo>
                    <a:pt x="1786" y="108"/>
                  </a:lnTo>
                  <a:cubicBezTo>
                    <a:pt x="1715" y="36"/>
                    <a:pt x="1625" y="0"/>
                    <a:pt x="15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526;p72">
              <a:extLst>
                <a:ext uri="{FF2B5EF4-FFF2-40B4-BE49-F238E27FC236}">
                  <a16:creationId xmlns:a16="http://schemas.microsoft.com/office/drawing/2014/main" id="{7DBC6263-F5EC-8D6C-EC03-D423043B357D}"/>
                </a:ext>
              </a:extLst>
            </p:cNvPr>
            <p:cNvSpPr/>
            <p:nvPr/>
          </p:nvSpPr>
          <p:spPr>
            <a:xfrm>
              <a:off x="2174626" y="2253712"/>
              <a:ext cx="199384" cy="199384"/>
            </a:xfrm>
            <a:custGeom>
              <a:avLst/>
              <a:gdLst/>
              <a:ahLst/>
              <a:cxnLst/>
              <a:rect l="l" t="t" r="r" b="b"/>
              <a:pathLst>
                <a:path w="6241" h="6241" extrusionOk="0">
                  <a:moveTo>
                    <a:pt x="3121" y="1072"/>
                  </a:moveTo>
                  <a:cubicBezTo>
                    <a:pt x="3335" y="1072"/>
                    <a:pt x="3502" y="1239"/>
                    <a:pt x="3502" y="1453"/>
                  </a:cubicBezTo>
                  <a:lnTo>
                    <a:pt x="3502" y="1525"/>
                  </a:lnTo>
                  <a:cubicBezTo>
                    <a:pt x="3859" y="1620"/>
                    <a:pt x="4097" y="1811"/>
                    <a:pt x="4121" y="1834"/>
                  </a:cubicBezTo>
                  <a:cubicBezTo>
                    <a:pt x="4264" y="1953"/>
                    <a:pt x="4287" y="2192"/>
                    <a:pt x="4168" y="2334"/>
                  </a:cubicBezTo>
                  <a:cubicBezTo>
                    <a:pt x="4089" y="2427"/>
                    <a:pt x="3979" y="2476"/>
                    <a:pt x="3874" y="2476"/>
                  </a:cubicBezTo>
                  <a:cubicBezTo>
                    <a:pt x="3790" y="2476"/>
                    <a:pt x="3708" y="2445"/>
                    <a:pt x="3644" y="2382"/>
                  </a:cubicBezTo>
                  <a:cubicBezTo>
                    <a:pt x="3622" y="2360"/>
                    <a:pt x="3413" y="2213"/>
                    <a:pt x="3172" y="2213"/>
                  </a:cubicBezTo>
                  <a:cubicBezTo>
                    <a:pt x="3155" y="2213"/>
                    <a:pt x="3138" y="2214"/>
                    <a:pt x="3121" y="2215"/>
                  </a:cubicBezTo>
                  <a:cubicBezTo>
                    <a:pt x="3073" y="2215"/>
                    <a:pt x="3025" y="2215"/>
                    <a:pt x="2978" y="2239"/>
                  </a:cubicBezTo>
                  <a:cubicBezTo>
                    <a:pt x="2787" y="2287"/>
                    <a:pt x="2740" y="2454"/>
                    <a:pt x="2906" y="2549"/>
                  </a:cubicBezTo>
                  <a:cubicBezTo>
                    <a:pt x="3073" y="2620"/>
                    <a:pt x="3311" y="2716"/>
                    <a:pt x="3549" y="2787"/>
                  </a:cubicBezTo>
                  <a:cubicBezTo>
                    <a:pt x="4216" y="3049"/>
                    <a:pt x="4383" y="3525"/>
                    <a:pt x="4311" y="3906"/>
                  </a:cubicBezTo>
                  <a:cubicBezTo>
                    <a:pt x="4240" y="4311"/>
                    <a:pt x="3930" y="4621"/>
                    <a:pt x="3502" y="4716"/>
                  </a:cubicBezTo>
                  <a:lnTo>
                    <a:pt x="3502" y="4811"/>
                  </a:lnTo>
                  <a:cubicBezTo>
                    <a:pt x="3502" y="5002"/>
                    <a:pt x="3335" y="5168"/>
                    <a:pt x="3121" y="5168"/>
                  </a:cubicBezTo>
                  <a:cubicBezTo>
                    <a:pt x="2930" y="5168"/>
                    <a:pt x="2787" y="4978"/>
                    <a:pt x="2787" y="4787"/>
                  </a:cubicBezTo>
                  <a:lnTo>
                    <a:pt x="2787" y="4716"/>
                  </a:lnTo>
                  <a:cubicBezTo>
                    <a:pt x="2478" y="4644"/>
                    <a:pt x="2216" y="4478"/>
                    <a:pt x="2025" y="4263"/>
                  </a:cubicBezTo>
                  <a:cubicBezTo>
                    <a:pt x="1882" y="4121"/>
                    <a:pt x="1906" y="3882"/>
                    <a:pt x="2049" y="3740"/>
                  </a:cubicBezTo>
                  <a:cubicBezTo>
                    <a:pt x="2121" y="3688"/>
                    <a:pt x="2202" y="3663"/>
                    <a:pt x="2282" y="3663"/>
                  </a:cubicBezTo>
                  <a:cubicBezTo>
                    <a:pt x="2388" y="3663"/>
                    <a:pt x="2492" y="3706"/>
                    <a:pt x="2573" y="3787"/>
                  </a:cubicBezTo>
                  <a:cubicBezTo>
                    <a:pt x="2716" y="3930"/>
                    <a:pt x="2906" y="4025"/>
                    <a:pt x="3121" y="4025"/>
                  </a:cubicBezTo>
                  <a:cubicBezTo>
                    <a:pt x="3137" y="4027"/>
                    <a:pt x="3153" y="4028"/>
                    <a:pt x="3169" y="4028"/>
                  </a:cubicBezTo>
                  <a:cubicBezTo>
                    <a:pt x="3369" y="4028"/>
                    <a:pt x="3575" y="3897"/>
                    <a:pt x="3597" y="3787"/>
                  </a:cubicBezTo>
                  <a:cubicBezTo>
                    <a:pt x="3621" y="3620"/>
                    <a:pt x="3359" y="3501"/>
                    <a:pt x="3287" y="3478"/>
                  </a:cubicBezTo>
                  <a:cubicBezTo>
                    <a:pt x="3049" y="3406"/>
                    <a:pt x="2501" y="3168"/>
                    <a:pt x="2525" y="3168"/>
                  </a:cubicBezTo>
                  <a:cubicBezTo>
                    <a:pt x="2192" y="3001"/>
                    <a:pt x="2025" y="2644"/>
                    <a:pt x="2097" y="2287"/>
                  </a:cubicBezTo>
                  <a:cubicBezTo>
                    <a:pt x="2144" y="1930"/>
                    <a:pt x="2406" y="1644"/>
                    <a:pt x="2763" y="1525"/>
                  </a:cubicBezTo>
                  <a:lnTo>
                    <a:pt x="2787" y="1525"/>
                  </a:lnTo>
                  <a:lnTo>
                    <a:pt x="2787" y="1453"/>
                  </a:lnTo>
                  <a:cubicBezTo>
                    <a:pt x="2787" y="1239"/>
                    <a:pt x="2930" y="1096"/>
                    <a:pt x="3121" y="1072"/>
                  </a:cubicBezTo>
                  <a:close/>
                  <a:moveTo>
                    <a:pt x="3121" y="1"/>
                  </a:moveTo>
                  <a:cubicBezTo>
                    <a:pt x="1406" y="1"/>
                    <a:pt x="1" y="1406"/>
                    <a:pt x="1" y="3120"/>
                  </a:cubicBezTo>
                  <a:cubicBezTo>
                    <a:pt x="1" y="4835"/>
                    <a:pt x="1406" y="6240"/>
                    <a:pt x="3121" y="6240"/>
                  </a:cubicBezTo>
                  <a:cubicBezTo>
                    <a:pt x="4835" y="6240"/>
                    <a:pt x="6240" y="4835"/>
                    <a:pt x="6240" y="3120"/>
                  </a:cubicBezTo>
                  <a:cubicBezTo>
                    <a:pt x="6240" y="1406"/>
                    <a:pt x="4835" y="1"/>
                    <a:pt x="31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527;p72">
              <a:extLst>
                <a:ext uri="{FF2B5EF4-FFF2-40B4-BE49-F238E27FC236}">
                  <a16:creationId xmlns:a16="http://schemas.microsoft.com/office/drawing/2014/main" id="{40D346B9-755E-701F-2963-9B96D913981F}"/>
                </a:ext>
              </a:extLst>
            </p:cNvPr>
            <p:cNvSpPr/>
            <p:nvPr/>
          </p:nvSpPr>
          <p:spPr>
            <a:xfrm>
              <a:off x="2377783" y="2395976"/>
              <a:ext cx="196317" cy="23641"/>
            </a:xfrm>
            <a:custGeom>
              <a:avLst/>
              <a:gdLst/>
              <a:ahLst/>
              <a:cxnLst/>
              <a:rect l="l" t="t" r="r" b="b"/>
              <a:pathLst>
                <a:path w="6145" h="740" extrusionOk="0">
                  <a:moveTo>
                    <a:pt x="381" y="1"/>
                  </a:moveTo>
                  <a:cubicBezTo>
                    <a:pt x="286" y="263"/>
                    <a:pt x="167" y="525"/>
                    <a:pt x="0" y="739"/>
                  </a:cubicBezTo>
                  <a:lnTo>
                    <a:pt x="5740" y="739"/>
                  </a:lnTo>
                  <a:cubicBezTo>
                    <a:pt x="5930" y="739"/>
                    <a:pt x="6097" y="596"/>
                    <a:pt x="6121" y="430"/>
                  </a:cubicBezTo>
                  <a:cubicBezTo>
                    <a:pt x="6144" y="191"/>
                    <a:pt x="5978" y="1"/>
                    <a:pt x="57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528;p72">
              <a:extLst>
                <a:ext uri="{FF2B5EF4-FFF2-40B4-BE49-F238E27FC236}">
                  <a16:creationId xmlns:a16="http://schemas.microsoft.com/office/drawing/2014/main" id="{D23BD433-C650-F4BE-6232-581E8A771DA4}"/>
                </a:ext>
              </a:extLst>
            </p:cNvPr>
            <p:cNvSpPr/>
            <p:nvPr/>
          </p:nvSpPr>
          <p:spPr>
            <a:xfrm>
              <a:off x="2501805" y="2176046"/>
              <a:ext cx="23609" cy="40509"/>
            </a:xfrm>
            <a:custGeom>
              <a:avLst/>
              <a:gdLst/>
              <a:ahLst/>
              <a:cxnLst/>
              <a:rect l="l" t="t" r="r" b="b"/>
              <a:pathLst>
                <a:path w="739" h="1268" extrusionOk="0">
                  <a:moveTo>
                    <a:pt x="364" y="0"/>
                  </a:moveTo>
                  <a:cubicBezTo>
                    <a:pt x="167" y="0"/>
                    <a:pt x="0" y="159"/>
                    <a:pt x="0" y="360"/>
                  </a:cubicBezTo>
                  <a:lnTo>
                    <a:pt x="0" y="908"/>
                  </a:lnTo>
                  <a:cubicBezTo>
                    <a:pt x="0" y="1108"/>
                    <a:pt x="167" y="1267"/>
                    <a:pt x="364" y="1267"/>
                  </a:cubicBezTo>
                  <a:cubicBezTo>
                    <a:pt x="378" y="1267"/>
                    <a:pt x="391" y="1266"/>
                    <a:pt x="405" y="1265"/>
                  </a:cubicBezTo>
                  <a:cubicBezTo>
                    <a:pt x="595" y="1241"/>
                    <a:pt x="738" y="1074"/>
                    <a:pt x="738" y="884"/>
                  </a:cubicBezTo>
                  <a:lnTo>
                    <a:pt x="738" y="360"/>
                  </a:lnTo>
                  <a:cubicBezTo>
                    <a:pt x="738" y="169"/>
                    <a:pt x="595" y="26"/>
                    <a:pt x="405" y="3"/>
                  </a:cubicBezTo>
                  <a:cubicBezTo>
                    <a:pt x="391" y="1"/>
                    <a:pt x="378" y="0"/>
                    <a:pt x="3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1345;p72">
            <a:extLst>
              <a:ext uri="{FF2B5EF4-FFF2-40B4-BE49-F238E27FC236}">
                <a16:creationId xmlns:a16="http://schemas.microsoft.com/office/drawing/2014/main" id="{BA55B61A-F6A3-49B9-BC6E-5E1AB170E58D}"/>
              </a:ext>
            </a:extLst>
          </p:cNvPr>
          <p:cNvGrpSpPr/>
          <p:nvPr/>
        </p:nvGrpSpPr>
        <p:grpSpPr>
          <a:xfrm>
            <a:off x="6315360" y="2173043"/>
            <a:ext cx="398707" cy="398707"/>
            <a:chOff x="5959725" y="2644020"/>
            <a:chExt cx="398707" cy="398707"/>
          </a:xfrm>
        </p:grpSpPr>
        <p:sp>
          <p:nvSpPr>
            <p:cNvPr id="39" name="Google Shape;1346;p72">
              <a:extLst>
                <a:ext uri="{FF2B5EF4-FFF2-40B4-BE49-F238E27FC236}">
                  <a16:creationId xmlns:a16="http://schemas.microsoft.com/office/drawing/2014/main" id="{E2AE32CD-8052-577F-91CE-81BA09D6E449}"/>
                </a:ext>
              </a:extLst>
            </p:cNvPr>
            <p:cNvSpPr/>
            <p:nvPr/>
          </p:nvSpPr>
          <p:spPr>
            <a:xfrm>
              <a:off x="5968096" y="2871074"/>
              <a:ext cx="163603" cy="144499"/>
            </a:xfrm>
            <a:custGeom>
              <a:avLst/>
              <a:gdLst/>
              <a:ahLst/>
              <a:cxnLst/>
              <a:rect l="l" t="t" r="r" b="b"/>
              <a:pathLst>
                <a:path w="5121" h="4523" extrusionOk="0">
                  <a:moveTo>
                    <a:pt x="961" y="0"/>
                  </a:moveTo>
                  <a:cubicBezTo>
                    <a:pt x="814" y="0"/>
                    <a:pt x="672" y="89"/>
                    <a:pt x="620" y="228"/>
                  </a:cubicBezTo>
                  <a:lnTo>
                    <a:pt x="72" y="1514"/>
                  </a:lnTo>
                  <a:cubicBezTo>
                    <a:pt x="1" y="1681"/>
                    <a:pt x="96" y="1895"/>
                    <a:pt x="263" y="1991"/>
                  </a:cubicBezTo>
                  <a:cubicBezTo>
                    <a:pt x="306" y="2007"/>
                    <a:pt x="350" y="2014"/>
                    <a:pt x="393" y="2014"/>
                  </a:cubicBezTo>
                  <a:cubicBezTo>
                    <a:pt x="544" y="2014"/>
                    <a:pt x="689" y="1924"/>
                    <a:pt x="763" y="1776"/>
                  </a:cubicBezTo>
                  <a:lnTo>
                    <a:pt x="930" y="1395"/>
                  </a:lnTo>
                  <a:cubicBezTo>
                    <a:pt x="1192" y="2014"/>
                    <a:pt x="1573" y="2562"/>
                    <a:pt x="2073" y="3038"/>
                  </a:cubicBezTo>
                  <a:cubicBezTo>
                    <a:pt x="2787" y="3777"/>
                    <a:pt x="3692" y="4277"/>
                    <a:pt x="4668" y="4515"/>
                  </a:cubicBezTo>
                  <a:cubicBezTo>
                    <a:pt x="4693" y="4520"/>
                    <a:pt x="4718" y="4523"/>
                    <a:pt x="4743" y="4523"/>
                  </a:cubicBezTo>
                  <a:cubicBezTo>
                    <a:pt x="4935" y="4523"/>
                    <a:pt x="5121" y="4368"/>
                    <a:pt x="5121" y="4158"/>
                  </a:cubicBezTo>
                  <a:cubicBezTo>
                    <a:pt x="5121" y="3991"/>
                    <a:pt x="5002" y="3848"/>
                    <a:pt x="4835" y="3800"/>
                  </a:cubicBezTo>
                  <a:cubicBezTo>
                    <a:pt x="3978" y="3586"/>
                    <a:pt x="3192" y="3157"/>
                    <a:pt x="2573" y="2538"/>
                  </a:cubicBezTo>
                  <a:cubicBezTo>
                    <a:pt x="2168" y="2110"/>
                    <a:pt x="1811" y="1609"/>
                    <a:pt x="1573" y="1086"/>
                  </a:cubicBezTo>
                  <a:lnTo>
                    <a:pt x="1573" y="1086"/>
                  </a:lnTo>
                  <a:lnTo>
                    <a:pt x="2073" y="1324"/>
                  </a:lnTo>
                  <a:cubicBezTo>
                    <a:pt x="2120" y="1348"/>
                    <a:pt x="2168" y="1348"/>
                    <a:pt x="2216" y="1348"/>
                  </a:cubicBezTo>
                  <a:cubicBezTo>
                    <a:pt x="2358" y="1348"/>
                    <a:pt x="2478" y="1276"/>
                    <a:pt x="2549" y="1157"/>
                  </a:cubicBezTo>
                  <a:cubicBezTo>
                    <a:pt x="2644" y="967"/>
                    <a:pt x="2573" y="752"/>
                    <a:pt x="2382" y="657"/>
                  </a:cubicBezTo>
                  <a:lnTo>
                    <a:pt x="1120" y="38"/>
                  </a:lnTo>
                  <a:cubicBezTo>
                    <a:pt x="1069" y="12"/>
                    <a:pt x="1015" y="0"/>
                    <a:pt x="9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347;p72">
              <a:extLst>
                <a:ext uri="{FF2B5EF4-FFF2-40B4-BE49-F238E27FC236}">
                  <a16:creationId xmlns:a16="http://schemas.microsoft.com/office/drawing/2014/main" id="{17760916-F3D7-6A26-DFE5-32D530FBDBA4}"/>
                </a:ext>
              </a:extLst>
            </p:cNvPr>
            <p:cNvSpPr/>
            <p:nvPr/>
          </p:nvSpPr>
          <p:spPr>
            <a:xfrm>
              <a:off x="6186460" y="2671144"/>
              <a:ext cx="163603" cy="144530"/>
            </a:xfrm>
            <a:custGeom>
              <a:avLst/>
              <a:gdLst/>
              <a:ahLst/>
              <a:cxnLst/>
              <a:rect l="l" t="t" r="r" b="b"/>
              <a:pathLst>
                <a:path w="5121" h="4524" extrusionOk="0">
                  <a:moveTo>
                    <a:pt x="378" y="1"/>
                  </a:moveTo>
                  <a:cubicBezTo>
                    <a:pt x="187" y="1"/>
                    <a:pt x="1" y="155"/>
                    <a:pt x="1" y="366"/>
                  </a:cubicBezTo>
                  <a:cubicBezTo>
                    <a:pt x="1" y="533"/>
                    <a:pt x="120" y="676"/>
                    <a:pt x="286" y="723"/>
                  </a:cubicBezTo>
                  <a:cubicBezTo>
                    <a:pt x="1144" y="938"/>
                    <a:pt x="1930" y="1366"/>
                    <a:pt x="2549" y="1985"/>
                  </a:cubicBezTo>
                  <a:cubicBezTo>
                    <a:pt x="2954" y="2414"/>
                    <a:pt x="3311" y="2914"/>
                    <a:pt x="3549" y="3438"/>
                  </a:cubicBezTo>
                  <a:lnTo>
                    <a:pt x="3049" y="3200"/>
                  </a:lnTo>
                  <a:cubicBezTo>
                    <a:pt x="3005" y="3181"/>
                    <a:pt x="2958" y="3172"/>
                    <a:pt x="2911" y="3172"/>
                  </a:cubicBezTo>
                  <a:cubicBezTo>
                    <a:pt x="2778" y="3172"/>
                    <a:pt x="2643" y="3243"/>
                    <a:pt x="2573" y="3367"/>
                  </a:cubicBezTo>
                  <a:cubicBezTo>
                    <a:pt x="2477" y="3557"/>
                    <a:pt x="2549" y="3771"/>
                    <a:pt x="2739" y="3867"/>
                  </a:cubicBezTo>
                  <a:lnTo>
                    <a:pt x="4001" y="4486"/>
                  </a:lnTo>
                  <a:cubicBezTo>
                    <a:pt x="4052" y="4511"/>
                    <a:pt x="4107" y="4523"/>
                    <a:pt x="4161" y="4523"/>
                  </a:cubicBezTo>
                  <a:cubicBezTo>
                    <a:pt x="4308" y="4523"/>
                    <a:pt x="4449" y="4435"/>
                    <a:pt x="4502" y="4295"/>
                  </a:cubicBezTo>
                  <a:lnTo>
                    <a:pt x="5049" y="3009"/>
                  </a:lnTo>
                  <a:cubicBezTo>
                    <a:pt x="5121" y="2843"/>
                    <a:pt x="5025" y="2628"/>
                    <a:pt x="4859" y="2533"/>
                  </a:cubicBezTo>
                  <a:cubicBezTo>
                    <a:pt x="4816" y="2517"/>
                    <a:pt x="4772" y="2509"/>
                    <a:pt x="4728" y="2509"/>
                  </a:cubicBezTo>
                  <a:cubicBezTo>
                    <a:pt x="4578" y="2509"/>
                    <a:pt x="4432" y="2600"/>
                    <a:pt x="4359" y="2747"/>
                  </a:cubicBezTo>
                  <a:lnTo>
                    <a:pt x="4192" y="3128"/>
                  </a:lnTo>
                  <a:cubicBezTo>
                    <a:pt x="3930" y="2509"/>
                    <a:pt x="3549" y="1962"/>
                    <a:pt x="3049" y="1485"/>
                  </a:cubicBezTo>
                  <a:cubicBezTo>
                    <a:pt x="2334" y="747"/>
                    <a:pt x="1453" y="247"/>
                    <a:pt x="453" y="9"/>
                  </a:cubicBezTo>
                  <a:cubicBezTo>
                    <a:pt x="428" y="3"/>
                    <a:pt x="403" y="1"/>
                    <a:pt x="3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348;p72">
              <a:extLst>
                <a:ext uri="{FF2B5EF4-FFF2-40B4-BE49-F238E27FC236}">
                  <a16:creationId xmlns:a16="http://schemas.microsoft.com/office/drawing/2014/main" id="{2415F5B4-81CD-E198-5BB2-3723CBCF3D15}"/>
                </a:ext>
              </a:extLst>
            </p:cNvPr>
            <p:cNvSpPr/>
            <p:nvPr/>
          </p:nvSpPr>
          <p:spPr>
            <a:xfrm>
              <a:off x="5959725" y="2644020"/>
              <a:ext cx="222962" cy="222962"/>
            </a:xfrm>
            <a:custGeom>
              <a:avLst/>
              <a:gdLst/>
              <a:ahLst/>
              <a:cxnLst/>
              <a:rect l="l" t="t" r="r" b="b"/>
              <a:pathLst>
                <a:path w="6979" h="6979" extrusionOk="0">
                  <a:moveTo>
                    <a:pt x="3525" y="1429"/>
                  </a:moveTo>
                  <a:cubicBezTo>
                    <a:pt x="3716" y="1453"/>
                    <a:pt x="3883" y="1620"/>
                    <a:pt x="3883" y="1810"/>
                  </a:cubicBezTo>
                  <a:lnTo>
                    <a:pt x="3883" y="1882"/>
                  </a:lnTo>
                  <a:cubicBezTo>
                    <a:pt x="4216" y="1977"/>
                    <a:pt x="4454" y="2168"/>
                    <a:pt x="4478" y="2191"/>
                  </a:cubicBezTo>
                  <a:cubicBezTo>
                    <a:pt x="4645" y="2310"/>
                    <a:pt x="4669" y="2549"/>
                    <a:pt x="4526" y="2715"/>
                  </a:cubicBezTo>
                  <a:cubicBezTo>
                    <a:pt x="4461" y="2793"/>
                    <a:pt x="4362" y="2835"/>
                    <a:pt x="4258" y="2835"/>
                  </a:cubicBezTo>
                  <a:cubicBezTo>
                    <a:pt x="4170" y="2835"/>
                    <a:pt x="4078" y="2805"/>
                    <a:pt x="4002" y="2739"/>
                  </a:cubicBezTo>
                  <a:cubicBezTo>
                    <a:pt x="3980" y="2717"/>
                    <a:pt x="3791" y="2570"/>
                    <a:pt x="3553" y="2570"/>
                  </a:cubicBezTo>
                  <a:cubicBezTo>
                    <a:pt x="3536" y="2570"/>
                    <a:pt x="3519" y="2571"/>
                    <a:pt x="3502" y="2572"/>
                  </a:cubicBezTo>
                  <a:cubicBezTo>
                    <a:pt x="3454" y="2572"/>
                    <a:pt x="3406" y="2572"/>
                    <a:pt x="3359" y="2596"/>
                  </a:cubicBezTo>
                  <a:cubicBezTo>
                    <a:pt x="3216" y="2644"/>
                    <a:pt x="3168" y="2715"/>
                    <a:pt x="3168" y="2811"/>
                  </a:cubicBezTo>
                  <a:cubicBezTo>
                    <a:pt x="3192" y="2834"/>
                    <a:pt x="3216" y="2882"/>
                    <a:pt x="3263" y="2906"/>
                  </a:cubicBezTo>
                  <a:cubicBezTo>
                    <a:pt x="3311" y="2930"/>
                    <a:pt x="3764" y="3096"/>
                    <a:pt x="3906" y="3168"/>
                  </a:cubicBezTo>
                  <a:cubicBezTo>
                    <a:pt x="4573" y="3406"/>
                    <a:pt x="4740" y="3882"/>
                    <a:pt x="4669" y="4263"/>
                  </a:cubicBezTo>
                  <a:cubicBezTo>
                    <a:pt x="4597" y="4668"/>
                    <a:pt x="4288" y="4978"/>
                    <a:pt x="3883" y="5073"/>
                  </a:cubicBezTo>
                  <a:lnTo>
                    <a:pt x="3883" y="5168"/>
                  </a:lnTo>
                  <a:cubicBezTo>
                    <a:pt x="3883" y="5359"/>
                    <a:pt x="3692" y="5525"/>
                    <a:pt x="3502" y="5525"/>
                  </a:cubicBezTo>
                  <a:cubicBezTo>
                    <a:pt x="3287" y="5525"/>
                    <a:pt x="3144" y="5359"/>
                    <a:pt x="3144" y="5144"/>
                  </a:cubicBezTo>
                  <a:lnTo>
                    <a:pt x="3144" y="5073"/>
                  </a:lnTo>
                  <a:cubicBezTo>
                    <a:pt x="2859" y="5001"/>
                    <a:pt x="2597" y="4835"/>
                    <a:pt x="2406" y="4620"/>
                  </a:cubicBezTo>
                  <a:cubicBezTo>
                    <a:pt x="2263" y="4478"/>
                    <a:pt x="2263" y="4239"/>
                    <a:pt x="2430" y="4097"/>
                  </a:cubicBezTo>
                  <a:cubicBezTo>
                    <a:pt x="2492" y="4045"/>
                    <a:pt x="2571" y="4020"/>
                    <a:pt x="2653" y="4020"/>
                  </a:cubicBezTo>
                  <a:cubicBezTo>
                    <a:pt x="2761" y="4020"/>
                    <a:pt x="2873" y="4063"/>
                    <a:pt x="2954" y="4144"/>
                  </a:cubicBezTo>
                  <a:cubicBezTo>
                    <a:pt x="3097" y="4287"/>
                    <a:pt x="3335" y="4382"/>
                    <a:pt x="3549" y="4382"/>
                  </a:cubicBezTo>
                  <a:cubicBezTo>
                    <a:pt x="3787" y="4382"/>
                    <a:pt x="3930" y="4263"/>
                    <a:pt x="3954" y="4144"/>
                  </a:cubicBezTo>
                  <a:cubicBezTo>
                    <a:pt x="3978" y="3977"/>
                    <a:pt x="3740" y="3882"/>
                    <a:pt x="3645" y="3835"/>
                  </a:cubicBezTo>
                  <a:cubicBezTo>
                    <a:pt x="3406" y="3763"/>
                    <a:pt x="2859" y="3525"/>
                    <a:pt x="2882" y="3525"/>
                  </a:cubicBezTo>
                  <a:cubicBezTo>
                    <a:pt x="2573" y="3358"/>
                    <a:pt x="2406" y="3001"/>
                    <a:pt x="2454" y="2644"/>
                  </a:cubicBezTo>
                  <a:cubicBezTo>
                    <a:pt x="2501" y="2287"/>
                    <a:pt x="2763" y="2001"/>
                    <a:pt x="3144" y="1882"/>
                  </a:cubicBezTo>
                  <a:lnTo>
                    <a:pt x="3144" y="1810"/>
                  </a:lnTo>
                  <a:cubicBezTo>
                    <a:pt x="3144" y="1596"/>
                    <a:pt x="3311" y="1453"/>
                    <a:pt x="3502" y="1429"/>
                  </a:cubicBezTo>
                  <a:close/>
                  <a:moveTo>
                    <a:pt x="3478" y="0"/>
                  </a:moveTo>
                  <a:cubicBezTo>
                    <a:pt x="1549" y="0"/>
                    <a:pt x="1" y="1548"/>
                    <a:pt x="1" y="3477"/>
                  </a:cubicBezTo>
                  <a:cubicBezTo>
                    <a:pt x="1" y="5406"/>
                    <a:pt x="1549" y="6978"/>
                    <a:pt x="3478" y="6978"/>
                  </a:cubicBezTo>
                  <a:cubicBezTo>
                    <a:pt x="5407" y="6978"/>
                    <a:pt x="6979" y="5406"/>
                    <a:pt x="6979" y="3477"/>
                  </a:cubicBezTo>
                  <a:cubicBezTo>
                    <a:pt x="6979" y="1548"/>
                    <a:pt x="5407" y="0"/>
                    <a:pt x="3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349;p72">
              <a:extLst>
                <a:ext uri="{FF2B5EF4-FFF2-40B4-BE49-F238E27FC236}">
                  <a16:creationId xmlns:a16="http://schemas.microsoft.com/office/drawing/2014/main" id="{68339948-4C4B-5A82-E910-7483ED9CC911}"/>
                </a:ext>
              </a:extLst>
            </p:cNvPr>
            <p:cNvSpPr/>
            <p:nvPr/>
          </p:nvSpPr>
          <p:spPr>
            <a:xfrm>
              <a:off x="6135503" y="2819766"/>
              <a:ext cx="222930" cy="222962"/>
            </a:xfrm>
            <a:custGeom>
              <a:avLst/>
              <a:gdLst/>
              <a:ahLst/>
              <a:cxnLst/>
              <a:rect l="l" t="t" r="r" b="b"/>
              <a:pathLst>
                <a:path w="6978" h="6979" extrusionOk="0">
                  <a:moveTo>
                    <a:pt x="3548" y="1453"/>
                  </a:moveTo>
                  <a:cubicBezTo>
                    <a:pt x="3739" y="1453"/>
                    <a:pt x="3882" y="1620"/>
                    <a:pt x="3882" y="1834"/>
                  </a:cubicBezTo>
                  <a:lnTo>
                    <a:pt x="3882" y="1906"/>
                  </a:lnTo>
                  <a:cubicBezTo>
                    <a:pt x="4239" y="2001"/>
                    <a:pt x="4477" y="2191"/>
                    <a:pt x="4477" y="2191"/>
                  </a:cubicBezTo>
                  <a:cubicBezTo>
                    <a:pt x="4644" y="2334"/>
                    <a:pt x="4668" y="2549"/>
                    <a:pt x="4549" y="2715"/>
                  </a:cubicBezTo>
                  <a:cubicBezTo>
                    <a:pt x="4471" y="2806"/>
                    <a:pt x="4366" y="2847"/>
                    <a:pt x="4263" y="2847"/>
                  </a:cubicBezTo>
                  <a:cubicBezTo>
                    <a:pt x="4176" y="2847"/>
                    <a:pt x="4090" y="2818"/>
                    <a:pt x="4025" y="2763"/>
                  </a:cubicBezTo>
                  <a:cubicBezTo>
                    <a:pt x="4001" y="2739"/>
                    <a:pt x="3763" y="2573"/>
                    <a:pt x="3501" y="2573"/>
                  </a:cubicBezTo>
                  <a:cubicBezTo>
                    <a:pt x="3453" y="2573"/>
                    <a:pt x="3406" y="2596"/>
                    <a:pt x="3358" y="2596"/>
                  </a:cubicBezTo>
                  <a:cubicBezTo>
                    <a:pt x="3215" y="2644"/>
                    <a:pt x="3167" y="2739"/>
                    <a:pt x="3191" y="2811"/>
                  </a:cubicBezTo>
                  <a:cubicBezTo>
                    <a:pt x="3191" y="2858"/>
                    <a:pt x="3239" y="2882"/>
                    <a:pt x="3263" y="2906"/>
                  </a:cubicBezTo>
                  <a:cubicBezTo>
                    <a:pt x="3334" y="2930"/>
                    <a:pt x="3763" y="3120"/>
                    <a:pt x="3906" y="3168"/>
                  </a:cubicBezTo>
                  <a:cubicBezTo>
                    <a:pt x="4596" y="3406"/>
                    <a:pt x="4763" y="3906"/>
                    <a:pt x="4692" y="4287"/>
                  </a:cubicBezTo>
                  <a:cubicBezTo>
                    <a:pt x="4620" y="4668"/>
                    <a:pt x="4310" y="4978"/>
                    <a:pt x="3882" y="5097"/>
                  </a:cubicBezTo>
                  <a:lnTo>
                    <a:pt x="3882" y="5168"/>
                  </a:lnTo>
                  <a:cubicBezTo>
                    <a:pt x="3882" y="5383"/>
                    <a:pt x="3715" y="5549"/>
                    <a:pt x="3501" y="5549"/>
                  </a:cubicBezTo>
                  <a:cubicBezTo>
                    <a:pt x="3310" y="5525"/>
                    <a:pt x="3144" y="5359"/>
                    <a:pt x="3144" y="5168"/>
                  </a:cubicBezTo>
                  <a:lnTo>
                    <a:pt x="3144" y="5073"/>
                  </a:lnTo>
                  <a:cubicBezTo>
                    <a:pt x="2858" y="5002"/>
                    <a:pt x="2596" y="4859"/>
                    <a:pt x="2405" y="4644"/>
                  </a:cubicBezTo>
                  <a:cubicBezTo>
                    <a:pt x="2262" y="4478"/>
                    <a:pt x="2286" y="4263"/>
                    <a:pt x="2429" y="4120"/>
                  </a:cubicBezTo>
                  <a:cubicBezTo>
                    <a:pt x="2506" y="4055"/>
                    <a:pt x="2592" y="4024"/>
                    <a:pt x="2677" y="4024"/>
                  </a:cubicBezTo>
                  <a:cubicBezTo>
                    <a:pt x="2777" y="4024"/>
                    <a:pt x="2876" y="4067"/>
                    <a:pt x="2953" y="4144"/>
                  </a:cubicBezTo>
                  <a:cubicBezTo>
                    <a:pt x="3096" y="4311"/>
                    <a:pt x="3334" y="4406"/>
                    <a:pt x="3572" y="4406"/>
                  </a:cubicBezTo>
                  <a:cubicBezTo>
                    <a:pt x="3787" y="4406"/>
                    <a:pt x="3953" y="4263"/>
                    <a:pt x="3977" y="4144"/>
                  </a:cubicBezTo>
                  <a:cubicBezTo>
                    <a:pt x="4001" y="4001"/>
                    <a:pt x="3739" y="3882"/>
                    <a:pt x="3667" y="3858"/>
                  </a:cubicBezTo>
                  <a:cubicBezTo>
                    <a:pt x="3429" y="3763"/>
                    <a:pt x="2882" y="3549"/>
                    <a:pt x="2905" y="3549"/>
                  </a:cubicBezTo>
                  <a:cubicBezTo>
                    <a:pt x="2572" y="3382"/>
                    <a:pt x="2405" y="3025"/>
                    <a:pt x="2453" y="2668"/>
                  </a:cubicBezTo>
                  <a:cubicBezTo>
                    <a:pt x="2524" y="2311"/>
                    <a:pt x="2786" y="2025"/>
                    <a:pt x="3144" y="1906"/>
                  </a:cubicBezTo>
                  <a:lnTo>
                    <a:pt x="3144" y="1810"/>
                  </a:lnTo>
                  <a:cubicBezTo>
                    <a:pt x="3144" y="1620"/>
                    <a:pt x="3310" y="1453"/>
                    <a:pt x="3501" y="1453"/>
                  </a:cubicBezTo>
                  <a:close/>
                  <a:moveTo>
                    <a:pt x="3501" y="1"/>
                  </a:moveTo>
                  <a:cubicBezTo>
                    <a:pt x="1572" y="1"/>
                    <a:pt x="0" y="1572"/>
                    <a:pt x="0" y="3501"/>
                  </a:cubicBezTo>
                  <a:cubicBezTo>
                    <a:pt x="0" y="5430"/>
                    <a:pt x="1572" y="6978"/>
                    <a:pt x="3501" y="6978"/>
                  </a:cubicBezTo>
                  <a:cubicBezTo>
                    <a:pt x="5430" y="6978"/>
                    <a:pt x="6978" y="5430"/>
                    <a:pt x="6978" y="3501"/>
                  </a:cubicBezTo>
                  <a:cubicBezTo>
                    <a:pt x="6978" y="1572"/>
                    <a:pt x="5430" y="1"/>
                    <a:pt x="35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1438;p72">
            <a:extLst>
              <a:ext uri="{FF2B5EF4-FFF2-40B4-BE49-F238E27FC236}">
                <a16:creationId xmlns:a16="http://schemas.microsoft.com/office/drawing/2014/main" id="{879DD66D-E94E-0B5E-A911-324A2A4A5F4E}"/>
              </a:ext>
            </a:extLst>
          </p:cNvPr>
          <p:cNvGrpSpPr/>
          <p:nvPr/>
        </p:nvGrpSpPr>
        <p:grpSpPr>
          <a:xfrm>
            <a:off x="6158596" y="2856004"/>
            <a:ext cx="305897" cy="399443"/>
            <a:chOff x="5378464" y="3242789"/>
            <a:chExt cx="305897" cy="399443"/>
          </a:xfrm>
        </p:grpSpPr>
        <p:sp>
          <p:nvSpPr>
            <p:cNvPr id="44" name="Google Shape;1439;p72">
              <a:extLst>
                <a:ext uri="{FF2B5EF4-FFF2-40B4-BE49-F238E27FC236}">
                  <a16:creationId xmlns:a16="http://schemas.microsoft.com/office/drawing/2014/main" id="{520C6ED1-5502-9A38-F64A-FE09910919E2}"/>
                </a:ext>
              </a:extLst>
            </p:cNvPr>
            <p:cNvSpPr/>
            <p:nvPr/>
          </p:nvSpPr>
          <p:spPr>
            <a:xfrm>
              <a:off x="5383799" y="3502973"/>
              <a:ext cx="295227" cy="139259"/>
            </a:xfrm>
            <a:custGeom>
              <a:avLst/>
              <a:gdLst/>
              <a:ahLst/>
              <a:cxnLst/>
              <a:rect l="l" t="t" r="r" b="b"/>
              <a:pathLst>
                <a:path w="9241" h="4359" extrusionOk="0">
                  <a:moveTo>
                    <a:pt x="2263" y="1"/>
                  </a:moveTo>
                  <a:cubicBezTo>
                    <a:pt x="1001" y="1"/>
                    <a:pt x="0" y="1025"/>
                    <a:pt x="0" y="2263"/>
                  </a:cubicBezTo>
                  <a:lnTo>
                    <a:pt x="0" y="3978"/>
                  </a:lnTo>
                  <a:cubicBezTo>
                    <a:pt x="0" y="4192"/>
                    <a:pt x="167" y="4359"/>
                    <a:pt x="358" y="4359"/>
                  </a:cubicBezTo>
                  <a:lnTo>
                    <a:pt x="1429" y="4359"/>
                  </a:lnTo>
                  <a:lnTo>
                    <a:pt x="1429" y="2978"/>
                  </a:lnTo>
                  <a:cubicBezTo>
                    <a:pt x="1429" y="2777"/>
                    <a:pt x="1596" y="2618"/>
                    <a:pt x="1793" y="2618"/>
                  </a:cubicBezTo>
                  <a:cubicBezTo>
                    <a:pt x="1807" y="2618"/>
                    <a:pt x="1820" y="2619"/>
                    <a:pt x="1834" y="2620"/>
                  </a:cubicBezTo>
                  <a:cubicBezTo>
                    <a:pt x="2025" y="2644"/>
                    <a:pt x="2167" y="2811"/>
                    <a:pt x="2167" y="3001"/>
                  </a:cubicBezTo>
                  <a:lnTo>
                    <a:pt x="2167" y="4359"/>
                  </a:lnTo>
                  <a:lnTo>
                    <a:pt x="7073" y="4359"/>
                  </a:lnTo>
                  <a:lnTo>
                    <a:pt x="7073" y="3001"/>
                  </a:lnTo>
                  <a:cubicBezTo>
                    <a:pt x="7073" y="2811"/>
                    <a:pt x="7216" y="2644"/>
                    <a:pt x="7407" y="2620"/>
                  </a:cubicBezTo>
                  <a:cubicBezTo>
                    <a:pt x="7420" y="2619"/>
                    <a:pt x="7434" y="2618"/>
                    <a:pt x="7447" y="2618"/>
                  </a:cubicBezTo>
                  <a:cubicBezTo>
                    <a:pt x="7645" y="2618"/>
                    <a:pt x="7811" y="2777"/>
                    <a:pt x="7811" y="2978"/>
                  </a:cubicBezTo>
                  <a:lnTo>
                    <a:pt x="7811" y="4359"/>
                  </a:lnTo>
                  <a:lnTo>
                    <a:pt x="8883" y="4359"/>
                  </a:lnTo>
                  <a:cubicBezTo>
                    <a:pt x="9074" y="4359"/>
                    <a:pt x="9240" y="4192"/>
                    <a:pt x="9240" y="3978"/>
                  </a:cubicBezTo>
                  <a:lnTo>
                    <a:pt x="9240" y="2263"/>
                  </a:lnTo>
                  <a:cubicBezTo>
                    <a:pt x="9240" y="1025"/>
                    <a:pt x="8216" y="1"/>
                    <a:pt x="6954" y="1"/>
                  </a:cubicBezTo>
                  <a:lnTo>
                    <a:pt x="6526" y="1"/>
                  </a:lnTo>
                  <a:lnTo>
                    <a:pt x="6526" y="596"/>
                  </a:lnTo>
                  <a:cubicBezTo>
                    <a:pt x="6526" y="1596"/>
                    <a:pt x="5787" y="2430"/>
                    <a:pt x="4787" y="2525"/>
                  </a:cubicBezTo>
                  <a:cubicBezTo>
                    <a:pt x="4731" y="2530"/>
                    <a:pt x="4676" y="2532"/>
                    <a:pt x="4621" y="2532"/>
                  </a:cubicBezTo>
                  <a:cubicBezTo>
                    <a:pt x="3575" y="2532"/>
                    <a:pt x="2715" y="1684"/>
                    <a:pt x="2715" y="620"/>
                  </a:cubicBezTo>
                  <a:lnTo>
                    <a:pt x="27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40;p72">
              <a:extLst>
                <a:ext uri="{FF2B5EF4-FFF2-40B4-BE49-F238E27FC236}">
                  <a16:creationId xmlns:a16="http://schemas.microsoft.com/office/drawing/2014/main" id="{AF559E89-E4C5-1BF4-7596-DF1E6FBF8A5F}"/>
                </a:ext>
              </a:extLst>
            </p:cNvPr>
            <p:cNvSpPr/>
            <p:nvPr/>
          </p:nvSpPr>
          <p:spPr>
            <a:xfrm>
              <a:off x="5493349" y="3515912"/>
              <a:ext cx="76131" cy="44663"/>
            </a:xfrm>
            <a:custGeom>
              <a:avLst/>
              <a:gdLst/>
              <a:ahLst/>
              <a:cxnLst/>
              <a:rect l="l" t="t" r="r" b="b"/>
              <a:pathLst>
                <a:path w="2383" h="1398" extrusionOk="0">
                  <a:moveTo>
                    <a:pt x="1" y="1"/>
                  </a:moveTo>
                  <a:lnTo>
                    <a:pt x="1" y="191"/>
                  </a:lnTo>
                  <a:cubicBezTo>
                    <a:pt x="1" y="787"/>
                    <a:pt x="429" y="1287"/>
                    <a:pt x="1001" y="1382"/>
                  </a:cubicBezTo>
                  <a:cubicBezTo>
                    <a:pt x="1067" y="1393"/>
                    <a:pt x="1132" y="1398"/>
                    <a:pt x="1196" y="1398"/>
                  </a:cubicBezTo>
                  <a:cubicBezTo>
                    <a:pt x="1849" y="1398"/>
                    <a:pt x="2382" y="866"/>
                    <a:pt x="2382" y="215"/>
                  </a:cubicBezTo>
                  <a:lnTo>
                    <a:pt x="2382" y="1"/>
                  </a:lnTo>
                  <a:cubicBezTo>
                    <a:pt x="2001" y="144"/>
                    <a:pt x="1620" y="215"/>
                    <a:pt x="1191" y="215"/>
                  </a:cubicBezTo>
                  <a:cubicBezTo>
                    <a:pt x="763" y="215"/>
                    <a:pt x="382" y="14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441;p72">
              <a:extLst>
                <a:ext uri="{FF2B5EF4-FFF2-40B4-BE49-F238E27FC236}">
                  <a16:creationId xmlns:a16="http://schemas.microsoft.com/office/drawing/2014/main" id="{25575592-D290-CD79-B839-2FD3C7245D1D}"/>
                </a:ext>
              </a:extLst>
            </p:cNvPr>
            <p:cNvSpPr/>
            <p:nvPr/>
          </p:nvSpPr>
          <p:spPr>
            <a:xfrm>
              <a:off x="5453030" y="3290711"/>
              <a:ext cx="156000" cy="72169"/>
            </a:xfrm>
            <a:custGeom>
              <a:avLst/>
              <a:gdLst/>
              <a:ahLst/>
              <a:cxnLst/>
              <a:rect l="l" t="t" r="r" b="b"/>
              <a:pathLst>
                <a:path w="4883" h="2259" extrusionOk="0">
                  <a:moveTo>
                    <a:pt x="2453" y="1"/>
                  </a:moveTo>
                  <a:cubicBezTo>
                    <a:pt x="1191" y="1"/>
                    <a:pt x="143" y="977"/>
                    <a:pt x="0" y="2192"/>
                  </a:cubicBezTo>
                  <a:lnTo>
                    <a:pt x="286" y="2239"/>
                  </a:lnTo>
                  <a:cubicBezTo>
                    <a:pt x="379" y="2252"/>
                    <a:pt x="471" y="2258"/>
                    <a:pt x="562" y="2258"/>
                  </a:cubicBezTo>
                  <a:cubicBezTo>
                    <a:pt x="1467" y="2258"/>
                    <a:pt x="2215" y="1668"/>
                    <a:pt x="2215" y="1668"/>
                  </a:cubicBezTo>
                  <a:cubicBezTo>
                    <a:pt x="2287" y="1620"/>
                    <a:pt x="2370" y="1596"/>
                    <a:pt x="2450" y="1596"/>
                  </a:cubicBezTo>
                  <a:cubicBezTo>
                    <a:pt x="2531" y="1596"/>
                    <a:pt x="2608" y="1620"/>
                    <a:pt x="2668" y="1668"/>
                  </a:cubicBezTo>
                  <a:cubicBezTo>
                    <a:pt x="2689" y="1668"/>
                    <a:pt x="3439" y="2258"/>
                    <a:pt x="4345" y="2258"/>
                  </a:cubicBezTo>
                  <a:cubicBezTo>
                    <a:pt x="4435" y="2258"/>
                    <a:pt x="4527" y="2252"/>
                    <a:pt x="4620" y="2239"/>
                  </a:cubicBezTo>
                  <a:lnTo>
                    <a:pt x="4882" y="2192"/>
                  </a:lnTo>
                  <a:cubicBezTo>
                    <a:pt x="4763" y="977"/>
                    <a:pt x="3716" y="1"/>
                    <a:pt x="2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442;p72">
              <a:extLst>
                <a:ext uri="{FF2B5EF4-FFF2-40B4-BE49-F238E27FC236}">
                  <a16:creationId xmlns:a16="http://schemas.microsoft.com/office/drawing/2014/main" id="{1C63DF8A-A054-650E-55CC-03C0D2B805F9}"/>
                </a:ext>
              </a:extLst>
            </p:cNvPr>
            <p:cNvSpPr/>
            <p:nvPr/>
          </p:nvSpPr>
          <p:spPr>
            <a:xfrm>
              <a:off x="5453030" y="3367546"/>
              <a:ext cx="156766" cy="131751"/>
            </a:xfrm>
            <a:custGeom>
              <a:avLst/>
              <a:gdLst/>
              <a:ahLst/>
              <a:cxnLst/>
              <a:rect l="l" t="t" r="r" b="b"/>
              <a:pathLst>
                <a:path w="4907" h="4124" extrusionOk="0">
                  <a:moveTo>
                    <a:pt x="3013" y="2275"/>
                  </a:moveTo>
                  <a:cubicBezTo>
                    <a:pt x="3102" y="2275"/>
                    <a:pt x="3192" y="2311"/>
                    <a:pt x="3263" y="2382"/>
                  </a:cubicBezTo>
                  <a:cubicBezTo>
                    <a:pt x="3406" y="2525"/>
                    <a:pt x="3406" y="2740"/>
                    <a:pt x="3263" y="2882"/>
                  </a:cubicBezTo>
                  <a:cubicBezTo>
                    <a:pt x="3049" y="3121"/>
                    <a:pt x="2763" y="3240"/>
                    <a:pt x="2453" y="3240"/>
                  </a:cubicBezTo>
                  <a:cubicBezTo>
                    <a:pt x="2144" y="3240"/>
                    <a:pt x="1858" y="3121"/>
                    <a:pt x="1620" y="2882"/>
                  </a:cubicBezTo>
                  <a:cubicBezTo>
                    <a:pt x="1477" y="2740"/>
                    <a:pt x="1477" y="2525"/>
                    <a:pt x="1620" y="2382"/>
                  </a:cubicBezTo>
                  <a:cubicBezTo>
                    <a:pt x="1691" y="2311"/>
                    <a:pt x="1787" y="2275"/>
                    <a:pt x="1882" y="2275"/>
                  </a:cubicBezTo>
                  <a:cubicBezTo>
                    <a:pt x="1977" y="2275"/>
                    <a:pt x="2072" y="2311"/>
                    <a:pt x="2144" y="2382"/>
                  </a:cubicBezTo>
                  <a:cubicBezTo>
                    <a:pt x="2215" y="2454"/>
                    <a:pt x="2334" y="2501"/>
                    <a:pt x="2453" y="2501"/>
                  </a:cubicBezTo>
                  <a:cubicBezTo>
                    <a:pt x="2572" y="2501"/>
                    <a:pt x="2668" y="2454"/>
                    <a:pt x="2763" y="2382"/>
                  </a:cubicBezTo>
                  <a:cubicBezTo>
                    <a:pt x="2834" y="2311"/>
                    <a:pt x="2924" y="2275"/>
                    <a:pt x="3013" y="2275"/>
                  </a:cubicBezTo>
                  <a:close/>
                  <a:moveTo>
                    <a:pt x="2453" y="1"/>
                  </a:moveTo>
                  <a:cubicBezTo>
                    <a:pt x="2120" y="215"/>
                    <a:pt x="1406" y="572"/>
                    <a:pt x="572" y="572"/>
                  </a:cubicBezTo>
                  <a:cubicBezTo>
                    <a:pt x="536" y="577"/>
                    <a:pt x="499" y="579"/>
                    <a:pt x="463" y="579"/>
                  </a:cubicBezTo>
                  <a:cubicBezTo>
                    <a:pt x="309" y="579"/>
                    <a:pt x="155" y="544"/>
                    <a:pt x="0" y="525"/>
                  </a:cubicBezTo>
                  <a:lnTo>
                    <a:pt x="0" y="1668"/>
                  </a:lnTo>
                  <a:cubicBezTo>
                    <a:pt x="0" y="2978"/>
                    <a:pt x="1048" y="4073"/>
                    <a:pt x="2334" y="4121"/>
                  </a:cubicBezTo>
                  <a:cubicBezTo>
                    <a:pt x="2376" y="4123"/>
                    <a:pt x="2418" y="4124"/>
                    <a:pt x="2459" y="4124"/>
                  </a:cubicBezTo>
                  <a:cubicBezTo>
                    <a:pt x="3808" y="4124"/>
                    <a:pt x="4906" y="3007"/>
                    <a:pt x="4906" y="1644"/>
                  </a:cubicBezTo>
                  <a:lnTo>
                    <a:pt x="4906" y="525"/>
                  </a:lnTo>
                  <a:cubicBezTo>
                    <a:pt x="4752" y="544"/>
                    <a:pt x="4598" y="579"/>
                    <a:pt x="4444" y="579"/>
                  </a:cubicBezTo>
                  <a:cubicBezTo>
                    <a:pt x="4407" y="579"/>
                    <a:pt x="4371" y="577"/>
                    <a:pt x="4335" y="572"/>
                  </a:cubicBezTo>
                  <a:cubicBezTo>
                    <a:pt x="3501" y="572"/>
                    <a:pt x="2811" y="215"/>
                    <a:pt x="2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443;p72">
              <a:extLst>
                <a:ext uri="{FF2B5EF4-FFF2-40B4-BE49-F238E27FC236}">
                  <a16:creationId xmlns:a16="http://schemas.microsoft.com/office/drawing/2014/main" id="{83EBF9E1-B4AE-667A-70ED-F5D7099DD501}"/>
                </a:ext>
              </a:extLst>
            </p:cNvPr>
            <p:cNvSpPr/>
            <p:nvPr/>
          </p:nvSpPr>
          <p:spPr>
            <a:xfrm>
              <a:off x="5378464" y="3242789"/>
              <a:ext cx="305897" cy="243472"/>
            </a:xfrm>
            <a:custGeom>
              <a:avLst/>
              <a:gdLst/>
              <a:ahLst/>
              <a:cxnLst/>
              <a:rect l="l" t="t" r="r" b="b"/>
              <a:pathLst>
                <a:path w="9575" h="7621" extrusionOk="0">
                  <a:moveTo>
                    <a:pt x="4787" y="0"/>
                  </a:moveTo>
                  <a:cubicBezTo>
                    <a:pt x="2668" y="0"/>
                    <a:pt x="1048" y="1644"/>
                    <a:pt x="858" y="3739"/>
                  </a:cubicBezTo>
                  <a:cubicBezTo>
                    <a:pt x="358" y="3739"/>
                    <a:pt x="1" y="4144"/>
                    <a:pt x="1" y="4573"/>
                  </a:cubicBezTo>
                  <a:lnTo>
                    <a:pt x="1" y="5573"/>
                  </a:lnTo>
                  <a:cubicBezTo>
                    <a:pt x="1" y="6025"/>
                    <a:pt x="382" y="6406"/>
                    <a:pt x="834" y="6406"/>
                  </a:cubicBezTo>
                  <a:lnTo>
                    <a:pt x="1715" y="6406"/>
                  </a:lnTo>
                  <a:cubicBezTo>
                    <a:pt x="1644" y="6144"/>
                    <a:pt x="1596" y="5882"/>
                    <a:pt x="1596" y="5597"/>
                  </a:cubicBezTo>
                  <a:lnTo>
                    <a:pt x="1596" y="4096"/>
                  </a:lnTo>
                  <a:cubicBezTo>
                    <a:pt x="1596" y="3977"/>
                    <a:pt x="1596" y="3858"/>
                    <a:pt x="1620" y="3739"/>
                  </a:cubicBezTo>
                  <a:cubicBezTo>
                    <a:pt x="1691" y="2882"/>
                    <a:pt x="2072" y="2144"/>
                    <a:pt x="2620" y="1620"/>
                  </a:cubicBezTo>
                  <a:cubicBezTo>
                    <a:pt x="3168" y="1072"/>
                    <a:pt x="3930" y="739"/>
                    <a:pt x="4787" y="739"/>
                  </a:cubicBezTo>
                  <a:cubicBezTo>
                    <a:pt x="5645" y="739"/>
                    <a:pt x="6407" y="1072"/>
                    <a:pt x="6954" y="1620"/>
                  </a:cubicBezTo>
                  <a:cubicBezTo>
                    <a:pt x="7502" y="2144"/>
                    <a:pt x="7883" y="2882"/>
                    <a:pt x="7955" y="3739"/>
                  </a:cubicBezTo>
                  <a:cubicBezTo>
                    <a:pt x="7978" y="3858"/>
                    <a:pt x="7978" y="3977"/>
                    <a:pt x="7978" y="4096"/>
                  </a:cubicBezTo>
                  <a:lnTo>
                    <a:pt x="7978" y="5597"/>
                  </a:lnTo>
                  <a:cubicBezTo>
                    <a:pt x="7978" y="5882"/>
                    <a:pt x="7931" y="6144"/>
                    <a:pt x="7859" y="6406"/>
                  </a:cubicBezTo>
                  <a:lnTo>
                    <a:pt x="8217" y="6406"/>
                  </a:lnTo>
                  <a:cubicBezTo>
                    <a:pt x="8193" y="6668"/>
                    <a:pt x="8145" y="6907"/>
                    <a:pt x="8074" y="7145"/>
                  </a:cubicBezTo>
                  <a:cubicBezTo>
                    <a:pt x="8002" y="7335"/>
                    <a:pt x="8098" y="7526"/>
                    <a:pt x="8288" y="7597"/>
                  </a:cubicBezTo>
                  <a:cubicBezTo>
                    <a:pt x="8331" y="7613"/>
                    <a:pt x="8375" y="7621"/>
                    <a:pt x="8418" y="7621"/>
                  </a:cubicBezTo>
                  <a:cubicBezTo>
                    <a:pt x="8568" y="7621"/>
                    <a:pt x="8709" y="7530"/>
                    <a:pt x="8764" y="7383"/>
                  </a:cubicBezTo>
                  <a:cubicBezTo>
                    <a:pt x="8860" y="7049"/>
                    <a:pt x="8931" y="6716"/>
                    <a:pt x="8955" y="6383"/>
                  </a:cubicBezTo>
                  <a:cubicBezTo>
                    <a:pt x="9312" y="6287"/>
                    <a:pt x="9574" y="5954"/>
                    <a:pt x="9574" y="5573"/>
                  </a:cubicBezTo>
                  <a:lnTo>
                    <a:pt x="9574" y="4573"/>
                  </a:lnTo>
                  <a:cubicBezTo>
                    <a:pt x="9574" y="4144"/>
                    <a:pt x="9217" y="3739"/>
                    <a:pt x="8717" y="3739"/>
                  </a:cubicBezTo>
                  <a:cubicBezTo>
                    <a:pt x="8526" y="1644"/>
                    <a:pt x="6907" y="0"/>
                    <a:pt x="47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 name="Google Shape;1444;p72">
            <a:extLst>
              <a:ext uri="{FF2B5EF4-FFF2-40B4-BE49-F238E27FC236}">
                <a16:creationId xmlns:a16="http://schemas.microsoft.com/office/drawing/2014/main" id="{220229FB-721F-BBA2-5857-906C22D42727}"/>
              </a:ext>
            </a:extLst>
          </p:cNvPr>
          <p:cNvGrpSpPr/>
          <p:nvPr/>
        </p:nvGrpSpPr>
        <p:grpSpPr>
          <a:xfrm>
            <a:off x="6575223" y="2973192"/>
            <a:ext cx="295227" cy="273123"/>
            <a:chOff x="5959725" y="3242501"/>
            <a:chExt cx="398707" cy="399570"/>
          </a:xfrm>
        </p:grpSpPr>
        <p:sp>
          <p:nvSpPr>
            <p:cNvPr id="50" name="Google Shape;1445;p72">
              <a:extLst>
                <a:ext uri="{FF2B5EF4-FFF2-40B4-BE49-F238E27FC236}">
                  <a16:creationId xmlns:a16="http://schemas.microsoft.com/office/drawing/2014/main" id="{D680C1AD-2D93-AF76-4590-3AEFD5A2FC64}"/>
                </a:ext>
              </a:extLst>
            </p:cNvPr>
            <p:cNvSpPr/>
            <p:nvPr/>
          </p:nvSpPr>
          <p:spPr>
            <a:xfrm>
              <a:off x="6025155" y="3249626"/>
              <a:ext cx="66994" cy="66994"/>
            </a:xfrm>
            <a:custGeom>
              <a:avLst/>
              <a:gdLst/>
              <a:ahLst/>
              <a:cxnLst/>
              <a:rect l="l" t="t" r="r" b="b"/>
              <a:pathLst>
                <a:path w="2097" h="2097" extrusionOk="0">
                  <a:moveTo>
                    <a:pt x="2097" y="1"/>
                  </a:moveTo>
                  <a:lnTo>
                    <a:pt x="1" y="2096"/>
                  </a:lnTo>
                  <a:lnTo>
                    <a:pt x="2097" y="2096"/>
                  </a:lnTo>
                  <a:lnTo>
                    <a:pt x="20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446;p72">
              <a:extLst>
                <a:ext uri="{FF2B5EF4-FFF2-40B4-BE49-F238E27FC236}">
                  <a16:creationId xmlns:a16="http://schemas.microsoft.com/office/drawing/2014/main" id="{5A55AE6C-E5A4-B3C0-9BEA-2D6D54980FB2}"/>
                </a:ext>
              </a:extLst>
            </p:cNvPr>
            <p:cNvSpPr/>
            <p:nvPr/>
          </p:nvSpPr>
          <p:spPr>
            <a:xfrm>
              <a:off x="6019085" y="3242501"/>
              <a:ext cx="280020" cy="144882"/>
            </a:xfrm>
            <a:custGeom>
              <a:avLst/>
              <a:gdLst/>
              <a:ahLst/>
              <a:cxnLst/>
              <a:rect l="l" t="t" r="r" b="b"/>
              <a:pathLst>
                <a:path w="8765" h="4535" extrusionOk="0">
                  <a:moveTo>
                    <a:pt x="7550" y="914"/>
                  </a:moveTo>
                  <a:cubicBezTo>
                    <a:pt x="7764" y="914"/>
                    <a:pt x="7931" y="1081"/>
                    <a:pt x="7931" y="1295"/>
                  </a:cubicBezTo>
                  <a:cubicBezTo>
                    <a:pt x="7931" y="1486"/>
                    <a:pt x="7764" y="1653"/>
                    <a:pt x="7550" y="1653"/>
                  </a:cubicBezTo>
                  <a:lnTo>
                    <a:pt x="4239" y="1653"/>
                  </a:lnTo>
                  <a:cubicBezTo>
                    <a:pt x="4025" y="1653"/>
                    <a:pt x="3858" y="1486"/>
                    <a:pt x="3858" y="1295"/>
                  </a:cubicBezTo>
                  <a:cubicBezTo>
                    <a:pt x="3858" y="1081"/>
                    <a:pt x="4025" y="914"/>
                    <a:pt x="4239" y="914"/>
                  </a:cubicBezTo>
                  <a:close/>
                  <a:moveTo>
                    <a:pt x="7550" y="2391"/>
                  </a:moveTo>
                  <a:cubicBezTo>
                    <a:pt x="7764" y="2391"/>
                    <a:pt x="7931" y="2557"/>
                    <a:pt x="7931" y="2748"/>
                  </a:cubicBezTo>
                  <a:cubicBezTo>
                    <a:pt x="7931" y="2962"/>
                    <a:pt x="7764" y="3129"/>
                    <a:pt x="7550" y="3129"/>
                  </a:cubicBezTo>
                  <a:lnTo>
                    <a:pt x="4239" y="3129"/>
                  </a:lnTo>
                  <a:cubicBezTo>
                    <a:pt x="4025" y="3129"/>
                    <a:pt x="3858" y="2962"/>
                    <a:pt x="3858" y="2748"/>
                  </a:cubicBezTo>
                  <a:cubicBezTo>
                    <a:pt x="3858" y="2557"/>
                    <a:pt x="4025" y="2391"/>
                    <a:pt x="4239" y="2391"/>
                  </a:cubicBezTo>
                  <a:close/>
                  <a:moveTo>
                    <a:pt x="8488" y="0"/>
                  </a:moveTo>
                  <a:cubicBezTo>
                    <a:pt x="8462" y="0"/>
                    <a:pt x="8435" y="3"/>
                    <a:pt x="8407" y="9"/>
                  </a:cubicBezTo>
                  <a:lnTo>
                    <a:pt x="3025" y="9"/>
                  </a:lnTo>
                  <a:lnTo>
                    <a:pt x="3025" y="2677"/>
                  </a:lnTo>
                  <a:cubicBezTo>
                    <a:pt x="3025" y="2891"/>
                    <a:pt x="2858" y="3058"/>
                    <a:pt x="2644" y="3058"/>
                  </a:cubicBezTo>
                  <a:lnTo>
                    <a:pt x="0" y="3058"/>
                  </a:lnTo>
                  <a:lnTo>
                    <a:pt x="0" y="4534"/>
                  </a:lnTo>
                  <a:lnTo>
                    <a:pt x="3739" y="4534"/>
                  </a:lnTo>
                  <a:cubicBezTo>
                    <a:pt x="3739" y="4534"/>
                    <a:pt x="3882" y="4415"/>
                    <a:pt x="3882" y="4415"/>
                  </a:cubicBezTo>
                  <a:cubicBezTo>
                    <a:pt x="4216" y="4105"/>
                    <a:pt x="4644" y="3963"/>
                    <a:pt x="5097" y="3963"/>
                  </a:cubicBezTo>
                  <a:cubicBezTo>
                    <a:pt x="5116" y="3961"/>
                    <a:pt x="5135" y="3960"/>
                    <a:pt x="5156" y="3960"/>
                  </a:cubicBezTo>
                  <a:cubicBezTo>
                    <a:pt x="5447" y="3960"/>
                    <a:pt x="5901" y="4110"/>
                    <a:pt x="6168" y="4177"/>
                  </a:cubicBezTo>
                  <a:cubicBezTo>
                    <a:pt x="6811" y="4344"/>
                    <a:pt x="7478" y="4439"/>
                    <a:pt x="8145" y="4439"/>
                  </a:cubicBezTo>
                  <a:lnTo>
                    <a:pt x="8764" y="4439"/>
                  </a:lnTo>
                  <a:lnTo>
                    <a:pt x="8764" y="295"/>
                  </a:lnTo>
                  <a:cubicBezTo>
                    <a:pt x="8764" y="130"/>
                    <a:pt x="8656" y="0"/>
                    <a:pt x="84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447;p72">
              <a:extLst>
                <a:ext uri="{FF2B5EF4-FFF2-40B4-BE49-F238E27FC236}">
                  <a16:creationId xmlns:a16="http://schemas.microsoft.com/office/drawing/2014/main" id="{C4BC8F75-C6D5-9EB8-57E4-CA27D0C92261}"/>
                </a:ext>
              </a:extLst>
            </p:cNvPr>
            <p:cNvSpPr/>
            <p:nvPr/>
          </p:nvSpPr>
          <p:spPr>
            <a:xfrm>
              <a:off x="5959725" y="3410931"/>
              <a:ext cx="276985" cy="231140"/>
            </a:xfrm>
            <a:custGeom>
              <a:avLst/>
              <a:gdLst/>
              <a:ahLst/>
              <a:cxnLst/>
              <a:rect l="l" t="t" r="r" b="b"/>
              <a:pathLst>
                <a:path w="8670" h="7235" extrusionOk="0">
                  <a:moveTo>
                    <a:pt x="358" y="0"/>
                  </a:moveTo>
                  <a:cubicBezTo>
                    <a:pt x="168" y="0"/>
                    <a:pt x="1" y="167"/>
                    <a:pt x="1" y="358"/>
                  </a:cubicBezTo>
                  <a:lnTo>
                    <a:pt x="1" y="3358"/>
                  </a:lnTo>
                  <a:cubicBezTo>
                    <a:pt x="1" y="3572"/>
                    <a:pt x="168" y="3715"/>
                    <a:pt x="382" y="3715"/>
                  </a:cubicBezTo>
                  <a:cubicBezTo>
                    <a:pt x="906" y="3763"/>
                    <a:pt x="1168" y="4025"/>
                    <a:pt x="1501" y="4430"/>
                  </a:cubicBezTo>
                  <a:lnTo>
                    <a:pt x="3764" y="7097"/>
                  </a:lnTo>
                  <a:cubicBezTo>
                    <a:pt x="3853" y="7186"/>
                    <a:pt x="3976" y="7235"/>
                    <a:pt x="4101" y="7235"/>
                  </a:cubicBezTo>
                  <a:cubicBezTo>
                    <a:pt x="4209" y="7235"/>
                    <a:pt x="4318" y="7198"/>
                    <a:pt x="4407" y="7121"/>
                  </a:cubicBezTo>
                  <a:cubicBezTo>
                    <a:pt x="4573" y="6978"/>
                    <a:pt x="4597" y="6668"/>
                    <a:pt x="4454" y="6502"/>
                  </a:cubicBezTo>
                  <a:lnTo>
                    <a:pt x="4168" y="6168"/>
                  </a:lnTo>
                  <a:cubicBezTo>
                    <a:pt x="4049" y="6025"/>
                    <a:pt x="4073" y="5763"/>
                    <a:pt x="4240" y="5644"/>
                  </a:cubicBezTo>
                  <a:cubicBezTo>
                    <a:pt x="4302" y="5593"/>
                    <a:pt x="4381" y="5568"/>
                    <a:pt x="4461" y="5568"/>
                  </a:cubicBezTo>
                  <a:cubicBezTo>
                    <a:pt x="4566" y="5568"/>
                    <a:pt x="4672" y="5611"/>
                    <a:pt x="4740" y="5692"/>
                  </a:cubicBezTo>
                  <a:lnTo>
                    <a:pt x="5121" y="6144"/>
                  </a:lnTo>
                  <a:cubicBezTo>
                    <a:pt x="5200" y="6249"/>
                    <a:pt x="5329" y="6304"/>
                    <a:pt x="5460" y="6304"/>
                  </a:cubicBezTo>
                  <a:cubicBezTo>
                    <a:pt x="5568" y="6304"/>
                    <a:pt x="5678" y="6267"/>
                    <a:pt x="5764" y="6192"/>
                  </a:cubicBezTo>
                  <a:cubicBezTo>
                    <a:pt x="5931" y="6049"/>
                    <a:pt x="5955" y="5763"/>
                    <a:pt x="5835" y="5573"/>
                  </a:cubicBezTo>
                  <a:lnTo>
                    <a:pt x="5431" y="5120"/>
                  </a:lnTo>
                  <a:cubicBezTo>
                    <a:pt x="5192" y="4811"/>
                    <a:pt x="5478" y="4596"/>
                    <a:pt x="5478" y="4596"/>
                  </a:cubicBezTo>
                  <a:cubicBezTo>
                    <a:pt x="5550" y="4545"/>
                    <a:pt x="5631" y="4520"/>
                    <a:pt x="5710" y="4520"/>
                  </a:cubicBezTo>
                  <a:cubicBezTo>
                    <a:pt x="5812" y="4520"/>
                    <a:pt x="5911" y="4563"/>
                    <a:pt x="5978" y="4644"/>
                  </a:cubicBezTo>
                  <a:cubicBezTo>
                    <a:pt x="6050" y="4716"/>
                    <a:pt x="6383" y="5120"/>
                    <a:pt x="6455" y="5192"/>
                  </a:cubicBezTo>
                  <a:cubicBezTo>
                    <a:pt x="6546" y="5297"/>
                    <a:pt x="6674" y="5351"/>
                    <a:pt x="6802" y="5351"/>
                  </a:cubicBezTo>
                  <a:cubicBezTo>
                    <a:pt x="6907" y="5351"/>
                    <a:pt x="7012" y="5315"/>
                    <a:pt x="7098" y="5239"/>
                  </a:cubicBezTo>
                  <a:cubicBezTo>
                    <a:pt x="7264" y="5073"/>
                    <a:pt x="7312" y="4787"/>
                    <a:pt x="7145" y="4596"/>
                  </a:cubicBezTo>
                  <a:lnTo>
                    <a:pt x="6669" y="4049"/>
                  </a:lnTo>
                  <a:cubicBezTo>
                    <a:pt x="6431" y="3739"/>
                    <a:pt x="6717" y="3525"/>
                    <a:pt x="6717" y="3525"/>
                  </a:cubicBezTo>
                  <a:cubicBezTo>
                    <a:pt x="6717" y="3525"/>
                    <a:pt x="6819" y="3432"/>
                    <a:pt x="6960" y="3432"/>
                  </a:cubicBezTo>
                  <a:cubicBezTo>
                    <a:pt x="7044" y="3432"/>
                    <a:pt x="7142" y="3465"/>
                    <a:pt x="7241" y="3572"/>
                  </a:cubicBezTo>
                  <a:lnTo>
                    <a:pt x="7812" y="4263"/>
                  </a:lnTo>
                  <a:cubicBezTo>
                    <a:pt x="7904" y="4368"/>
                    <a:pt x="8031" y="4422"/>
                    <a:pt x="8159" y="4422"/>
                  </a:cubicBezTo>
                  <a:cubicBezTo>
                    <a:pt x="8264" y="4422"/>
                    <a:pt x="8369" y="4386"/>
                    <a:pt x="8455" y="4311"/>
                  </a:cubicBezTo>
                  <a:cubicBezTo>
                    <a:pt x="8646" y="4144"/>
                    <a:pt x="8669" y="3858"/>
                    <a:pt x="8503" y="3668"/>
                  </a:cubicBezTo>
                  <a:lnTo>
                    <a:pt x="6836" y="1667"/>
                  </a:lnTo>
                  <a:lnTo>
                    <a:pt x="6359" y="2072"/>
                  </a:lnTo>
                  <a:cubicBezTo>
                    <a:pt x="6026" y="2334"/>
                    <a:pt x="5621" y="2501"/>
                    <a:pt x="5216" y="2501"/>
                  </a:cubicBezTo>
                  <a:cubicBezTo>
                    <a:pt x="4740" y="2501"/>
                    <a:pt x="4264" y="2286"/>
                    <a:pt x="3930" y="1953"/>
                  </a:cubicBezTo>
                  <a:cubicBezTo>
                    <a:pt x="3597" y="1596"/>
                    <a:pt x="3621" y="977"/>
                    <a:pt x="4002" y="667"/>
                  </a:cubicBezTo>
                  <a:lnTo>
                    <a:pt x="47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448;p72">
              <a:extLst>
                <a:ext uri="{FF2B5EF4-FFF2-40B4-BE49-F238E27FC236}">
                  <a16:creationId xmlns:a16="http://schemas.microsoft.com/office/drawing/2014/main" id="{7565C5B8-07BF-2D62-BD95-7A1385BBC824}"/>
                </a:ext>
              </a:extLst>
            </p:cNvPr>
            <p:cNvSpPr/>
            <p:nvPr/>
          </p:nvSpPr>
          <p:spPr>
            <a:xfrm>
              <a:off x="6102788" y="3393008"/>
              <a:ext cx="255644" cy="179225"/>
            </a:xfrm>
            <a:custGeom>
              <a:avLst/>
              <a:gdLst/>
              <a:ahLst/>
              <a:cxnLst/>
              <a:rect l="l" t="t" r="r" b="b"/>
              <a:pathLst>
                <a:path w="8002" h="5610" extrusionOk="0">
                  <a:moveTo>
                    <a:pt x="2502" y="0"/>
                  </a:moveTo>
                  <a:cubicBezTo>
                    <a:pt x="2237" y="0"/>
                    <a:pt x="1979" y="94"/>
                    <a:pt x="1786" y="252"/>
                  </a:cubicBezTo>
                  <a:lnTo>
                    <a:pt x="71" y="1752"/>
                  </a:lnTo>
                  <a:cubicBezTo>
                    <a:pt x="0" y="1847"/>
                    <a:pt x="0" y="1895"/>
                    <a:pt x="71" y="1990"/>
                  </a:cubicBezTo>
                  <a:cubicBezTo>
                    <a:pt x="262" y="2181"/>
                    <a:pt x="524" y="2300"/>
                    <a:pt x="786" y="2300"/>
                  </a:cubicBezTo>
                  <a:cubicBezTo>
                    <a:pt x="1024" y="2300"/>
                    <a:pt x="1262" y="2228"/>
                    <a:pt x="1453" y="2062"/>
                  </a:cubicBezTo>
                  <a:lnTo>
                    <a:pt x="2191" y="1419"/>
                  </a:lnTo>
                  <a:cubicBezTo>
                    <a:pt x="2262" y="1371"/>
                    <a:pt x="2358" y="1347"/>
                    <a:pt x="2429" y="1347"/>
                  </a:cubicBezTo>
                  <a:lnTo>
                    <a:pt x="3858" y="1347"/>
                  </a:lnTo>
                  <a:cubicBezTo>
                    <a:pt x="4048" y="1347"/>
                    <a:pt x="4215" y="1466"/>
                    <a:pt x="4215" y="1657"/>
                  </a:cubicBezTo>
                  <a:cubicBezTo>
                    <a:pt x="4263" y="1871"/>
                    <a:pt x="4072" y="2062"/>
                    <a:pt x="3858" y="2062"/>
                  </a:cubicBezTo>
                  <a:lnTo>
                    <a:pt x="3167" y="2062"/>
                  </a:lnTo>
                  <a:lnTo>
                    <a:pt x="4596" y="3776"/>
                  </a:lnTo>
                  <a:cubicBezTo>
                    <a:pt x="5096" y="4372"/>
                    <a:pt x="4834" y="5324"/>
                    <a:pt x="4120" y="5610"/>
                  </a:cubicBezTo>
                  <a:cubicBezTo>
                    <a:pt x="4858" y="5586"/>
                    <a:pt x="5382" y="5443"/>
                    <a:pt x="5739" y="5277"/>
                  </a:cubicBezTo>
                  <a:cubicBezTo>
                    <a:pt x="6263" y="5038"/>
                    <a:pt x="6501" y="4776"/>
                    <a:pt x="6501" y="4753"/>
                  </a:cubicBezTo>
                  <a:cubicBezTo>
                    <a:pt x="6573" y="4681"/>
                    <a:pt x="6668" y="4634"/>
                    <a:pt x="6787" y="4634"/>
                  </a:cubicBezTo>
                  <a:lnTo>
                    <a:pt x="7644" y="4634"/>
                  </a:lnTo>
                  <a:cubicBezTo>
                    <a:pt x="7835" y="4634"/>
                    <a:pt x="8002" y="4467"/>
                    <a:pt x="8002" y="4253"/>
                  </a:cubicBezTo>
                  <a:lnTo>
                    <a:pt x="8002" y="823"/>
                  </a:lnTo>
                  <a:cubicBezTo>
                    <a:pt x="8002" y="609"/>
                    <a:pt x="7835" y="466"/>
                    <a:pt x="7644" y="466"/>
                  </a:cubicBezTo>
                  <a:lnTo>
                    <a:pt x="5525" y="466"/>
                  </a:lnTo>
                  <a:cubicBezTo>
                    <a:pt x="4811" y="466"/>
                    <a:pt x="4096" y="371"/>
                    <a:pt x="3405" y="180"/>
                  </a:cubicBezTo>
                  <a:lnTo>
                    <a:pt x="2786" y="37"/>
                  </a:lnTo>
                  <a:cubicBezTo>
                    <a:pt x="2692" y="12"/>
                    <a:pt x="2597" y="0"/>
                    <a:pt x="25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1438;p72">
            <a:extLst>
              <a:ext uri="{FF2B5EF4-FFF2-40B4-BE49-F238E27FC236}">
                <a16:creationId xmlns:a16="http://schemas.microsoft.com/office/drawing/2014/main" id="{9F5025EC-D9B1-8584-5AB6-11D8309B3BD2}"/>
              </a:ext>
            </a:extLst>
          </p:cNvPr>
          <p:cNvGrpSpPr/>
          <p:nvPr/>
        </p:nvGrpSpPr>
        <p:grpSpPr>
          <a:xfrm>
            <a:off x="6945629" y="2859556"/>
            <a:ext cx="305897" cy="399443"/>
            <a:chOff x="5378464" y="3242789"/>
            <a:chExt cx="305897" cy="399443"/>
          </a:xfrm>
        </p:grpSpPr>
        <p:sp>
          <p:nvSpPr>
            <p:cNvPr id="55" name="Google Shape;1439;p72">
              <a:extLst>
                <a:ext uri="{FF2B5EF4-FFF2-40B4-BE49-F238E27FC236}">
                  <a16:creationId xmlns:a16="http://schemas.microsoft.com/office/drawing/2014/main" id="{5E2B884F-18C6-243E-A8EE-4ABBA980AA5A}"/>
                </a:ext>
              </a:extLst>
            </p:cNvPr>
            <p:cNvSpPr/>
            <p:nvPr/>
          </p:nvSpPr>
          <p:spPr>
            <a:xfrm>
              <a:off x="5383799" y="3502973"/>
              <a:ext cx="295227" cy="139259"/>
            </a:xfrm>
            <a:custGeom>
              <a:avLst/>
              <a:gdLst/>
              <a:ahLst/>
              <a:cxnLst/>
              <a:rect l="l" t="t" r="r" b="b"/>
              <a:pathLst>
                <a:path w="9241" h="4359" extrusionOk="0">
                  <a:moveTo>
                    <a:pt x="2263" y="1"/>
                  </a:moveTo>
                  <a:cubicBezTo>
                    <a:pt x="1001" y="1"/>
                    <a:pt x="0" y="1025"/>
                    <a:pt x="0" y="2263"/>
                  </a:cubicBezTo>
                  <a:lnTo>
                    <a:pt x="0" y="3978"/>
                  </a:lnTo>
                  <a:cubicBezTo>
                    <a:pt x="0" y="4192"/>
                    <a:pt x="167" y="4359"/>
                    <a:pt x="358" y="4359"/>
                  </a:cubicBezTo>
                  <a:lnTo>
                    <a:pt x="1429" y="4359"/>
                  </a:lnTo>
                  <a:lnTo>
                    <a:pt x="1429" y="2978"/>
                  </a:lnTo>
                  <a:cubicBezTo>
                    <a:pt x="1429" y="2777"/>
                    <a:pt x="1596" y="2618"/>
                    <a:pt x="1793" y="2618"/>
                  </a:cubicBezTo>
                  <a:cubicBezTo>
                    <a:pt x="1807" y="2618"/>
                    <a:pt x="1820" y="2619"/>
                    <a:pt x="1834" y="2620"/>
                  </a:cubicBezTo>
                  <a:cubicBezTo>
                    <a:pt x="2025" y="2644"/>
                    <a:pt x="2167" y="2811"/>
                    <a:pt x="2167" y="3001"/>
                  </a:cubicBezTo>
                  <a:lnTo>
                    <a:pt x="2167" y="4359"/>
                  </a:lnTo>
                  <a:lnTo>
                    <a:pt x="7073" y="4359"/>
                  </a:lnTo>
                  <a:lnTo>
                    <a:pt x="7073" y="3001"/>
                  </a:lnTo>
                  <a:cubicBezTo>
                    <a:pt x="7073" y="2811"/>
                    <a:pt x="7216" y="2644"/>
                    <a:pt x="7407" y="2620"/>
                  </a:cubicBezTo>
                  <a:cubicBezTo>
                    <a:pt x="7420" y="2619"/>
                    <a:pt x="7434" y="2618"/>
                    <a:pt x="7447" y="2618"/>
                  </a:cubicBezTo>
                  <a:cubicBezTo>
                    <a:pt x="7645" y="2618"/>
                    <a:pt x="7811" y="2777"/>
                    <a:pt x="7811" y="2978"/>
                  </a:cubicBezTo>
                  <a:lnTo>
                    <a:pt x="7811" y="4359"/>
                  </a:lnTo>
                  <a:lnTo>
                    <a:pt x="8883" y="4359"/>
                  </a:lnTo>
                  <a:cubicBezTo>
                    <a:pt x="9074" y="4359"/>
                    <a:pt x="9240" y="4192"/>
                    <a:pt x="9240" y="3978"/>
                  </a:cubicBezTo>
                  <a:lnTo>
                    <a:pt x="9240" y="2263"/>
                  </a:lnTo>
                  <a:cubicBezTo>
                    <a:pt x="9240" y="1025"/>
                    <a:pt x="8216" y="1"/>
                    <a:pt x="6954" y="1"/>
                  </a:cubicBezTo>
                  <a:lnTo>
                    <a:pt x="6526" y="1"/>
                  </a:lnTo>
                  <a:lnTo>
                    <a:pt x="6526" y="596"/>
                  </a:lnTo>
                  <a:cubicBezTo>
                    <a:pt x="6526" y="1596"/>
                    <a:pt x="5787" y="2430"/>
                    <a:pt x="4787" y="2525"/>
                  </a:cubicBezTo>
                  <a:cubicBezTo>
                    <a:pt x="4731" y="2530"/>
                    <a:pt x="4676" y="2532"/>
                    <a:pt x="4621" y="2532"/>
                  </a:cubicBezTo>
                  <a:cubicBezTo>
                    <a:pt x="3575" y="2532"/>
                    <a:pt x="2715" y="1684"/>
                    <a:pt x="2715" y="620"/>
                  </a:cubicBezTo>
                  <a:lnTo>
                    <a:pt x="27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440;p72">
              <a:extLst>
                <a:ext uri="{FF2B5EF4-FFF2-40B4-BE49-F238E27FC236}">
                  <a16:creationId xmlns:a16="http://schemas.microsoft.com/office/drawing/2014/main" id="{A2E06E9B-6CF6-5608-7534-86C72B561E95}"/>
                </a:ext>
              </a:extLst>
            </p:cNvPr>
            <p:cNvSpPr/>
            <p:nvPr/>
          </p:nvSpPr>
          <p:spPr>
            <a:xfrm>
              <a:off x="5493349" y="3515912"/>
              <a:ext cx="76131" cy="44663"/>
            </a:xfrm>
            <a:custGeom>
              <a:avLst/>
              <a:gdLst/>
              <a:ahLst/>
              <a:cxnLst/>
              <a:rect l="l" t="t" r="r" b="b"/>
              <a:pathLst>
                <a:path w="2383" h="1398" extrusionOk="0">
                  <a:moveTo>
                    <a:pt x="1" y="1"/>
                  </a:moveTo>
                  <a:lnTo>
                    <a:pt x="1" y="191"/>
                  </a:lnTo>
                  <a:cubicBezTo>
                    <a:pt x="1" y="787"/>
                    <a:pt x="429" y="1287"/>
                    <a:pt x="1001" y="1382"/>
                  </a:cubicBezTo>
                  <a:cubicBezTo>
                    <a:pt x="1067" y="1393"/>
                    <a:pt x="1132" y="1398"/>
                    <a:pt x="1196" y="1398"/>
                  </a:cubicBezTo>
                  <a:cubicBezTo>
                    <a:pt x="1849" y="1398"/>
                    <a:pt x="2382" y="866"/>
                    <a:pt x="2382" y="215"/>
                  </a:cubicBezTo>
                  <a:lnTo>
                    <a:pt x="2382" y="1"/>
                  </a:lnTo>
                  <a:cubicBezTo>
                    <a:pt x="2001" y="144"/>
                    <a:pt x="1620" y="215"/>
                    <a:pt x="1191" y="215"/>
                  </a:cubicBezTo>
                  <a:cubicBezTo>
                    <a:pt x="763" y="215"/>
                    <a:pt x="382" y="14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441;p72">
              <a:extLst>
                <a:ext uri="{FF2B5EF4-FFF2-40B4-BE49-F238E27FC236}">
                  <a16:creationId xmlns:a16="http://schemas.microsoft.com/office/drawing/2014/main" id="{E54DA5E4-5BE0-20AD-D74E-B999B71DBF21}"/>
                </a:ext>
              </a:extLst>
            </p:cNvPr>
            <p:cNvSpPr/>
            <p:nvPr/>
          </p:nvSpPr>
          <p:spPr>
            <a:xfrm>
              <a:off x="5453030" y="3290711"/>
              <a:ext cx="156000" cy="72169"/>
            </a:xfrm>
            <a:custGeom>
              <a:avLst/>
              <a:gdLst/>
              <a:ahLst/>
              <a:cxnLst/>
              <a:rect l="l" t="t" r="r" b="b"/>
              <a:pathLst>
                <a:path w="4883" h="2259" extrusionOk="0">
                  <a:moveTo>
                    <a:pt x="2453" y="1"/>
                  </a:moveTo>
                  <a:cubicBezTo>
                    <a:pt x="1191" y="1"/>
                    <a:pt x="143" y="977"/>
                    <a:pt x="0" y="2192"/>
                  </a:cubicBezTo>
                  <a:lnTo>
                    <a:pt x="286" y="2239"/>
                  </a:lnTo>
                  <a:cubicBezTo>
                    <a:pt x="379" y="2252"/>
                    <a:pt x="471" y="2258"/>
                    <a:pt x="562" y="2258"/>
                  </a:cubicBezTo>
                  <a:cubicBezTo>
                    <a:pt x="1467" y="2258"/>
                    <a:pt x="2215" y="1668"/>
                    <a:pt x="2215" y="1668"/>
                  </a:cubicBezTo>
                  <a:cubicBezTo>
                    <a:pt x="2287" y="1620"/>
                    <a:pt x="2370" y="1596"/>
                    <a:pt x="2450" y="1596"/>
                  </a:cubicBezTo>
                  <a:cubicBezTo>
                    <a:pt x="2531" y="1596"/>
                    <a:pt x="2608" y="1620"/>
                    <a:pt x="2668" y="1668"/>
                  </a:cubicBezTo>
                  <a:cubicBezTo>
                    <a:pt x="2689" y="1668"/>
                    <a:pt x="3439" y="2258"/>
                    <a:pt x="4345" y="2258"/>
                  </a:cubicBezTo>
                  <a:cubicBezTo>
                    <a:pt x="4435" y="2258"/>
                    <a:pt x="4527" y="2252"/>
                    <a:pt x="4620" y="2239"/>
                  </a:cubicBezTo>
                  <a:lnTo>
                    <a:pt x="4882" y="2192"/>
                  </a:lnTo>
                  <a:cubicBezTo>
                    <a:pt x="4763" y="977"/>
                    <a:pt x="3716" y="1"/>
                    <a:pt x="2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442;p72">
              <a:extLst>
                <a:ext uri="{FF2B5EF4-FFF2-40B4-BE49-F238E27FC236}">
                  <a16:creationId xmlns:a16="http://schemas.microsoft.com/office/drawing/2014/main" id="{B61CF146-EB43-AE55-DA35-A402DFB08F75}"/>
                </a:ext>
              </a:extLst>
            </p:cNvPr>
            <p:cNvSpPr/>
            <p:nvPr/>
          </p:nvSpPr>
          <p:spPr>
            <a:xfrm>
              <a:off x="5453030" y="3367546"/>
              <a:ext cx="156766" cy="131751"/>
            </a:xfrm>
            <a:custGeom>
              <a:avLst/>
              <a:gdLst/>
              <a:ahLst/>
              <a:cxnLst/>
              <a:rect l="l" t="t" r="r" b="b"/>
              <a:pathLst>
                <a:path w="4907" h="4124" extrusionOk="0">
                  <a:moveTo>
                    <a:pt x="3013" y="2275"/>
                  </a:moveTo>
                  <a:cubicBezTo>
                    <a:pt x="3102" y="2275"/>
                    <a:pt x="3192" y="2311"/>
                    <a:pt x="3263" y="2382"/>
                  </a:cubicBezTo>
                  <a:cubicBezTo>
                    <a:pt x="3406" y="2525"/>
                    <a:pt x="3406" y="2740"/>
                    <a:pt x="3263" y="2882"/>
                  </a:cubicBezTo>
                  <a:cubicBezTo>
                    <a:pt x="3049" y="3121"/>
                    <a:pt x="2763" y="3240"/>
                    <a:pt x="2453" y="3240"/>
                  </a:cubicBezTo>
                  <a:cubicBezTo>
                    <a:pt x="2144" y="3240"/>
                    <a:pt x="1858" y="3121"/>
                    <a:pt x="1620" y="2882"/>
                  </a:cubicBezTo>
                  <a:cubicBezTo>
                    <a:pt x="1477" y="2740"/>
                    <a:pt x="1477" y="2525"/>
                    <a:pt x="1620" y="2382"/>
                  </a:cubicBezTo>
                  <a:cubicBezTo>
                    <a:pt x="1691" y="2311"/>
                    <a:pt x="1787" y="2275"/>
                    <a:pt x="1882" y="2275"/>
                  </a:cubicBezTo>
                  <a:cubicBezTo>
                    <a:pt x="1977" y="2275"/>
                    <a:pt x="2072" y="2311"/>
                    <a:pt x="2144" y="2382"/>
                  </a:cubicBezTo>
                  <a:cubicBezTo>
                    <a:pt x="2215" y="2454"/>
                    <a:pt x="2334" y="2501"/>
                    <a:pt x="2453" y="2501"/>
                  </a:cubicBezTo>
                  <a:cubicBezTo>
                    <a:pt x="2572" y="2501"/>
                    <a:pt x="2668" y="2454"/>
                    <a:pt x="2763" y="2382"/>
                  </a:cubicBezTo>
                  <a:cubicBezTo>
                    <a:pt x="2834" y="2311"/>
                    <a:pt x="2924" y="2275"/>
                    <a:pt x="3013" y="2275"/>
                  </a:cubicBezTo>
                  <a:close/>
                  <a:moveTo>
                    <a:pt x="2453" y="1"/>
                  </a:moveTo>
                  <a:cubicBezTo>
                    <a:pt x="2120" y="215"/>
                    <a:pt x="1406" y="572"/>
                    <a:pt x="572" y="572"/>
                  </a:cubicBezTo>
                  <a:cubicBezTo>
                    <a:pt x="536" y="577"/>
                    <a:pt x="499" y="579"/>
                    <a:pt x="463" y="579"/>
                  </a:cubicBezTo>
                  <a:cubicBezTo>
                    <a:pt x="309" y="579"/>
                    <a:pt x="155" y="544"/>
                    <a:pt x="0" y="525"/>
                  </a:cubicBezTo>
                  <a:lnTo>
                    <a:pt x="0" y="1668"/>
                  </a:lnTo>
                  <a:cubicBezTo>
                    <a:pt x="0" y="2978"/>
                    <a:pt x="1048" y="4073"/>
                    <a:pt x="2334" y="4121"/>
                  </a:cubicBezTo>
                  <a:cubicBezTo>
                    <a:pt x="2376" y="4123"/>
                    <a:pt x="2418" y="4124"/>
                    <a:pt x="2459" y="4124"/>
                  </a:cubicBezTo>
                  <a:cubicBezTo>
                    <a:pt x="3808" y="4124"/>
                    <a:pt x="4906" y="3007"/>
                    <a:pt x="4906" y="1644"/>
                  </a:cubicBezTo>
                  <a:lnTo>
                    <a:pt x="4906" y="525"/>
                  </a:lnTo>
                  <a:cubicBezTo>
                    <a:pt x="4752" y="544"/>
                    <a:pt x="4598" y="579"/>
                    <a:pt x="4444" y="579"/>
                  </a:cubicBezTo>
                  <a:cubicBezTo>
                    <a:pt x="4407" y="579"/>
                    <a:pt x="4371" y="577"/>
                    <a:pt x="4335" y="572"/>
                  </a:cubicBezTo>
                  <a:cubicBezTo>
                    <a:pt x="3501" y="572"/>
                    <a:pt x="2811" y="215"/>
                    <a:pt x="2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443;p72">
              <a:extLst>
                <a:ext uri="{FF2B5EF4-FFF2-40B4-BE49-F238E27FC236}">
                  <a16:creationId xmlns:a16="http://schemas.microsoft.com/office/drawing/2014/main" id="{DFFDB33A-AEB0-8C01-BB9B-8DD8BC5C24E8}"/>
                </a:ext>
              </a:extLst>
            </p:cNvPr>
            <p:cNvSpPr/>
            <p:nvPr/>
          </p:nvSpPr>
          <p:spPr>
            <a:xfrm>
              <a:off x="5378464" y="3242789"/>
              <a:ext cx="305897" cy="243472"/>
            </a:xfrm>
            <a:custGeom>
              <a:avLst/>
              <a:gdLst/>
              <a:ahLst/>
              <a:cxnLst/>
              <a:rect l="l" t="t" r="r" b="b"/>
              <a:pathLst>
                <a:path w="9575" h="7621" extrusionOk="0">
                  <a:moveTo>
                    <a:pt x="4787" y="0"/>
                  </a:moveTo>
                  <a:cubicBezTo>
                    <a:pt x="2668" y="0"/>
                    <a:pt x="1048" y="1644"/>
                    <a:pt x="858" y="3739"/>
                  </a:cubicBezTo>
                  <a:cubicBezTo>
                    <a:pt x="358" y="3739"/>
                    <a:pt x="1" y="4144"/>
                    <a:pt x="1" y="4573"/>
                  </a:cubicBezTo>
                  <a:lnTo>
                    <a:pt x="1" y="5573"/>
                  </a:lnTo>
                  <a:cubicBezTo>
                    <a:pt x="1" y="6025"/>
                    <a:pt x="382" y="6406"/>
                    <a:pt x="834" y="6406"/>
                  </a:cubicBezTo>
                  <a:lnTo>
                    <a:pt x="1715" y="6406"/>
                  </a:lnTo>
                  <a:cubicBezTo>
                    <a:pt x="1644" y="6144"/>
                    <a:pt x="1596" y="5882"/>
                    <a:pt x="1596" y="5597"/>
                  </a:cubicBezTo>
                  <a:lnTo>
                    <a:pt x="1596" y="4096"/>
                  </a:lnTo>
                  <a:cubicBezTo>
                    <a:pt x="1596" y="3977"/>
                    <a:pt x="1596" y="3858"/>
                    <a:pt x="1620" y="3739"/>
                  </a:cubicBezTo>
                  <a:cubicBezTo>
                    <a:pt x="1691" y="2882"/>
                    <a:pt x="2072" y="2144"/>
                    <a:pt x="2620" y="1620"/>
                  </a:cubicBezTo>
                  <a:cubicBezTo>
                    <a:pt x="3168" y="1072"/>
                    <a:pt x="3930" y="739"/>
                    <a:pt x="4787" y="739"/>
                  </a:cubicBezTo>
                  <a:cubicBezTo>
                    <a:pt x="5645" y="739"/>
                    <a:pt x="6407" y="1072"/>
                    <a:pt x="6954" y="1620"/>
                  </a:cubicBezTo>
                  <a:cubicBezTo>
                    <a:pt x="7502" y="2144"/>
                    <a:pt x="7883" y="2882"/>
                    <a:pt x="7955" y="3739"/>
                  </a:cubicBezTo>
                  <a:cubicBezTo>
                    <a:pt x="7978" y="3858"/>
                    <a:pt x="7978" y="3977"/>
                    <a:pt x="7978" y="4096"/>
                  </a:cubicBezTo>
                  <a:lnTo>
                    <a:pt x="7978" y="5597"/>
                  </a:lnTo>
                  <a:cubicBezTo>
                    <a:pt x="7978" y="5882"/>
                    <a:pt x="7931" y="6144"/>
                    <a:pt x="7859" y="6406"/>
                  </a:cubicBezTo>
                  <a:lnTo>
                    <a:pt x="8217" y="6406"/>
                  </a:lnTo>
                  <a:cubicBezTo>
                    <a:pt x="8193" y="6668"/>
                    <a:pt x="8145" y="6907"/>
                    <a:pt x="8074" y="7145"/>
                  </a:cubicBezTo>
                  <a:cubicBezTo>
                    <a:pt x="8002" y="7335"/>
                    <a:pt x="8098" y="7526"/>
                    <a:pt x="8288" y="7597"/>
                  </a:cubicBezTo>
                  <a:cubicBezTo>
                    <a:pt x="8331" y="7613"/>
                    <a:pt x="8375" y="7621"/>
                    <a:pt x="8418" y="7621"/>
                  </a:cubicBezTo>
                  <a:cubicBezTo>
                    <a:pt x="8568" y="7621"/>
                    <a:pt x="8709" y="7530"/>
                    <a:pt x="8764" y="7383"/>
                  </a:cubicBezTo>
                  <a:cubicBezTo>
                    <a:pt x="8860" y="7049"/>
                    <a:pt x="8931" y="6716"/>
                    <a:pt x="8955" y="6383"/>
                  </a:cubicBezTo>
                  <a:cubicBezTo>
                    <a:pt x="9312" y="6287"/>
                    <a:pt x="9574" y="5954"/>
                    <a:pt x="9574" y="5573"/>
                  </a:cubicBezTo>
                  <a:lnTo>
                    <a:pt x="9574" y="4573"/>
                  </a:lnTo>
                  <a:cubicBezTo>
                    <a:pt x="9574" y="4144"/>
                    <a:pt x="9217" y="3739"/>
                    <a:pt x="8717" y="3739"/>
                  </a:cubicBezTo>
                  <a:cubicBezTo>
                    <a:pt x="8526" y="1644"/>
                    <a:pt x="6907" y="0"/>
                    <a:pt x="47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1406;p72">
            <a:extLst>
              <a:ext uri="{FF2B5EF4-FFF2-40B4-BE49-F238E27FC236}">
                <a16:creationId xmlns:a16="http://schemas.microsoft.com/office/drawing/2014/main" id="{CDC8C8FD-29E8-6872-5F0D-072D5255C2B8}"/>
              </a:ext>
            </a:extLst>
          </p:cNvPr>
          <p:cNvGrpSpPr/>
          <p:nvPr/>
        </p:nvGrpSpPr>
        <p:grpSpPr>
          <a:xfrm>
            <a:off x="6281679" y="3614199"/>
            <a:ext cx="399477" cy="399445"/>
            <a:chOff x="2806876" y="3242789"/>
            <a:chExt cx="399477" cy="399445"/>
          </a:xfrm>
        </p:grpSpPr>
        <p:sp>
          <p:nvSpPr>
            <p:cNvPr id="61" name="Google Shape;1407;p72">
              <a:extLst>
                <a:ext uri="{FF2B5EF4-FFF2-40B4-BE49-F238E27FC236}">
                  <a16:creationId xmlns:a16="http://schemas.microsoft.com/office/drawing/2014/main" id="{695D6628-734C-6819-5C9D-60211BF1B449}"/>
                </a:ext>
              </a:extLst>
            </p:cNvPr>
            <p:cNvSpPr/>
            <p:nvPr/>
          </p:nvSpPr>
          <p:spPr>
            <a:xfrm>
              <a:off x="2807643" y="3242789"/>
              <a:ext cx="269349" cy="35014"/>
            </a:xfrm>
            <a:custGeom>
              <a:avLst/>
              <a:gdLst/>
              <a:ahLst/>
              <a:cxnLst/>
              <a:rect l="l" t="t" r="r" b="b"/>
              <a:pathLst>
                <a:path w="8431" h="1096" extrusionOk="0">
                  <a:moveTo>
                    <a:pt x="1358" y="0"/>
                  </a:moveTo>
                  <a:cubicBezTo>
                    <a:pt x="691" y="0"/>
                    <a:pt x="143" y="477"/>
                    <a:pt x="0" y="1096"/>
                  </a:cubicBezTo>
                  <a:lnTo>
                    <a:pt x="8431" y="1096"/>
                  </a:lnTo>
                  <a:cubicBezTo>
                    <a:pt x="8288" y="477"/>
                    <a:pt x="7716" y="0"/>
                    <a:pt x="70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408;p72">
              <a:extLst>
                <a:ext uri="{FF2B5EF4-FFF2-40B4-BE49-F238E27FC236}">
                  <a16:creationId xmlns:a16="http://schemas.microsoft.com/office/drawing/2014/main" id="{943C59D9-51A6-1AE9-6EBB-8B98EEE6071B}"/>
                </a:ext>
              </a:extLst>
            </p:cNvPr>
            <p:cNvSpPr/>
            <p:nvPr/>
          </p:nvSpPr>
          <p:spPr>
            <a:xfrm>
              <a:off x="2806876" y="3301381"/>
              <a:ext cx="270883" cy="340848"/>
            </a:xfrm>
            <a:custGeom>
              <a:avLst/>
              <a:gdLst/>
              <a:ahLst/>
              <a:cxnLst/>
              <a:rect l="l" t="t" r="r" b="b"/>
              <a:pathLst>
                <a:path w="8479" h="10669" extrusionOk="0">
                  <a:moveTo>
                    <a:pt x="5833" y="857"/>
                  </a:moveTo>
                  <a:cubicBezTo>
                    <a:pt x="5933" y="857"/>
                    <a:pt x="6033" y="899"/>
                    <a:pt x="6097" y="976"/>
                  </a:cubicBezTo>
                  <a:lnTo>
                    <a:pt x="6955" y="1905"/>
                  </a:lnTo>
                  <a:cubicBezTo>
                    <a:pt x="7074" y="2024"/>
                    <a:pt x="7097" y="2239"/>
                    <a:pt x="6978" y="2358"/>
                  </a:cubicBezTo>
                  <a:cubicBezTo>
                    <a:pt x="6931" y="2429"/>
                    <a:pt x="6169" y="3263"/>
                    <a:pt x="6097" y="3334"/>
                  </a:cubicBezTo>
                  <a:cubicBezTo>
                    <a:pt x="6038" y="3406"/>
                    <a:pt x="5948" y="3441"/>
                    <a:pt x="5856" y="3441"/>
                  </a:cubicBezTo>
                  <a:cubicBezTo>
                    <a:pt x="5764" y="3441"/>
                    <a:pt x="5669" y="3406"/>
                    <a:pt x="5597" y="3334"/>
                  </a:cubicBezTo>
                  <a:cubicBezTo>
                    <a:pt x="5454" y="3215"/>
                    <a:pt x="5430" y="2977"/>
                    <a:pt x="5573" y="2834"/>
                  </a:cubicBezTo>
                  <a:lnTo>
                    <a:pt x="6192" y="2143"/>
                  </a:lnTo>
                  <a:lnTo>
                    <a:pt x="5573" y="1477"/>
                  </a:lnTo>
                  <a:cubicBezTo>
                    <a:pt x="5430" y="1310"/>
                    <a:pt x="5454" y="1096"/>
                    <a:pt x="5597" y="953"/>
                  </a:cubicBezTo>
                  <a:cubicBezTo>
                    <a:pt x="5663" y="887"/>
                    <a:pt x="5748" y="857"/>
                    <a:pt x="5833" y="857"/>
                  </a:cubicBezTo>
                  <a:close/>
                  <a:moveTo>
                    <a:pt x="2644" y="857"/>
                  </a:moveTo>
                  <a:cubicBezTo>
                    <a:pt x="2731" y="857"/>
                    <a:pt x="2817" y="887"/>
                    <a:pt x="2882" y="953"/>
                  </a:cubicBezTo>
                  <a:cubicBezTo>
                    <a:pt x="3025" y="1096"/>
                    <a:pt x="3049" y="1310"/>
                    <a:pt x="2906" y="1477"/>
                  </a:cubicBezTo>
                  <a:lnTo>
                    <a:pt x="2287" y="2143"/>
                  </a:lnTo>
                  <a:lnTo>
                    <a:pt x="2906" y="2834"/>
                  </a:lnTo>
                  <a:cubicBezTo>
                    <a:pt x="3049" y="2977"/>
                    <a:pt x="3025" y="3215"/>
                    <a:pt x="2882" y="3334"/>
                  </a:cubicBezTo>
                  <a:cubicBezTo>
                    <a:pt x="2811" y="3406"/>
                    <a:pt x="2739" y="3453"/>
                    <a:pt x="2644" y="3453"/>
                  </a:cubicBezTo>
                  <a:cubicBezTo>
                    <a:pt x="2549" y="3453"/>
                    <a:pt x="2454" y="3406"/>
                    <a:pt x="2358" y="3334"/>
                  </a:cubicBezTo>
                  <a:lnTo>
                    <a:pt x="1525" y="2405"/>
                  </a:lnTo>
                  <a:cubicBezTo>
                    <a:pt x="1382" y="2262"/>
                    <a:pt x="1382" y="2024"/>
                    <a:pt x="1525" y="1905"/>
                  </a:cubicBezTo>
                  <a:lnTo>
                    <a:pt x="2358" y="976"/>
                  </a:lnTo>
                  <a:cubicBezTo>
                    <a:pt x="2436" y="899"/>
                    <a:pt x="2541" y="857"/>
                    <a:pt x="2644" y="857"/>
                  </a:cubicBezTo>
                  <a:close/>
                  <a:moveTo>
                    <a:pt x="4451" y="729"/>
                  </a:moveTo>
                  <a:cubicBezTo>
                    <a:pt x="4475" y="729"/>
                    <a:pt x="4500" y="732"/>
                    <a:pt x="4525" y="738"/>
                  </a:cubicBezTo>
                  <a:cubicBezTo>
                    <a:pt x="4740" y="786"/>
                    <a:pt x="4859" y="976"/>
                    <a:pt x="4811" y="1167"/>
                  </a:cubicBezTo>
                  <a:lnTo>
                    <a:pt x="4406" y="3263"/>
                  </a:lnTo>
                  <a:cubicBezTo>
                    <a:pt x="4363" y="3459"/>
                    <a:pt x="4199" y="3575"/>
                    <a:pt x="4026" y="3575"/>
                  </a:cubicBezTo>
                  <a:cubicBezTo>
                    <a:pt x="4010" y="3575"/>
                    <a:pt x="3994" y="3574"/>
                    <a:pt x="3978" y="3572"/>
                  </a:cubicBezTo>
                  <a:cubicBezTo>
                    <a:pt x="3763" y="3525"/>
                    <a:pt x="3644" y="3334"/>
                    <a:pt x="3692" y="3120"/>
                  </a:cubicBezTo>
                  <a:lnTo>
                    <a:pt x="4097" y="1024"/>
                  </a:lnTo>
                  <a:cubicBezTo>
                    <a:pt x="4138" y="859"/>
                    <a:pt x="4287" y="729"/>
                    <a:pt x="4451" y="729"/>
                  </a:cubicBezTo>
                  <a:close/>
                  <a:moveTo>
                    <a:pt x="1" y="0"/>
                  </a:moveTo>
                  <a:lnTo>
                    <a:pt x="1" y="9264"/>
                  </a:lnTo>
                  <a:cubicBezTo>
                    <a:pt x="1" y="10050"/>
                    <a:pt x="620" y="10669"/>
                    <a:pt x="1382" y="10669"/>
                  </a:cubicBezTo>
                  <a:lnTo>
                    <a:pt x="2334" y="10669"/>
                  </a:lnTo>
                  <a:cubicBezTo>
                    <a:pt x="2287" y="10550"/>
                    <a:pt x="2263" y="10431"/>
                    <a:pt x="2263" y="10288"/>
                  </a:cubicBezTo>
                  <a:lnTo>
                    <a:pt x="2263" y="5382"/>
                  </a:lnTo>
                  <a:cubicBezTo>
                    <a:pt x="2263" y="4787"/>
                    <a:pt x="2763" y="4287"/>
                    <a:pt x="3359" y="4287"/>
                  </a:cubicBezTo>
                  <a:lnTo>
                    <a:pt x="8479" y="4287"/>
                  </a:lnTo>
                  <a:lnTo>
                    <a:pt x="84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409;p72">
              <a:extLst>
                <a:ext uri="{FF2B5EF4-FFF2-40B4-BE49-F238E27FC236}">
                  <a16:creationId xmlns:a16="http://schemas.microsoft.com/office/drawing/2014/main" id="{F17D0A46-4F3F-B2AE-3B96-E03EF101CCC9}"/>
                </a:ext>
              </a:extLst>
            </p:cNvPr>
            <p:cNvSpPr/>
            <p:nvPr/>
          </p:nvSpPr>
          <p:spPr>
            <a:xfrm>
              <a:off x="2902752" y="3461888"/>
              <a:ext cx="45685" cy="45685"/>
            </a:xfrm>
            <a:custGeom>
              <a:avLst/>
              <a:gdLst/>
              <a:ahLst/>
              <a:cxnLst/>
              <a:rect l="l" t="t" r="r" b="b"/>
              <a:pathLst>
                <a:path w="1430" h="1430" extrusionOk="0">
                  <a:moveTo>
                    <a:pt x="358" y="1"/>
                  </a:moveTo>
                  <a:cubicBezTo>
                    <a:pt x="167" y="1"/>
                    <a:pt x="0" y="168"/>
                    <a:pt x="0" y="358"/>
                  </a:cubicBezTo>
                  <a:lnTo>
                    <a:pt x="0" y="1430"/>
                  </a:lnTo>
                  <a:cubicBezTo>
                    <a:pt x="786" y="1430"/>
                    <a:pt x="1429" y="787"/>
                    <a:pt x="14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410;p72">
              <a:extLst>
                <a:ext uri="{FF2B5EF4-FFF2-40B4-BE49-F238E27FC236}">
                  <a16:creationId xmlns:a16="http://schemas.microsoft.com/office/drawing/2014/main" id="{79D871E8-1BB1-BAA3-27B5-BC2F5D7DD17C}"/>
                </a:ext>
              </a:extLst>
            </p:cNvPr>
            <p:cNvSpPr/>
            <p:nvPr/>
          </p:nvSpPr>
          <p:spPr>
            <a:xfrm>
              <a:off x="3159901" y="3461888"/>
              <a:ext cx="46452" cy="45685"/>
            </a:xfrm>
            <a:custGeom>
              <a:avLst/>
              <a:gdLst/>
              <a:ahLst/>
              <a:cxnLst/>
              <a:rect l="l" t="t" r="r" b="b"/>
              <a:pathLst>
                <a:path w="1454" h="1430" extrusionOk="0">
                  <a:moveTo>
                    <a:pt x="1" y="1"/>
                  </a:moveTo>
                  <a:cubicBezTo>
                    <a:pt x="1" y="787"/>
                    <a:pt x="644" y="1430"/>
                    <a:pt x="1453" y="1430"/>
                  </a:cubicBezTo>
                  <a:lnTo>
                    <a:pt x="1453" y="358"/>
                  </a:lnTo>
                  <a:cubicBezTo>
                    <a:pt x="1453" y="168"/>
                    <a:pt x="1287"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411;p72">
              <a:extLst>
                <a:ext uri="{FF2B5EF4-FFF2-40B4-BE49-F238E27FC236}">
                  <a16:creationId xmlns:a16="http://schemas.microsoft.com/office/drawing/2014/main" id="{358DD1F1-EE33-E330-DAF5-BF026331712A}"/>
                </a:ext>
              </a:extLst>
            </p:cNvPr>
            <p:cNvSpPr/>
            <p:nvPr/>
          </p:nvSpPr>
          <p:spPr>
            <a:xfrm>
              <a:off x="2902752" y="3596581"/>
              <a:ext cx="45685" cy="45653"/>
            </a:xfrm>
            <a:custGeom>
              <a:avLst/>
              <a:gdLst/>
              <a:ahLst/>
              <a:cxnLst/>
              <a:rect l="l" t="t" r="r" b="b"/>
              <a:pathLst>
                <a:path w="1430" h="1429" extrusionOk="0">
                  <a:moveTo>
                    <a:pt x="0" y="0"/>
                  </a:moveTo>
                  <a:lnTo>
                    <a:pt x="0" y="1048"/>
                  </a:lnTo>
                  <a:cubicBezTo>
                    <a:pt x="0" y="1262"/>
                    <a:pt x="167" y="1429"/>
                    <a:pt x="358" y="1429"/>
                  </a:cubicBezTo>
                  <a:lnTo>
                    <a:pt x="1429" y="1429"/>
                  </a:lnTo>
                  <a:cubicBezTo>
                    <a:pt x="1429" y="643"/>
                    <a:pt x="786"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412;p72">
              <a:extLst>
                <a:ext uri="{FF2B5EF4-FFF2-40B4-BE49-F238E27FC236}">
                  <a16:creationId xmlns:a16="http://schemas.microsoft.com/office/drawing/2014/main" id="{02295884-578E-7E60-3551-8CA9226C48AA}"/>
                </a:ext>
              </a:extLst>
            </p:cNvPr>
            <p:cNvSpPr/>
            <p:nvPr/>
          </p:nvSpPr>
          <p:spPr>
            <a:xfrm>
              <a:off x="3024473" y="3522781"/>
              <a:ext cx="59390" cy="58592"/>
            </a:xfrm>
            <a:custGeom>
              <a:avLst/>
              <a:gdLst/>
              <a:ahLst/>
              <a:cxnLst/>
              <a:rect l="l" t="t" r="r" b="b"/>
              <a:pathLst>
                <a:path w="1859" h="1834" extrusionOk="0">
                  <a:moveTo>
                    <a:pt x="929" y="0"/>
                  </a:moveTo>
                  <a:cubicBezTo>
                    <a:pt x="429" y="0"/>
                    <a:pt x="1" y="405"/>
                    <a:pt x="1" y="905"/>
                  </a:cubicBezTo>
                  <a:cubicBezTo>
                    <a:pt x="1" y="1429"/>
                    <a:pt x="429" y="1834"/>
                    <a:pt x="929" y="1834"/>
                  </a:cubicBezTo>
                  <a:cubicBezTo>
                    <a:pt x="1453" y="1834"/>
                    <a:pt x="1858" y="1429"/>
                    <a:pt x="1858" y="905"/>
                  </a:cubicBezTo>
                  <a:cubicBezTo>
                    <a:pt x="1858" y="405"/>
                    <a:pt x="1453" y="0"/>
                    <a:pt x="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413;p72">
              <a:extLst>
                <a:ext uri="{FF2B5EF4-FFF2-40B4-BE49-F238E27FC236}">
                  <a16:creationId xmlns:a16="http://schemas.microsoft.com/office/drawing/2014/main" id="{F94C1C8A-F5F9-D420-9ACE-DD0D1E811538}"/>
                </a:ext>
              </a:extLst>
            </p:cNvPr>
            <p:cNvSpPr/>
            <p:nvPr/>
          </p:nvSpPr>
          <p:spPr>
            <a:xfrm>
              <a:off x="2902752" y="3461888"/>
              <a:ext cx="303597" cy="180344"/>
            </a:xfrm>
            <a:custGeom>
              <a:avLst/>
              <a:gdLst/>
              <a:ahLst/>
              <a:cxnLst/>
              <a:rect l="l" t="t" r="r" b="b"/>
              <a:pathLst>
                <a:path w="9503" h="5645" extrusionOk="0">
                  <a:moveTo>
                    <a:pt x="1977" y="2454"/>
                  </a:moveTo>
                  <a:cubicBezTo>
                    <a:pt x="2191" y="2454"/>
                    <a:pt x="2358" y="2620"/>
                    <a:pt x="2358" y="2811"/>
                  </a:cubicBezTo>
                  <a:cubicBezTo>
                    <a:pt x="2358" y="3025"/>
                    <a:pt x="2191" y="3192"/>
                    <a:pt x="1977" y="3192"/>
                  </a:cubicBezTo>
                  <a:cubicBezTo>
                    <a:pt x="1786" y="3192"/>
                    <a:pt x="1620" y="3025"/>
                    <a:pt x="1620" y="2811"/>
                  </a:cubicBezTo>
                  <a:cubicBezTo>
                    <a:pt x="1620" y="2620"/>
                    <a:pt x="1786" y="2454"/>
                    <a:pt x="1977" y="2454"/>
                  </a:cubicBezTo>
                  <a:close/>
                  <a:moveTo>
                    <a:pt x="7502" y="2454"/>
                  </a:moveTo>
                  <a:cubicBezTo>
                    <a:pt x="7716" y="2454"/>
                    <a:pt x="7859" y="2620"/>
                    <a:pt x="7859" y="2811"/>
                  </a:cubicBezTo>
                  <a:cubicBezTo>
                    <a:pt x="7859" y="3025"/>
                    <a:pt x="7716" y="3192"/>
                    <a:pt x="7502" y="3192"/>
                  </a:cubicBezTo>
                  <a:cubicBezTo>
                    <a:pt x="7311" y="3192"/>
                    <a:pt x="7145" y="3025"/>
                    <a:pt x="7145" y="2811"/>
                  </a:cubicBezTo>
                  <a:cubicBezTo>
                    <a:pt x="7145" y="2620"/>
                    <a:pt x="7311" y="2454"/>
                    <a:pt x="7502" y="2454"/>
                  </a:cubicBezTo>
                  <a:close/>
                  <a:moveTo>
                    <a:pt x="4739" y="1168"/>
                  </a:moveTo>
                  <a:cubicBezTo>
                    <a:pt x="5668" y="1168"/>
                    <a:pt x="6406" y="1906"/>
                    <a:pt x="6406" y="2811"/>
                  </a:cubicBezTo>
                  <a:cubicBezTo>
                    <a:pt x="6406" y="3740"/>
                    <a:pt x="5668" y="4478"/>
                    <a:pt x="4739" y="4478"/>
                  </a:cubicBezTo>
                  <a:cubicBezTo>
                    <a:pt x="3834" y="4478"/>
                    <a:pt x="3096" y="3740"/>
                    <a:pt x="3096" y="2811"/>
                  </a:cubicBezTo>
                  <a:cubicBezTo>
                    <a:pt x="3096" y="1906"/>
                    <a:pt x="3834" y="1168"/>
                    <a:pt x="4739" y="1168"/>
                  </a:cubicBezTo>
                  <a:close/>
                  <a:moveTo>
                    <a:pt x="2167" y="1"/>
                  </a:moveTo>
                  <a:cubicBezTo>
                    <a:pt x="2167" y="1192"/>
                    <a:pt x="1191" y="2168"/>
                    <a:pt x="0" y="2168"/>
                  </a:cubicBezTo>
                  <a:lnTo>
                    <a:pt x="0" y="3478"/>
                  </a:lnTo>
                  <a:cubicBezTo>
                    <a:pt x="1191" y="3478"/>
                    <a:pt x="2167" y="4454"/>
                    <a:pt x="2167" y="5645"/>
                  </a:cubicBezTo>
                  <a:lnTo>
                    <a:pt x="7335" y="5645"/>
                  </a:lnTo>
                  <a:cubicBezTo>
                    <a:pt x="7335" y="4454"/>
                    <a:pt x="8288" y="3478"/>
                    <a:pt x="9502" y="3478"/>
                  </a:cubicBezTo>
                  <a:lnTo>
                    <a:pt x="9502" y="2168"/>
                  </a:lnTo>
                  <a:cubicBezTo>
                    <a:pt x="8288" y="2168"/>
                    <a:pt x="7335" y="1192"/>
                    <a:pt x="7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414;p72">
              <a:extLst>
                <a:ext uri="{FF2B5EF4-FFF2-40B4-BE49-F238E27FC236}">
                  <a16:creationId xmlns:a16="http://schemas.microsoft.com/office/drawing/2014/main" id="{CA735776-38F3-9D0F-1EE5-F7D86A0EC78F}"/>
                </a:ext>
              </a:extLst>
            </p:cNvPr>
            <p:cNvSpPr/>
            <p:nvPr/>
          </p:nvSpPr>
          <p:spPr>
            <a:xfrm>
              <a:off x="3159901" y="3596581"/>
              <a:ext cx="46452" cy="45653"/>
            </a:xfrm>
            <a:custGeom>
              <a:avLst/>
              <a:gdLst/>
              <a:ahLst/>
              <a:cxnLst/>
              <a:rect l="l" t="t" r="r" b="b"/>
              <a:pathLst>
                <a:path w="1454" h="1429" extrusionOk="0">
                  <a:moveTo>
                    <a:pt x="1453" y="0"/>
                  </a:moveTo>
                  <a:cubicBezTo>
                    <a:pt x="644" y="0"/>
                    <a:pt x="1" y="643"/>
                    <a:pt x="1" y="1429"/>
                  </a:cubicBezTo>
                  <a:lnTo>
                    <a:pt x="1072" y="1429"/>
                  </a:lnTo>
                  <a:cubicBezTo>
                    <a:pt x="1287" y="1429"/>
                    <a:pt x="1453" y="1262"/>
                    <a:pt x="1453" y="1048"/>
                  </a:cubicBezTo>
                  <a:lnTo>
                    <a:pt x="145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 name="Google Shape;6599;p87">
            <a:extLst>
              <a:ext uri="{FF2B5EF4-FFF2-40B4-BE49-F238E27FC236}">
                <a16:creationId xmlns:a16="http://schemas.microsoft.com/office/drawing/2014/main" id="{23982B6B-28FF-B3AD-40D8-B20E023AB487}"/>
              </a:ext>
            </a:extLst>
          </p:cNvPr>
          <p:cNvGrpSpPr/>
          <p:nvPr/>
        </p:nvGrpSpPr>
        <p:grpSpPr>
          <a:xfrm>
            <a:off x="7370634" y="2894818"/>
            <a:ext cx="353802" cy="351497"/>
            <a:chOff x="580725" y="3617925"/>
            <a:chExt cx="299325" cy="297375"/>
          </a:xfrm>
          <a:solidFill>
            <a:schemeClr val="tx1"/>
          </a:solidFill>
        </p:grpSpPr>
        <p:sp>
          <p:nvSpPr>
            <p:cNvPr id="70" name="Google Shape;6600;p87">
              <a:extLst>
                <a:ext uri="{FF2B5EF4-FFF2-40B4-BE49-F238E27FC236}">
                  <a16:creationId xmlns:a16="http://schemas.microsoft.com/office/drawing/2014/main" id="{85A5145B-CC6C-41E6-E724-A30CDDBD585D}"/>
                </a:ext>
              </a:extLst>
            </p:cNvPr>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6601;p87">
              <a:extLst>
                <a:ext uri="{FF2B5EF4-FFF2-40B4-BE49-F238E27FC236}">
                  <a16:creationId xmlns:a16="http://schemas.microsoft.com/office/drawing/2014/main" id="{C05EF0C1-0D7B-3DF4-B61B-752F132514D4}"/>
                </a:ext>
              </a:extLst>
            </p:cNvPr>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6602;p87">
              <a:extLst>
                <a:ext uri="{FF2B5EF4-FFF2-40B4-BE49-F238E27FC236}">
                  <a16:creationId xmlns:a16="http://schemas.microsoft.com/office/drawing/2014/main" id="{F2288DE0-60F7-BF02-1D5A-44AF12E050E5}"/>
                </a:ext>
              </a:extLst>
            </p:cNvPr>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6603;p87">
              <a:extLst>
                <a:ext uri="{FF2B5EF4-FFF2-40B4-BE49-F238E27FC236}">
                  <a16:creationId xmlns:a16="http://schemas.microsoft.com/office/drawing/2014/main" id="{7F234481-1BB3-1955-927C-AB228DF50117}"/>
                </a:ext>
              </a:extLst>
            </p:cNvPr>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6604;p87">
              <a:extLst>
                <a:ext uri="{FF2B5EF4-FFF2-40B4-BE49-F238E27FC236}">
                  <a16:creationId xmlns:a16="http://schemas.microsoft.com/office/drawing/2014/main" id="{4671639B-16D4-76A3-D4C7-B43258BF150E}"/>
                </a:ext>
              </a:extLst>
            </p:cNvPr>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5007;p83">
            <a:extLst>
              <a:ext uri="{FF2B5EF4-FFF2-40B4-BE49-F238E27FC236}">
                <a16:creationId xmlns:a16="http://schemas.microsoft.com/office/drawing/2014/main" id="{D9B401AD-4FFC-7510-A766-AA1954B24A36}"/>
              </a:ext>
            </a:extLst>
          </p:cNvPr>
          <p:cNvGrpSpPr/>
          <p:nvPr/>
        </p:nvGrpSpPr>
        <p:grpSpPr>
          <a:xfrm>
            <a:off x="7207285" y="573659"/>
            <a:ext cx="1340789" cy="640830"/>
            <a:chOff x="238125" y="1151100"/>
            <a:chExt cx="7139450" cy="3412300"/>
          </a:xfrm>
        </p:grpSpPr>
        <p:sp>
          <p:nvSpPr>
            <p:cNvPr id="78" name="Google Shape;5008;p83">
              <a:extLst>
                <a:ext uri="{FF2B5EF4-FFF2-40B4-BE49-F238E27FC236}">
                  <a16:creationId xmlns:a16="http://schemas.microsoft.com/office/drawing/2014/main" id="{799EDB90-63E5-E63A-8064-9550B58CD935}"/>
                </a:ext>
              </a:extLst>
            </p:cNvPr>
            <p:cNvSpPr/>
            <p:nvPr/>
          </p:nvSpPr>
          <p:spPr>
            <a:xfrm>
              <a:off x="3468350" y="4223875"/>
              <a:ext cx="679000" cy="339525"/>
            </a:xfrm>
            <a:custGeom>
              <a:avLst/>
              <a:gdLst/>
              <a:ahLst/>
              <a:cxnLst/>
              <a:rect l="l" t="t" r="r" b="b"/>
              <a:pathLst>
                <a:path w="27160" h="13581" extrusionOk="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5009;p83">
              <a:extLst>
                <a:ext uri="{FF2B5EF4-FFF2-40B4-BE49-F238E27FC236}">
                  <a16:creationId xmlns:a16="http://schemas.microsoft.com/office/drawing/2014/main" id="{58FFF4E6-34A2-366A-D419-165BB1B01ED4}"/>
                </a:ext>
              </a:extLst>
            </p:cNvPr>
            <p:cNvSpPr/>
            <p:nvPr/>
          </p:nvSpPr>
          <p:spPr>
            <a:xfrm>
              <a:off x="3730250" y="3276125"/>
              <a:ext cx="147275" cy="956575"/>
            </a:xfrm>
            <a:custGeom>
              <a:avLst/>
              <a:gdLst/>
              <a:ahLst/>
              <a:cxnLst/>
              <a:rect l="l" t="t" r="r" b="b"/>
              <a:pathLst>
                <a:path w="5891" h="38263" extrusionOk="0">
                  <a:moveTo>
                    <a:pt x="3276" y="0"/>
                  </a:moveTo>
                  <a:lnTo>
                    <a:pt x="0" y="38263"/>
                  </a:lnTo>
                  <a:lnTo>
                    <a:pt x="5890" y="38194"/>
                  </a:lnTo>
                  <a:lnTo>
                    <a:pt x="3276"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5010;p83">
              <a:extLst>
                <a:ext uri="{FF2B5EF4-FFF2-40B4-BE49-F238E27FC236}">
                  <a16:creationId xmlns:a16="http://schemas.microsoft.com/office/drawing/2014/main" id="{F95440CD-2CCF-FE8E-90B4-3F500CD81804}"/>
                </a:ext>
              </a:extLst>
            </p:cNvPr>
            <p:cNvSpPr/>
            <p:nvPr/>
          </p:nvSpPr>
          <p:spPr>
            <a:xfrm>
              <a:off x="3796275" y="3875600"/>
              <a:ext cx="839350" cy="630550"/>
            </a:xfrm>
            <a:custGeom>
              <a:avLst/>
              <a:gdLst/>
              <a:ahLst/>
              <a:cxnLst/>
              <a:rect l="l" t="t" r="r" b="b"/>
              <a:pathLst>
                <a:path w="33574" h="25222" extrusionOk="0">
                  <a:moveTo>
                    <a:pt x="32291" y="1"/>
                  </a:moveTo>
                  <a:lnTo>
                    <a:pt x="1" y="23463"/>
                  </a:lnTo>
                  <a:lnTo>
                    <a:pt x="1277" y="25222"/>
                  </a:lnTo>
                  <a:lnTo>
                    <a:pt x="33574" y="1759"/>
                  </a:lnTo>
                  <a:lnTo>
                    <a:pt x="3229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5011;p83">
              <a:extLst>
                <a:ext uri="{FF2B5EF4-FFF2-40B4-BE49-F238E27FC236}">
                  <a16:creationId xmlns:a16="http://schemas.microsoft.com/office/drawing/2014/main" id="{F79B790F-8EFD-3E00-7569-E1344ABEBFC9}"/>
                </a:ext>
              </a:extLst>
            </p:cNvPr>
            <p:cNvSpPr/>
            <p:nvPr/>
          </p:nvSpPr>
          <p:spPr>
            <a:xfrm>
              <a:off x="6240475" y="3130600"/>
              <a:ext cx="1137100" cy="1432800"/>
            </a:xfrm>
            <a:custGeom>
              <a:avLst/>
              <a:gdLst/>
              <a:ahLst/>
              <a:cxnLst/>
              <a:rect l="l" t="t" r="r" b="b"/>
              <a:pathLst>
                <a:path w="45484" h="57312" extrusionOk="0">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5012;p83">
              <a:extLst>
                <a:ext uri="{FF2B5EF4-FFF2-40B4-BE49-F238E27FC236}">
                  <a16:creationId xmlns:a16="http://schemas.microsoft.com/office/drawing/2014/main" id="{672DE180-895B-0C4A-A61A-76D4711E7D7D}"/>
                </a:ext>
              </a:extLst>
            </p:cNvPr>
            <p:cNvSpPr/>
            <p:nvPr/>
          </p:nvSpPr>
          <p:spPr>
            <a:xfrm>
              <a:off x="5243900" y="1696775"/>
              <a:ext cx="1764175" cy="1777475"/>
            </a:xfrm>
            <a:custGeom>
              <a:avLst/>
              <a:gdLst/>
              <a:ahLst/>
              <a:cxnLst/>
              <a:rect l="l" t="t" r="r" b="b"/>
              <a:pathLst>
                <a:path w="70567" h="71099" extrusionOk="0">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5013;p83">
              <a:extLst>
                <a:ext uri="{FF2B5EF4-FFF2-40B4-BE49-F238E27FC236}">
                  <a16:creationId xmlns:a16="http://schemas.microsoft.com/office/drawing/2014/main" id="{1F95B097-5EDD-7627-D04B-31F6E6C6DBF3}"/>
                </a:ext>
              </a:extLst>
            </p:cNvPr>
            <p:cNvSpPr/>
            <p:nvPr/>
          </p:nvSpPr>
          <p:spPr>
            <a:xfrm>
              <a:off x="3812150" y="1151100"/>
              <a:ext cx="1896075" cy="1245900"/>
            </a:xfrm>
            <a:custGeom>
              <a:avLst/>
              <a:gdLst/>
              <a:ahLst/>
              <a:cxnLst/>
              <a:rect l="l" t="t" r="r" b="b"/>
              <a:pathLst>
                <a:path w="75843" h="49836" extrusionOk="0">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5014;p83">
              <a:extLst>
                <a:ext uri="{FF2B5EF4-FFF2-40B4-BE49-F238E27FC236}">
                  <a16:creationId xmlns:a16="http://schemas.microsoft.com/office/drawing/2014/main" id="{A94536BE-5D7C-C1B0-09B3-BA5493F88A1D}"/>
                </a:ext>
              </a:extLst>
            </p:cNvPr>
            <p:cNvSpPr/>
            <p:nvPr/>
          </p:nvSpPr>
          <p:spPr>
            <a:xfrm>
              <a:off x="1910550" y="1151100"/>
              <a:ext cx="1901625" cy="1244175"/>
            </a:xfrm>
            <a:custGeom>
              <a:avLst/>
              <a:gdLst/>
              <a:ahLst/>
              <a:cxnLst/>
              <a:rect l="l" t="t" r="r" b="b"/>
              <a:pathLst>
                <a:path w="76065" h="49767" extrusionOk="0">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5015;p83">
              <a:extLst>
                <a:ext uri="{FF2B5EF4-FFF2-40B4-BE49-F238E27FC236}">
                  <a16:creationId xmlns:a16="http://schemas.microsoft.com/office/drawing/2014/main" id="{4C2B8F2A-2635-7035-1873-F8731AFDBCE3}"/>
                </a:ext>
              </a:extLst>
            </p:cNvPr>
            <p:cNvSpPr/>
            <p:nvPr/>
          </p:nvSpPr>
          <p:spPr>
            <a:xfrm>
              <a:off x="608475" y="1694725"/>
              <a:ext cx="1766425" cy="1778150"/>
            </a:xfrm>
            <a:custGeom>
              <a:avLst/>
              <a:gdLst/>
              <a:ahLst/>
              <a:cxnLst/>
              <a:rect l="l" t="t" r="r" b="b"/>
              <a:pathLst>
                <a:path w="70657" h="71126" extrusionOk="0">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5016;p83">
              <a:extLst>
                <a:ext uri="{FF2B5EF4-FFF2-40B4-BE49-F238E27FC236}">
                  <a16:creationId xmlns:a16="http://schemas.microsoft.com/office/drawing/2014/main" id="{AD2009CE-9610-09BF-9D64-96B29BA61CEC}"/>
                </a:ext>
              </a:extLst>
            </p:cNvPr>
            <p:cNvSpPr/>
            <p:nvPr/>
          </p:nvSpPr>
          <p:spPr>
            <a:xfrm>
              <a:off x="238125" y="3129050"/>
              <a:ext cx="1137975" cy="1434175"/>
            </a:xfrm>
            <a:custGeom>
              <a:avLst/>
              <a:gdLst/>
              <a:ahLst/>
              <a:cxnLst/>
              <a:rect l="l" t="t" r="r" b="b"/>
              <a:pathLst>
                <a:path w="45519" h="57367" extrusionOk="0">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5017;p83">
              <a:extLst>
                <a:ext uri="{FF2B5EF4-FFF2-40B4-BE49-F238E27FC236}">
                  <a16:creationId xmlns:a16="http://schemas.microsoft.com/office/drawing/2014/main" id="{A275BB4E-FEA8-8409-D26A-784E961A3FEC}"/>
                </a:ext>
              </a:extLst>
            </p:cNvPr>
            <p:cNvSpPr/>
            <p:nvPr/>
          </p:nvSpPr>
          <p:spPr>
            <a:xfrm>
              <a:off x="1924656" y="1941325"/>
              <a:ext cx="3773110" cy="1646329"/>
            </a:xfrm>
            <a:custGeom>
              <a:avLst/>
              <a:gdLst/>
              <a:ahLst/>
              <a:cxnLst/>
              <a:rect l="l" t="t" r="r" b="b"/>
              <a:pathLst>
                <a:path w="148183" h="64657" extrusionOk="0">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5018;p83">
              <a:extLst>
                <a:ext uri="{FF2B5EF4-FFF2-40B4-BE49-F238E27FC236}">
                  <a16:creationId xmlns:a16="http://schemas.microsoft.com/office/drawing/2014/main" id="{2133165D-4FCD-AA69-D3E0-E94408A430F9}"/>
                </a:ext>
              </a:extLst>
            </p:cNvPr>
            <p:cNvSpPr/>
            <p:nvPr/>
          </p:nvSpPr>
          <p:spPr>
            <a:xfrm>
              <a:off x="1028863" y="2678027"/>
              <a:ext cx="1805597" cy="1885320"/>
            </a:xfrm>
            <a:custGeom>
              <a:avLst/>
              <a:gdLst/>
              <a:ahLst/>
              <a:cxnLst/>
              <a:rect l="l" t="t" r="r" b="b"/>
              <a:pathLst>
                <a:path w="70912" h="74043" extrusionOk="0">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5019;p83">
              <a:extLst>
                <a:ext uri="{FF2B5EF4-FFF2-40B4-BE49-F238E27FC236}">
                  <a16:creationId xmlns:a16="http://schemas.microsoft.com/office/drawing/2014/main" id="{AEFD962C-AEDE-8C83-A9A5-F366D27C406F}"/>
                </a:ext>
              </a:extLst>
            </p:cNvPr>
            <p:cNvSpPr/>
            <p:nvPr/>
          </p:nvSpPr>
          <p:spPr>
            <a:xfrm>
              <a:off x="4792190" y="2679937"/>
              <a:ext cx="1798951" cy="1883410"/>
            </a:xfrm>
            <a:custGeom>
              <a:avLst/>
              <a:gdLst/>
              <a:ahLst/>
              <a:cxnLst/>
              <a:rect l="l" t="t" r="r" b="b"/>
              <a:pathLst>
                <a:path w="70651" h="73968" extrusionOk="0">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228063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CA064-0BFE-DD42-1DFD-AB0F2A1A9FF7}"/>
            </a:ext>
          </a:extLst>
        </p:cNvPr>
        <p:cNvGrpSpPr/>
        <p:nvPr/>
      </p:nvGrpSpPr>
      <p:grpSpPr>
        <a:xfrm>
          <a:off x="0" y="0"/>
          <a:ext cx="0" cy="0"/>
          <a:chOff x="0" y="0"/>
          <a:chExt cx="0" cy="0"/>
        </a:xfrm>
      </p:grpSpPr>
      <p:sp>
        <p:nvSpPr>
          <p:cNvPr id="3" name="AutoShape 4" descr="Is Cred Planning to Launch Co-Branded Credit Cards?">
            <a:extLst>
              <a:ext uri="{FF2B5EF4-FFF2-40B4-BE49-F238E27FC236}">
                <a16:creationId xmlns:a16="http://schemas.microsoft.com/office/drawing/2014/main" id="{0087B3CA-6C95-5A95-985C-1F4136A783EF}"/>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4FEF1674-5BD9-98D0-1AC3-F5DD8713AFF8}"/>
              </a:ext>
            </a:extLst>
          </p:cNvPr>
          <p:cNvPicPr>
            <a:picLocks noChangeAspect="1"/>
          </p:cNvPicPr>
          <p:nvPr/>
        </p:nvPicPr>
        <p:blipFill>
          <a:blip r:embed="rId2"/>
          <a:stretch>
            <a:fillRect/>
          </a:stretch>
        </p:blipFill>
        <p:spPr>
          <a:xfrm>
            <a:off x="0" y="0"/>
            <a:ext cx="2803208" cy="5143500"/>
          </a:xfrm>
          <a:prstGeom prst="rect">
            <a:avLst/>
          </a:prstGeom>
        </p:spPr>
      </p:pic>
      <p:pic>
        <p:nvPicPr>
          <p:cNvPr id="7" name="Picture 6">
            <a:extLst>
              <a:ext uri="{FF2B5EF4-FFF2-40B4-BE49-F238E27FC236}">
                <a16:creationId xmlns:a16="http://schemas.microsoft.com/office/drawing/2014/main" id="{046EBF96-B0A7-4731-AB25-3A7E6D8D7B1B}"/>
              </a:ext>
            </a:extLst>
          </p:cNvPr>
          <p:cNvPicPr>
            <a:picLocks noChangeAspect="1"/>
          </p:cNvPicPr>
          <p:nvPr/>
        </p:nvPicPr>
        <p:blipFill>
          <a:blip r:embed="rId3"/>
          <a:stretch>
            <a:fillRect/>
          </a:stretch>
        </p:blipFill>
        <p:spPr>
          <a:xfrm>
            <a:off x="2889166" y="39369"/>
            <a:ext cx="2828910" cy="2025905"/>
          </a:xfrm>
          <a:prstGeom prst="rect">
            <a:avLst/>
          </a:prstGeom>
        </p:spPr>
      </p:pic>
      <p:pic>
        <p:nvPicPr>
          <p:cNvPr id="9" name="Picture 8">
            <a:extLst>
              <a:ext uri="{FF2B5EF4-FFF2-40B4-BE49-F238E27FC236}">
                <a16:creationId xmlns:a16="http://schemas.microsoft.com/office/drawing/2014/main" id="{A7C5A164-8D0B-D764-EC1C-B6880F90543C}"/>
              </a:ext>
            </a:extLst>
          </p:cNvPr>
          <p:cNvPicPr>
            <a:picLocks noChangeAspect="1"/>
          </p:cNvPicPr>
          <p:nvPr/>
        </p:nvPicPr>
        <p:blipFill>
          <a:blip r:embed="rId4"/>
          <a:stretch>
            <a:fillRect/>
          </a:stretch>
        </p:blipFill>
        <p:spPr>
          <a:xfrm>
            <a:off x="2919187" y="2164591"/>
            <a:ext cx="3000826" cy="2025904"/>
          </a:xfrm>
          <a:prstGeom prst="rect">
            <a:avLst/>
          </a:prstGeom>
        </p:spPr>
      </p:pic>
      <p:pic>
        <p:nvPicPr>
          <p:cNvPr id="11" name="Picture 10">
            <a:extLst>
              <a:ext uri="{FF2B5EF4-FFF2-40B4-BE49-F238E27FC236}">
                <a16:creationId xmlns:a16="http://schemas.microsoft.com/office/drawing/2014/main" id="{A04618B6-0249-67C8-0BBD-6EC6A3760D15}"/>
              </a:ext>
            </a:extLst>
          </p:cNvPr>
          <p:cNvPicPr>
            <a:picLocks noChangeAspect="1"/>
          </p:cNvPicPr>
          <p:nvPr/>
        </p:nvPicPr>
        <p:blipFill>
          <a:blip r:embed="rId5"/>
          <a:stretch>
            <a:fillRect/>
          </a:stretch>
        </p:blipFill>
        <p:spPr>
          <a:xfrm>
            <a:off x="5718076" y="39369"/>
            <a:ext cx="3439005" cy="1486107"/>
          </a:xfrm>
          <a:prstGeom prst="rect">
            <a:avLst/>
          </a:prstGeom>
        </p:spPr>
      </p:pic>
    </p:spTree>
    <p:extLst>
      <p:ext uri="{BB962C8B-B14F-4D97-AF65-F5344CB8AC3E}">
        <p14:creationId xmlns:p14="http://schemas.microsoft.com/office/powerpoint/2010/main" val="3758442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C0E6C-FF64-075A-8C83-46AEA04587B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1BB4ED1-A86B-5EEE-2236-23C947483E22}"/>
              </a:ext>
            </a:extLst>
          </p:cNvPr>
          <p:cNvSpPr txBox="1"/>
          <p:nvPr/>
        </p:nvSpPr>
        <p:spPr>
          <a:xfrm>
            <a:off x="548566" y="489407"/>
            <a:ext cx="6093177" cy="4708981"/>
          </a:xfrm>
          <a:prstGeom prst="rect">
            <a:avLst/>
          </a:prstGeom>
          <a:blipFill dpi="0" rotWithShape="1">
            <a:blip r:embed="rId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a:blipFill>
        </p:spPr>
        <p:txBody>
          <a:bodyPr wrap="square" rtlCol="0">
            <a:spAutoFit/>
          </a:bodyPr>
          <a:lstStyle/>
          <a:p>
            <a:r>
              <a:rPr lang="en-US" sz="1500" b="1" dirty="0"/>
              <a:t>2. Strong Brand Identity &amp; Reputation</a:t>
            </a:r>
          </a:p>
          <a:p>
            <a:pPr marL="285750" indent="-285750">
              <a:buFont typeface="Arial" panose="020B0604020202020204" pitchFamily="34" charset="0"/>
              <a:buChar char="•"/>
            </a:pPr>
            <a:r>
              <a:rPr lang="en-US" sz="1500" b="1" dirty="0"/>
              <a:t>What it is:</a:t>
            </a:r>
            <a:br>
              <a:rPr lang="en-US" sz="1500" dirty="0"/>
            </a:br>
            <a:r>
              <a:rPr lang="en-US" sz="1500" dirty="0"/>
              <a:t>CRED has built a distinct, premium-feel brand that appeals to an urban, digitally savvy audience — especially millennials and Gen Z with high creditworthiness.</a:t>
            </a:r>
          </a:p>
          <a:p>
            <a:pPr marL="285750" indent="-285750">
              <a:buFont typeface="Arial" panose="020B0604020202020204" pitchFamily="34" charset="0"/>
              <a:buChar char="•"/>
            </a:pPr>
            <a:r>
              <a:rPr lang="en-US" sz="1500" b="1" dirty="0"/>
              <a:t>Why it stands out:</a:t>
            </a:r>
            <a:endParaRPr lang="en-US" sz="1500" dirty="0"/>
          </a:p>
          <a:p>
            <a:pPr marL="285750" indent="-285750">
              <a:buFont typeface="Arial" panose="020B0604020202020204" pitchFamily="34" charset="0"/>
              <a:buChar char="•"/>
            </a:pPr>
            <a:r>
              <a:rPr lang="en-US" sz="1500" b="1" dirty="0"/>
              <a:t>Marketing excellence:</a:t>
            </a:r>
            <a:r>
              <a:rPr lang="en-US" sz="1500" dirty="0"/>
              <a:t> Campaigns like </a:t>
            </a:r>
            <a:r>
              <a:rPr lang="en-US" sz="1500" i="1" dirty="0"/>
              <a:t>"Not Everyone Gets It"</a:t>
            </a:r>
            <a:r>
              <a:rPr lang="en-US" sz="1500" dirty="0"/>
              <a:t> and the viral Rahul Dravid “Indiranagar ka Gunda” ad created massive buzz. Their humor and surprise factor make CRED memorable.</a:t>
            </a:r>
            <a:r>
              <a:rPr lang="en-US" sz="1500" b="1" dirty="0"/>
              <a:t> :</a:t>
            </a:r>
            <a:r>
              <a:rPr lang="en-US" sz="1500" dirty="0"/>
              <a:t> CRED’s ads feature unexpected celebrity pairings in offbeat situations — this positions the brand as culturally sharp and socially relevant</a:t>
            </a:r>
          </a:p>
          <a:p>
            <a:pPr marL="285750" indent="-285750">
              <a:buFont typeface="Arial" panose="020B0604020202020204" pitchFamily="34" charset="0"/>
              <a:buChar char="•"/>
            </a:pPr>
            <a:r>
              <a:rPr lang="en-US" sz="1500" b="1" dirty="0"/>
              <a:t>Targeting a High-Quality User Base: </a:t>
            </a:r>
            <a:r>
              <a:rPr lang="en-US" sz="1500" dirty="0"/>
              <a:t>CRED's strength lies in its focus on users with excellent credit scores, building a premium user base. This selective approach cultivates a financially responsible community, appealing to advertisers. As of late 2024, CRED boasts a user base with an average credit score of 750+, indicating financial stability. This attracts businesses seeking high-value customers, fueling CRED's revenue streams.</a:t>
            </a:r>
          </a:p>
          <a:p>
            <a:endParaRPr lang="en-IN" sz="1500" dirty="0">
              <a:latin typeface="Aptos Display" panose="020B0004020202020204" pitchFamily="34" charset="0"/>
            </a:endParaRPr>
          </a:p>
        </p:txBody>
      </p:sp>
      <p:grpSp>
        <p:nvGrpSpPr>
          <p:cNvPr id="2" name="Google Shape;5020;p83">
            <a:extLst>
              <a:ext uri="{FF2B5EF4-FFF2-40B4-BE49-F238E27FC236}">
                <a16:creationId xmlns:a16="http://schemas.microsoft.com/office/drawing/2014/main" id="{0DCB29DE-4776-51A4-6410-CB8EAE91F2F4}"/>
              </a:ext>
            </a:extLst>
          </p:cNvPr>
          <p:cNvGrpSpPr/>
          <p:nvPr/>
        </p:nvGrpSpPr>
        <p:grpSpPr>
          <a:xfrm>
            <a:off x="7870270" y="595285"/>
            <a:ext cx="985357" cy="585764"/>
            <a:chOff x="5145061" y="2881789"/>
            <a:chExt cx="1107641" cy="658458"/>
          </a:xfrm>
        </p:grpSpPr>
        <p:grpSp>
          <p:nvGrpSpPr>
            <p:cNvPr id="3" name="Google Shape;5021;p83">
              <a:extLst>
                <a:ext uri="{FF2B5EF4-FFF2-40B4-BE49-F238E27FC236}">
                  <a16:creationId xmlns:a16="http://schemas.microsoft.com/office/drawing/2014/main" id="{F2FB9A23-555A-440D-751D-5FC829E559E5}"/>
                </a:ext>
              </a:extLst>
            </p:cNvPr>
            <p:cNvGrpSpPr/>
            <p:nvPr/>
          </p:nvGrpSpPr>
          <p:grpSpPr>
            <a:xfrm>
              <a:off x="5722989" y="3244587"/>
              <a:ext cx="529713" cy="295659"/>
              <a:chOff x="5722989" y="3244587"/>
              <a:chExt cx="529713" cy="295659"/>
            </a:xfrm>
          </p:grpSpPr>
          <p:sp>
            <p:nvSpPr>
              <p:cNvPr id="78" name="Google Shape;5022;p83">
                <a:extLst>
                  <a:ext uri="{FF2B5EF4-FFF2-40B4-BE49-F238E27FC236}">
                    <a16:creationId xmlns:a16="http://schemas.microsoft.com/office/drawing/2014/main" id="{DF854B96-8C3D-2C0E-0E16-8103A2179DD8}"/>
                  </a:ext>
                </a:extLst>
              </p:cNvPr>
              <p:cNvSpPr/>
              <p:nvPr/>
            </p:nvSpPr>
            <p:spPr>
              <a:xfrm>
                <a:off x="5722989" y="3244587"/>
                <a:ext cx="341346" cy="295659"/>
              </a:xfrm>
              <a:custGeom>
                <a:avLst/>
                <a:gdLst/>
                <a:ahLst/>
                <a:cxnLst/>
                <a:rect l="l" t="t" r="r" b="b"/>
                <a:pathLst>
                  <a:path w="2576195" h="2231390" extrusionOk="0">
                    <a:moveTo>
                      <a:pt x="1288021" y="0"/>
                    </a:moveTo>
                    <a:lnTo>
                      <a:pt x="0" y="2230932"/>
                    </a:lnTo>
                    <a:lnTo>
                      <a:pt x="2576042" y="2230932"/>
                    </a:lnTo>
                    <a:lnTo>
                      <a:pt x="1288021" y="0"/>
                    </a:lnTo>
                    <a:close/>
                  </a:path>
                </a:pathLst>
              </a:custGeom>
              <a:solidFill>
                <a:srgbClr val="869FB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79" name="Google Shape;5023;p83">
                <a:extLst>
                  <a:ext uri="{FF2B5EF4-FFF2-40B4-BE49-F238E27FC236}">
                    <a16:creationId xmlns:a16="http://schemas.microsoft.com/office/drawing/2014/main" id="{2BA21630-19F2-4358-71B1-E3807E3BD600}"/>
                  </a:ext>
                </a:extLst>
              </p:cNvPr>
              <p:cNvSpPr/>
              <p:nvPr/>
            </p:nvSpPr>
            <p:spPr>
              <a:xfrm>
                <a:off x="6035543" y="3298113"/>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869F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69" name="Google Shape;5024;p83">
              <a:extLst>
                <a:ext uri="{FF2B5EF4-FFF2-40B4-BE49-F238E27FC236}">
                  <a16:creationId xmlns:a16="http://schemas.microsoft.com/office/drawing/2014/main" id="{EABF306A-54AF-1D28-B06E-0C191C5E9F8B}"/>
                </a:ext>
              </a:extLst>
            </p:cNvPr>
            <p:cNvGrpSpPr/>
            <p:nvPr/>
          </p:nvGrpSpPr>
          <p:grpSpPr>
            <a:xfrm>
              <a:off x="5145061" y="3244587"/>
              <a:ext cx="536807" cy="295659"/>
              <a:chOff x="5145061" y="3244587"/>
              <a:chExt cx="536807" cy="295659"/>
            </a:xfrm>
          </p:grpSpPr>
          <p:sp>
            <p:nvSpPr>
              <p:cNvPr id="76" name="Google Shape;5025;p83">
                <a:extLst>
                  <a:ext uri="{FF2B5EF4-FFF2-40B4-BE49-F238E27FC236}">
                    <a16:creationId xmlns:a16="http://schemas.microsoft.com/office/drawing/2014/main" id="{95BE9AF5-CAEB-8BB9-3909-08CF76C93590}"/>
                  </a:ext>
                </a:extLst>
              </p:cNvPr>
              <p:cNvSpPr/>
              <p:nvPr/>
            </p:nvSpPr>
            <p:spPr>
              <a:xfrm>
                <a:off x="5340522" y="3244587"/>
                <a:ext cx="341346" cy="295659"/>
              </a:xfrm>
              <a:custGeom>
                <a:avLst/>
                <a:gdLst/>
                <a:ahLst/>
                <a:cxnLst/>
                <a:rect l="l" t="t" r="r" b="b"/>
                <a:pathLst>
                  <a:path w="2576195" h="2231390" extrusionOk="0">
                    <a:moveTo>
                      <a:pt x="1288034" y="0"/>
                    </a:moveTo>
                    <a:lnTo>
                      <a:pt x="0" y="2230920"/>
                    </a:lnTo>
                    <a:lnTo>
                      <a:pt x="2576055" y="2230920"/>
                    </a:lnTo>
                    <a:lnTo>
                      <a:pt x="1288034" y="0"/>
                    </a:lnTo>
                    <a:close/>
                  </a:path>
                </a:pathLst>
              </a:custGeom>
              <a:solidFill>
                <a:srgbClr val="5F7D9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77" name="Google Shape;5026;p83">
                <a:extLst>
                  <a:ext uri="{FF2B5EF4-FFF2-40B4-BE49-F238E27FC236}">
                    <a16:creationId xmlns:a16="http://schemas.microsoft.com/office/drawing/2014/main" id="{86DE6107-01D0-FCF1-7040-28C741028A46}"/>
                  </a:ext>
                </a:extLst>
              </p:cNvPr>
              <p:cNvSpPr/>
              <p:nvPr/>
            </p:nvSpPr>
            <p:spPr>
              <a:xfrm flipH="1">
                <a:off x="5145061" y="3298599"/>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5F7D9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70" name="Google Shape;5027;p83">
              <a:extLst>
                <a:ext uri="{FF2B5EF4-FFF2-40B4-BE49-F238E27FC236}">
                  <a16:creationId xmlns:a16="http://schemas.microsoft.com/office/drawing/2014/main" id="{76F7ADE2-3AEF-8E61-4263-82366343A2B9}"/>
                </a:ext>
              </a:extLst>
            </p:cNvPr>
            <p:cNvGrpSpPr/>
            <p:nvPr/>
          </p:nvGrpSpPr>
          <p:grpSpPr>
            <a:xfrm>
              <a:off x="5341327" y="2898245"/>
              <a:ext cx="532309" cy="614891"/>
              <a:chOff x="5341327" y="2898245"/>
              <a:chExt cx="532309" cy="614891"/>
            </a:xfrm>
          </p:grpSpPr>
          <p:sp>
            <p:nvSpPr>
              <p:cNvPr id="74" name="Google Shape;5028;p83">
                <a:extLst>
                  <a:ext uri="{FF2B5EF4-FFF2-40B4-BE49-F238E27FC236}">
                    <a16:creationId xmlns:a16="http://schemas.microsoft.com/office/drawing/2014/main" id="{22479257-08BD-99D4-FE30-64560AED6AE3}"/>
                  </a:ext>
                </a:extLst>
              </p:cNvPr>
              <p:cNvSpPr/>
              <p:nvPr/>
            </p:nvSpPr>
            <p:spPr>
              <a:xfrm>
                <a:off x="5532290" y="3217476"/>
                <a:ext cx="341346" cy="295659"/>
              </a:xfrm>
              <a:custGeom>
                <a:avLst/>
                <a:gdLst/>
                <a:ahLst/>
                <a:cxnLst/>
                <a:rect l="l" t="t" r="r" b="b"/>
                <a:pathLst>
                  <a:path w="2576195" h="2231390" extrusionOk="0">
                    <a:moveTo>
                      <a:pt x="2576042" y="0"/>
                    </a:moveTo>
                    <a:lnTo>
                      <a:pt x="0" y="0"/>
                    </a:lnTo>
                    <a:lnTo>
                      <a:pt x="1288021" y="2230920"/>
                    </a:lnTo>
                    <a:lnTo>
                      <a:pt x="2576042" y="0"/>
                    </a:lnTo>
                    <a:close/>
                  </a:path>
                </a:pathLst>
              </a:custGeom>
              <a:solidFill>
                <a:srgbClr val="E3E9E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75" name="Google Shape;5029;p83">
                <a:extLst>
                  <a:ext uri="{FF2B5EF4-FFF2-40B4-BE49-F238E27FC236}">
                    <a16:creationId xmlns:a16="http://schemas.microsoft.com/office/drawing/2014/main" id="{2AD3599B-56D1-9DFC-7AC7-2DD212A63772}"/>
                  </a:ext>
                </a:extLst>
              </p:cNvPr>
              <p:cNvSpPr/>
              <p:nvPr/>
            </p:nvSpPr>
            <p:spPr>
              <a:xfrm flipH="1">
                <a:off x="5341327" y="2898245"/>
                <a:ext cx="217159" cy="33450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E3E9E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71" name="Google Shape;5030;p83">
              <a:extLst>
                <a:ext uri="{FF2B5EF4-FFF2-40B4-BE49-F238E27FC236}">
                  <a16:creationId xmlns:a16="http://schemas.microsoft.com/office/drawing/2014/main" id="{750871EB-D886-D534-3A04-FBB3E7A932E2}"/>
                </a:ext>
              </a:extLst>
            </p:cNvPr>
            <p:cNvGrpSpPr/>
            <p:nvPr/>
          </p:nvGrpSpPr>
          <p:grpSpPr>
            <a:xfrm>
              <a:off x="5532290" y="2881789"/>
              <a:ext cx="620516" cy="305456"/>
              <a:chOff x="5532290" y="2881789"/>
              <a:chExt cx="620516" cy="305456"/>
            </a:xfrm>
          </p:grpSpPr>
          <p:sp>
            <p:nvSpPr>
              <p:cNvPr id="72" name="Google Shape;5031;p83">
                <a:extLst>
                  <a:ext uri="{FF2B5EF4-FFF2-40B4-BE49-F238E27FC236}">
                    <a16:creationId xmlns:a16="http://schemas.microsoft.com/office/drawing/2014/main" id="{F00E5F5C-98E0-F65C-1EC9-B7DBC76C82DA}"/>
                  </a:ext>
                </a:extLst>
              </p:cNvPr>
              <p:cNvSpPr/>
              <p:nvPr/>
            </p:nvSpPr>
            <p:spPr>
              <a:xfrm>
                <a:off x="5532290" y="2891586"/>
                <a:ext cx="341346" cy="295659"/>
              </a:xfrm>
              <a:custGeom>
                <a:avLst/>
                <a:gdLst/>
                <a:ahLst/>
                <a:cxnLst/>
                <a:rect l="l" t="t" r="r" b="b"/>
                <a:pathLst>
                  <a:path w="2576195" h="2231390" extrusionOk="0">
                    <a:moveTo>
                      <a:pt x="1288021" y="0"/>
                    </a:moveTo>
                    <a:lnTo>
                      <a:pt x="0" y="2230920"/>
                    </a:lnTo>
                    <a:lnTo>
                      <a:pt x="2576042" y="2230920"/>
                    </a:lnTo>
                    <a:lnTo>
                      <a:pt x="1288021" y="0"/>
                    </a:lnTo>
                    <a:close/>
                  </a:path>
                </a:pathLst>
              </a:custGeom>
              <a:solidFill>
                <a:srgbClr val="435D7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73" name="Google Shape;5032;p83">
                <a:extLst>
                  <a:ext uri="{FF2B5EF4-FFF2-40B4-BE49-F238E27FC236}">
                    <a16:creationId xmlns:a16="http://schemas.microsoft.com/office/drawing/2014/main" id="{E3D63BB8-AA53-5474-B986-A9BC4AAE43D7}"/>
                  </a:ext>
                </a:extLst>
              </p:cNvPr>
              <p:cNvSpPr/>
              <p:nvPr/>
            </p:nvSpPr>
            <p:spPr>
              <a:xfrm>
                <a:off x="5837311" y="2881789"/>
                <a:ext cx="315495" cy="288369"/>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435D7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grpSp>
        <p:nvGrpSpPr>
          <p:cNvPr id="80" name="Google Shape;5664;p85">
            <a:extLst>
              <a:ext uri="{FF2B5EF4-FFF2-40B4-BE49-F238E27FC236}">
                <a16:creationId xmlns:a16="http://schemas.microsoft.com/office/drawing/2014/main" id="{2F97AABC-1BC0-E788-B821-9C2074B11208}"/>
              </a:ext>
            </a:extLst>
          </p:cNvPr>
          <p:cNvGrpSpPr/>
          <p:nvPr/>
        </p:nvGrpSpPr>
        <p:grpSpPr>
          <a:xfrm>
            <a:off x="2678976" y="1629640"/>
            <a:ext cx="340204" cy="298116"/>
            <a:chOff x="899850" y="871450"/>
            <a:chExt cx="483175" cy="423400"/>
          </a:xfrm>
          <a:solidFill>
            <a:schemeClr val="tx1"/>
          </a:solidFill>
        </p:grpSpPr>
        <p:sp>
          <p:nvSpPr>
            <p:cNvPr id="81" name="Google Shape;5665;p85">
              <a:extLst>
                <a:ext uri="{FF2B5EF4-FFF2-40B4-BE49-F238E27FC236}">
                  <a16:creationId xmlns:a16="http://schemas.microsoft.com/office/drawing/2014/main" id="{C394CBB7-400A-C04F-971D-E7356E16E3E8}"/>
                </a:ext>
              </a:extLst>
            </p:cNvPr>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2" name="Google Shape;5666;p85">
              <a:extLst>
                <a:ext uri="{FF2B5EF4-FFF2-40B4-BE49-F238E27FC236}">
                  <a16:creationId xmlns:a16="http://schemas.microsoft.com/office/drawing/2014/main" id="{FDBF355A-A2BC-65DF-7EE6-79C3347BB683}"/>
                </a:ext>
              </a:extLst>
            </p:cNvPr>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3" name="Google Shape;5667;p85">
              <a:extLst>
                <a:ext uri="{FF2B5EF4-FFF2-40B4-BE49-F238E27FC236}">
                  <a16:creationId xmlns:a16="http://schemas.microsoft.com/office/drawing/2014/main" id="{2777461A-5FAE-A38A-B519-CDC4C22CC19A}"/>
                </a:ext>
              </a:extLst>
            </p:cNvPr>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84" name="Google Shape;5668;p85">
              <a:extLst>
                <a:ext uri="{FF2B5EF4-FFF2-40B4-BE49-F238E27FC236}">
                  <a16:creationId xmlns:a16="http://schemas.microsoft.com/office/drawing/2014/main" id="{CAE1974C-BD9E-4DDC-89E5-5AF829FF58CF}"/>
                </a:ext>
              </a:extLst>
            </p:cNvPr>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85" name="Google Shape;6956;p88">
            <a:extLst>
              <a:ext uri="{FF2B5EF4-FFF2-40B4-BE49-F238E27FC236}">
                <a16:creationId xmlns:a16="http://schemas.microsoft.com/office/drawing/2014/main" id="{1E970931-6763-3792-C107-3189182F8AC9}"/>
              </a:ext>
            </a:extLst>
          </p:cNvPr>
          <p:cNvGrpSpPr/>
          <p:nvPr/>
        </p:nvGrpSpPr>
        <p:grpSpPr>
          <a:xfrm>
            <a:off x="6657229" y="2249018"/>
            <a:ext cx="354586" cy="352675"/>
            <a:chOff x="-35482200" y="3561225"/>
            <a:chExt cx="292225" cy="290650"/>
          </a:xfrm>
          <a:solidFill>
            <a:schemeClr val="tx1"/>
          </a:solidFill>
        </p:grpSpPr>
        <p:sp>
          <p:nvSpPr>
            <p:cNvPr id="86" name="Google Shape;6957;p88">
              <a:extLst>
                <a:ext uri="{FF2B5EF4-FFF2-40B4-BE49-F238E27FC236}">
                  <a16:creationId xmlns:a16="http://schemas.microsoft.com/office/drawing/2014/main" id="{A77F5216-F3B5-EB4E-BA81-ABA6954DA9C1}"/>
                </a:ext>
              </a:extLst>
            </p:cNvPr>
            <p:cNvSpPr/>
            <p:nvPr/>
          </p:nvSpPr>
          <p:spPr>
            <a:xfrm>
              <a:off x="-35482200" y="3749475"/>
              <a:ext cx="292225" cy="102400"/>
            </a:xfrm>
            <a:custGeom>
              <a:avLst/>
              <a:gdLst/>
              <a:ahLst/>
              <a:cxnLst/>
              <a:rect l="l" t="t" r="r" b="b"/>
              <a:pathLst>
                <a:path w="11689" h="4096" extrusionOk="0">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6958;p88">
              <a:extLst>
                <a:ext uri="{FF2B5EF4-FFF2-40B4-BE49-F238E27FC236}">
                  <a16:creationId xmlns:a16="http://schemas.microsoft.com/office/drawing/2014/main" id="{21195133-0A93-EEDE-8430-3A2844866521}"/>
                </a:ext>
              </a:extLst>
            </p:cNvPr>
            <p:cNvSpPr/>
            <p:nvPr/>
          </p:nvSpPr>
          <p:spPr>
            <a:xfrm>
              <a:off x="-35371150" y="3561225"/>
              <a:ext cx="68550" cy="68550"/>
            </a:xfrm>
            <a:custGeom>
              <a:avLst/>
              <a:gdLst/>
              <a:ahLst/>
              <a:cxnLst/>
              <a:rect l="l" t="t" r="r" b="b"/>
              <a:pathLst>
                <a:path w="2742" h="2742" extrusionOk="0">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6959;p88">
              <a:extLst>
                <a:ext uri="{FF2B5EF4-FFF2-40B4-BE49-F238E27FC236}">
                  <a16:creationId xmlns:a16="http://schemas.microsoft.com/office/drawing/2014/main" id="{59EC5E5E-8A4C-03A3-75FC-51F4517D642D}"/>
                </a:ext>
              </a:extLst>
            </p:cNvPr>
            <p:cNvSpPr/>
            <p:nvPr/>
          </p:nvSpPr>
          <p:spPr>
            <a:xfrm>
              <a:off x="-35405025" y="3647075"/>
              <a:ext cx="136275" cy="119750"/>
            </a:xfrm>
            <a:custGeom>
              <a:avLst/>
              <a:gdLst/>
              <a:ahLst/>
              <a:cxnLst/>
              <a:rect l="l" t="t" r="r" b="b"/>
              <a:pathLst>
                <a:path w="5451" h="4790" extrusionOk="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493;p91">
            <a:extLst>
              <a:ext uri="{FF2B5EF4-FFF2-40B4-BE49-F238E27FC236}">
                <a16:creationId xmlns:a16="http://schemas.microsoft.com/office/drawing/2014/main" id="{825B08E6-5992-B091-E780-02822D4B95FD}"/>
              </a:ext>
            </a:extLst>
          </p:cNvPr>
          <p:cNvGrpSpPr/>
          <p:nvPr/>
        </p:nvGrpSpPr>
        <p:grpSpPr>
          <a:xfrm>
            <a:off x="6568481" y="1069432"/>
            <a:ext cx="421927" cy="419659"/>
            <a:chOff x="-6329100" y="3632100"/>
            <a:chExt cx="293025" cy="291450"/>
          </a:xfrm>
          <a:solidFill>
            <a:schemeClr val="tx1"/>
          </a:solidFill>
        </p:grpSpPr>
        <p:sp>
          <p:nvSpPr>
            <p:cNvPr id="90" name="Google Shape;8494;p91">
              <a:extLst>
                <a:ext uri="{FF2B5EF4-FFF2-40B4-BE49-F238E27FC236}">
                  <a16:creationId xmlns:a16="http://schemas.microsoft.com/office/drawing/2014/main" id="{54538DEB-F5D4-C87B-DB15-D8E81C209192}"/>
                </a:ext>
              </a:extLst>
            </p:cNvPr>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8495;p91">
              <a:extLst>
                <a:ext uri="{FF2B5EF4-FFF2-40B4-BE49-F238E27FC236}">
                  <a16:creationId xmlns:a16="http://schemas.microsoft.com/office/drawing/2014/main" id="{2B78C728-5D37-EE8A-804F-B1236C80B991}"/>
                </a:ext>
              </a:extLst>
            </p:cNvPr>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8496;p91">
              <a:extLst>
                <a:ext uri="{FF2B5EF4-FFF2-40B4-BE49-F238E27FC236}">
                  <a16:creationId xmlns:a16="http://schemas.microsoft.com/office/drawing/2014/main" id="{A38C0575-7B3A-0175-149C-48285A0423ED}"/>
                </a:ext>
              </a:extLst>
            </p:cNvPr>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6563;p87">
            <a:extLst>
              <a:ext uri="{FF2B5EF4-FFF2-40B4-BE49-F238E27FC236}">
                <a16:creationId xmlns:a16="http://schemas.microsoft.com/office/drawing/2014/main" id="{10B146CF-AEF7-26B7-E916-5F0F2592C3B7}"/>
              </a:ext>
            </a:extLst>
          </p:cNvPr>
          <p:cNvSpPr/>
          <p:nvPr/>
        </p:nvSpPr>
        <p:spPr>
          <a:xfrm>
            <a:off x="7025970" y="2290607"/>
            <a:ext cx="370009" cy="367724"/>
          </a:xfrm>
          <a:custGeom>
            <a:avLst/>
            <a:gdLst/>
            <a:ahLst/>
            <a:cxnLst/>
            <a:rect l="l" t="t" r="r" b="b"/>
            <a:pathLst>
              <a:path w="12792" h="12713" extrusionOk="0">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 name="Google Shape;6744;p87">
            <a:extLst>
              <a:ext uri="{FF2B5EF4-FFF2-40B4-BE49-F238E27FC236}">
                <a16:creationId xmlns:a16="http://schemas.microsoft.com/office/drawing/2014/main" id="{53303EC5-279F-0D0A-0BE1-A6FDA46B8CB4}"/>
              </a:ext>
            </a:extLst>
          </p:cNvPr>
          <p:cNvGrpSpPr/>
          <p:nvPr/>
        </p:nvGrpSpPr>
        <p:grpSpPr>
          <a:xfrm>
            <a:off x="6504573" y="3874405"/>
            <a:ext cx="626473" cy="582092"/>
            <a:chOff x="4991425" y="3234750"/>
            <a:chExt cx="296175" cy="297225"/>
          </a:xfrm>
          <a:solidFill>
            <a:schemeClr val="tx1"/>
          </a:solidFill>
        </p:grpSpPr>
        <p:sp>
          <p:nvSpPr>
            <p:cNvPr id="95" name="Google Shape;6745;p87">
              <a:extLst>
                <a:ext uri="{FF2B5EF4-FFF2-40B4-BE49-F238E27FC236}">
                  <a16:creationId xmlns:a16="http://schemas.microsoft.com/office/drawing/2014/main" id="{F2DA1A5D-1926-FEA8-5170-0A3B300DC10B}"/>
                </a:ext>
              </a:extLst>
            </p:cNvPr>
            <p:cNvSpPr/>
            <p:nvPr/>
          </p:nvSpPr>
          <p:spPr>
            <a:xfrm>
              <a:off x="5077275" y="3304450"/>
              <a:ext cx="122100" cy="99275"/>
            </a:xfrm>
            <a:custGeom>
              <a:avLst/>
              <a:gdLst/>
              <a:ahLst/>
              <a:cxnLst/>
              <a:rect l="l" t="t" r="r" b="b"/>
              <a:pathLst>
                <a:path w="4884" h="3971" extrusionOk="0">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6746;p87">
              <a:extLst>
                <a:ext uri="{FF2B5EF4-FFF2-40B4-BE49-F238E27FC236}">
                  <a16:creationId xmlns:a16="http://schemas.microsoft.com/office/drawing/2014/main" id="{C7936CA3-7C45-6438-802E-8D758BE025EC}"/>
                </a:ext>
              </a:extLst>
            </p:cNvPr>
            <p:cNvSpPr/>
            <p:nvPr/>
          </p:nvSpPr>
          <p:spPr>
            <a:xfrm>
              <a:off x="5121375" y="3339900"/>
              <a:ext cx="35475" cy="35475"/>
            </a:xfrm>
            <a:custGeom>
              <a:avLst/>
              <a:gdLst/>
              <a:ahLst/>
              <a:cxnLst/>
              <a:rect l="l" t="t" r="r" b="b"/>
              <a:pathLst>
                <a:path w="1419" h="1419" extrusionOk="0">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6747;p87">
              <a:extLst>
                <a:ext uri="{FF2B5EF4-FFF2-40B4-BE49-F238E27FC236}">
                  <a16:creationId xmlns:a16="http://schemas.microsoft.com/office/drawing/2014/main" id="{C958E4FA-852A-8170-DCD5-3BD4193244BA}"/>
                </a:ext>
              </a:extLst>
            </p:cNvPr>
            <p:cNvSpPr/>
            <p:nvPr/>
          </p:nvSpPr>
          <p:spPr>
            <a:xfrm>
              <a:off x="5009550" y="3234750"/>
              <a:ext cx="259150" cy="261125"/>
            </a:xfrm>
            <a:custGeom>
              <a:avLst/>
              <a:gdLst/>
              <a:ahLst/>
              <a:cxnLst/>
              <a:rect l="l" t="t" r="r" b="b"/>
              <a:pathLst>
                <a:path w="10366" h="10445" extrusionOk="0">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6748;p87">
              <a:extLst>
                <a:ext uri="{FF2B5EF4-FFF2-40B4-BE49-F238E27FC236}">
                  <a16:creationId xmlns:a16="http://schemas.microsoft.com/office/drawing/2014/main" id="{7F721E8F-FF5A-CE54-AF95-50DE6FD7E430}"/>
                </a:ext>
              </a:extLst>
            </p:cNvPr>
            <p:cNvSpPr/>
            <p:nvPr/>
          </p:nvSpPr>
          <p:spPr>
            <a:xfrm>
              <a:off x="5105625" y="3391900"/>
              <a:ext cx="66975" cy="34675"/>
            </a:xfrm>
            <a:custGeom>
              <a:avLst/>
              <a:gdLst/>
              <a:ahLst/>
              <a:cxnLst/>
              <a:rect l="l" t="t" r="r" b="b"/>
              <a:pathLst>
                <a:path w="2679" h="1387" extrusionOk="0">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6749;p87">
              <a:extLst>
                <a:ext uri="{FF2B5EF4-FFF2-40B4-BE49-F238E27FC236}">
                  <a16:creationId xmlns:a16="http://schemas.microsoft.com/office/drawing/2014/main" id="{AB82DC2E-FCE1-0BF6-AC28-DE37205D295D}"/>
                </a:ext>
              </a:extLst>
            </p:cNvPr>
            <p:cNvSpPr/>
            <p:nvPr/>
          </p:nvSpPr>
          <p:spPr>
            <a:xfrm>
              <a:off x="5192275" y="3443075"/>
              <a:ext cx="95325" cy="86975"/>
            </a:xfrm>
            <a:custGeom>
              <a:avLst/>
              <a:gdLst/>
              <a:ahLst/>
              <a:cxnLst/>
              <a:rect l="l" t="t" r="r" b="b"/>
              <a:pathLst>
                <a:path w="3813" h="3479" extrusionOk="0">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6750;p87">
              <a:extLst>
                <a:ext uri="{FF2B5EF4-FFF2-40B4-BE49-F238E27FC236}">
                  <a16:creationId xmlns:a16="http://schemas.microsoft.com/office/drawing/2014/main" id="{FAA1C165-2BC7-FDFC-4D46-E517C100C10C}"/>
                </a:ext>
              </a:extLst>
            </p:cNvPr>
            <p:cNvSpPr/>
            <p:nvPr/>
          </p:nvSpPr>
          <p:spPr>
            <a:xfrm>
              <a:off x="4991425" y="3444650"/>
              <a:ext cx="95325" cy="87325"/>
            </a:xfrm>
            <a:custGeom>
              <a:avLst/>
              <a:gdLst/>
              <a:ahLst/>
              <a:cxnLst/>
              <a:rect l="l" t="t" r="r" b="b"/>
              <a:pathLst>
                <a:path w="3813" h="3493" extrusionOk="0">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64979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9"/>
        <p:cNvGrpSpPr/>
        <p:nvPr/>
      </p:nvGrpSpPr>
      <p:grpSpPr>
        <a:xfrm>
          <a:off x="0" y="0"/>
          <a:ext cx="0" cy="0"/>
          <a:chOff x="0" y="0"/>
          <a:chExt cx="0" cy="0"/>
        </a:xfrm>
      </p:grpSpPr>
      <p:sp>
        <p:nvSpPr>
          <p:cNvPr id="540" name="Google Shape;540;p51"/>
          <p:cNvSpPr txBox="1">
            <a:spLocks noGrp="1"/>
          </p:cNvSpPr>
          <p:nvPr>
            <p:ph type="body" idx="1"/>
          </p:nvPr>
        </p:nvSpPr>
        <p:spPr>
          <a:xfrm>
            <a:off x="2033550" y="3608825"/>
            <a:ext cx="5076900" cy="1002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 picture is worth a thousand </a:t>
            </a:r>
            <a:r>
              <a:rPr lang="en" dirty="0">
                <a:solidFill>
                  <a:schemeClr val="accent2"/>
                </a:solidFill>
              </a:rPr>
              <a:t>words</a:t>
            </a:r>
            <a:endParaRPr dirty="0">
              <a:solidFill>
                <a:schemeClr val="accent2"/>
              </a:solidFill>
            </a:endParaRPr>
          </a:p>
        </p:txBody>
      </p:sp>
      <p:pic>
        <p:nvPicPr>
          <p:cNvPr id="3" name="Picture 2">
            <a:extLst>
              <a:ext uri="{FF2B5EF4-FFF2-40B4-BE49-F238E27FC236}">
                <a16:creationId xmlns:a16="http://schemas.microsoft.com/office/drawing/2014/main" id="{BF1DF95E-88DA-7C7A-A49C-3352B018E335}"/>
              </a:ext>
            </a:extLst>
          </p:cNvPr>
          <p:cNvPicPr>
            <a:picLocks noChangeAspect="1"/>
          </p:cNvPicPr>
          <p:nvPr/>
        </p:nvPicPr>
        <p:blipFill>
          <a:blip r:embed="rId4"/>
          <a:srcRect l="30325"/>
          <a:stretch>
            <a:fillRect/>
          </a:stretch>
        </p:blipFill>
        <p:spPr>
          <a:xfrm>
            <a:off x="211757" y="1001027"/>
            <a:ext cx="1952439" cy="2242687"/>
          </a:xfrm>
          <a:prstGeom prst="rect">
            <a:avLst/>
          </a:prstGeom>
        </p:spPr>
      </p:pic>
      <p:pic>
        <p:nvPicPr>
          <p:cNvPr id="7170" name="Picture 2" descr="Cred - History, Business Model, Marketing, Funding &amp; Growth">
            <a:extLst>
              <a:ext uri="{FF2B5EF4-FFF2-40B4-BE49-F238E27FC236}">
                <a16:creationId xmlns:a16="http://schemas.microsoft.com/office/drawing/2014/main" id="{E62F20A7-81FE-0B39-7E6E-C0C630462E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7341" y="455169"/>
            <a:ext cx="3305631" cy="12912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7170"/>
                                        </p:tgtEl>
                                        <p:attrNameLst>
                                          <p:attrName>style.visibility</p:attrName>
                                        </p:attrNameLst>
                                      </p:cBhvr>
                                      <p:to>
                                        <p:strVal val="visible"/>
                                      </p:to>
                                    </p:set>
                                    <p:animEffect transition="in" filter="fade">
                                      <p:cBhvr>
                                        <p:cTn id="14"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38EEF-DD59-32A4-5094-D1CEE38649F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44EA35F-E717-2FE6-7252-1B73F60544AF}"/>
              </a:ext>
            </a:extLst>
          </p:cNvPr>
          <p:cNvSpPr txBox="1"/>
          <p:nvPr/>
        </p:nvSpPr>
        <p:spPr>
          <a:xfrm>
            <a:off x="548255" y="595285"/>
            <a:ext cx="6093177" cy="4031873"/>
          </a:xfrm>
          <a:prstGeom prst="rect">
            <a:avLst/>
          </a:prstGeom>
          <a:blipFill dpi="0" rotWithShape="1">
            <a:blip r:embed="rId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a:blipFill>
        </p:spPr>
        <p:txBody>
          <a:bodyPr wrap="square" rtlCol="0">
            <a:spAutoFit/>
          </a:bodyPr>
          <a:lstStyle/>
          <a:p>
            <a:r>
              <a:rPr lang="en-US" sz="1600" b="1" dirty="0"/>
              <a:t>3. Customer Experience</a:t>
            </a:r>
          </a:p>
          <a:p>
            <a:pPr marL="285750" indent="-285750">
              <a:buFont typeface="Arial" panose="020B0604020202020204" pitchFamily="34" charset="0"/>
              <a:buChar char="•"/>
            </a:pPr>
            <a:r>
              <a:rPr lang="en-US" sz="1600" b="1" dirty="0"/>
              <a:t>What it is:</a:t>
            </a:r>
            <a:br>
              <a:rPr lang="en-US" sz="1600" dirty="0"/>
            </a:br>
            <a:r>
              <a:rPr lang="en-US" sz="1600" dirty="0"/>
              <a:t>CRED focuses on making every interaction feel intuitive, smooth, and rewarding.</a:t>
            </a:r>
          </a:p>
          <a:p>
            <a:pPr marL="285750" indent="-285750">
              <a:buFont typeface="Arial" panose="020B0604020202020204" pitchFamily="34" charset="0"/>
              <a:buChar char="•"/>
            </a:pPr>
            <a:r>
              <a:rPr lang="en-US" sz="1600" b="1" dirty="0"/>
              <a:t>Strengths here:</a:t>
            </a:r>
            <a:endParaRPr lang="en-US" sz="1600" dirty="0"/>
          </a:p>
          <a:p>
            <a:pPr marL="285750" indent="-285750">
              <a:buFont typeface="Arial" panose="020B0604020202020204" pitchFamily="34" charset="0"/>
              <a:buChar char="•"/>
            </a:pPr>
            <a:r>
              <a:rPr lang="en-US" sz="1600" b="1" dirty="0"/>
              <a:t>Slick interface:</a:t>
            </a:r>
            <a:r>
              <a:rPr lang="en-US" sz="1600" dirty="0"/>
              <a:t> The app feels fast, clean, and polished. Users often compare it favorably to other fintech apps which can feel clunky or ad-ridden.</a:t>
            </a:r>
          </a:p>
          <a:p>
            <a:pPr marL="285750" indent="-285750">
              <a:buFont typeface="Arial" panose="020B0604020202020204" pitchFamily="34" charset="0"/>
              <a:buChar char="•"/>
            </a:pPr>
            <a:r>
              <a:rPr lang="en-US" sz="1600" b="1" dirty="0"/>
              <a:t>No ads, no clutter:</a:t>
            </a:r>
            <a:r>
              <a:rPr lang="en-US" sz="1600" dirty="0"/>
              <a:t> The experience is intentionally frictionless. Instead of aggressive upselling, CRED nudges users with soft cues and thoughtful design.</a:t>
            </a:r>
          </a:p>
          <a:p>
            <a:pPr marL="285750" indent="-285750">
              <a:buFont typeface="Arial" panose="020B0604020202020204" pitchFamily="34" charset="0"/>
              <a:buChar char="•"/>
            </a:pPr>
            <a:r>
              <a:rPr lang="en-US" sz="1600" b="1" dirty="0"/>
              <a:t>Support for multiple credit cards:</a:t>
            </a:r>
            <a:r>
              <a:rPr lang="en-US" sz="1600" dirty="0"/>
              <a:t> It consolidates all credit card payments in one place, with smart reminders, auto-payment options, and payment history — simplifying life for users who juggle cards.</a:t>
            </a:r>
          </a:p>
          <a:p>
            <a:endParaRPr lang="en-IN" sz="1600" dirty="0">
              <a:latin typeface="Aptos Display" panose="020B0004020202020204" pitchFamily="34" charset="0"/>
            </a:endParaRPr>
          </a:p>
        </p:txBody>
      </p:sp>
      <p:grpSp>
        <p:nvGrpSpPr>
          <p:cNvPr id="4" name="Google Shape;7773;p89">
            <a:extLst>
              <a:ext uri="{FF2B5EF4-FFF2-40B4-BE49-F238E27FC236}">
                <a16:creationId xmlns:a16="http://schemas.microsoft.com/office/drawing/2014/main" id="{BBA77C76-020B-B522-BED3-302157DE4149}"/>
              </a:ext>
            </a:extLst>
          </p:cNvPr>
          <p:cNvGrpSpPr/>
          <p:nvPr/>
        </p:nvGrpSpPr>
        <p:grpSpPr>
          <a:xfrm>
            <a:off x="6463329" y="1977168"/>
            <a:ext cx="356205" cy="314240"/>
            <a:chOff x="-45674075" y="3586425"/>
            <a:chExt cx="300900" cy="265450"/>
          </a:xfrm>
          <a:solidFill>
            <a:schemeClr val="tx1"/>
          </a:solidFill>
        </p:grpSpPr>
        <p:sp>
          <p:nvSpPr>
            <p:cNvPr id="5" name="Google Shape;7774;p89">
              <a:extLst>
                <a:ext uri="{FF2B5EF4-FFF2-40B4-BE49-F238E27FC236}">
                  <a16:creationId xmlns:a16="http://schemas.microsoft.com/office/drawing/2014/main" id="{0A15BFE2-9897-4775-E11F-572036385FAE}"/>
                </a:ext>
              </a:extLst>
            </p:cNvPr>
            <p:cNvSpPr/>
            <p:nvPr/>
          </p:nvSpPr>
          <p:spPr>
            <a:xfrm>
              <a:off x="-45674075" y="3586425"/>
              <a:ext cx="300125" cy="70925"/>
            </a:xfrm>
            <a:custGeom>
              <a:avLst/>
              <a:gdLst/>
              <a:ahLst/>
              <a:cxnLst/>
              <a:rect l="l" t="t" r="r" b="b"/>
              <a:pathLst>
                <a:path w="12005" h="2837" extrusionOk="0">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775;p89">
              <a:extLst>
                <a:ext uri="{FF2B5EF4-FFF2-40B4-BE49-F238E27FC236}">
                  <a16:creationId xmlns:a16="http://schemas.microsoft.com/office/drawing/2014/main" id="{AAD4B909-0ADD-BAE2-DF7D-60E8E49686CA}"/>
                </a:ext>
              </a:extLst>
            </p:cNvPr>
            <p:cNvSpPr/>
            <p:nvPr/>
          </p:nvSpPr>
          <p:spPr>
            <a:xfrm>
              <a:off x="-45673275" y="3675425"/>
              <a:ext cx="300100" cy="176450"/>
            </a:xfrm>
            <a:custGeom>
              <a:avLst/>
              <a:gdLst/>
              <a:ahLst/>
              <a:cxnLst/>
              <a:rect l="l" t="t" r="r" b="b"/>
              <a:pathLst>
                <a:path w="12004" h="7058" extrusionOk="0">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 name="Google Shape;6419;p87">
            <a:extLst>
              <a:ext uri="{FF2B5EF4-FFF2-40B4-BE49-F238E27FC236}">
                <a16:creationId xmlns:a16="http://schemas.microsoft.com/office/drawing/2014/main" id="{2A634647-04F6-0814-F377-1D8A53E6FCD3}"/>
              </a:ext>
            </a:extLst>
          </p:cNvPr>
          <p:cNvGrpSpPr/>
          <p:nvPr/>
        </p:nvGrpSpPr>
        <p:grpSpPr>
          <a:xfrm>
            <a:off x="6889487" y="2721348"/>
            <a:ext cx="366364" cy="333534"/>
            <a:chOff x="-61354875" y="3751050"/>
            <a:chExt cx="316650" cy="288275"/>
          </a:xfrm>
          <a:solidFill>
            <a:schemeClr val="tx1"/>
          </a:solidFill>
        </p:grpSpPr>
        <p:sp>
          <p:nvSpPr>
            <p:cNvPr id="9" name="Google Shape;6420;p87">
              <a:extLst>
                <a:ext uri="{FF2B5EF4-FFF2-40B4-BE49-F238E27FC236}">
                  <a16:creationId xmlns:a16="http://schemas.microsoft.com/office/drawing/2014/main" id="{2D5B7109-2544-637A-BB67-E3CC9C8904B7}"/>
                </a:ext>
              </a:extLst>
            </p:cNvPr>
            <p:cNvSpPr/>
            <p:nvPr/>
          </p:nvSpPr>
          <p:spPr>
            <a:xfrm>
              <a:off x="-61200500" y="3875475"/>
              <a:ext cx="41775" cy="41000"/>
            </a:xfrm>
            <a:custGeom>
              <a:avLst/>
              <a:gdLst/>
              <a:ahLst/>
              <a:cxnLst/>
              <a:rect l="l" t="t" r="r" b="b"/>
              <a:pathLst>
                <a:path w="1671" h="1640" extrusionOk="0">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421;p87">
              <a:extLst>
                <a:ext uri="{FF2B5EF4-FFF2-40B4-BE49-F238E27FC236}">
                  <a16:creationId xmlns:a16="http://schemas.microsoft.com/office/drawing/2014/main" id="{3C0CE826-AAF9-110C-71A8-64D8EFF7EAE6}"/>
                </a:ext>
              </a:extLst>
            </p:cNvPr>
            <p:cNvSpPr/>
            <p:nvPr/>
          </p:nvSpPr>
          <p:spPr>
            <a:xfrm>
              <a:off x="-61293425" y="3813275"/>
              <a:ext cx="192975" cy="165425"/>
            </a:xfrm>
            <a:custGeom>
              <a:avLst/>
              <a:gdLst/>
              <a:ahLst/>
              <a:cxnLst/>
              <a:rect l="l" t="t" r="r" b="b"/>
              <a:pathLst>
                <a:path w="7719" h="6617" extrusionOk="0">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422;p87">
              <a:extLst>
                <a:ext uri="{FF2B5EF4-FFF2-40B4-BE49-F238E27FC236}">
                  <a16:creationId xmlns:a16="http://schemas.microsoft.com/office/drawing/2014/main" id="{B974247E-C8F4-1B97-049A-60B467F13B43}"/>
                </a:ext>
              </a:extLst>
            </p:cNvPr>
            <p:cNvSpPr/>
            <p:nvPr/>
          </p:nvSpPr>
          <p:spPr>
            <a:xfrm>
              <a:off x="-61354875" y="3751050"/>
              <a:ext cx="316650" cy="288275"/>
            </a:xfrm>
            <a:custGeom>
              <a:avLst/>
              <a:gdLst/>
              <a:ahLst/>
              <a:cxnLst/>
              <a:rect l="l" t="t" r="r" b="b"/>
              <a:pathLst>
                <a:path w="12666" h="11531" extrusionOk="0">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6423;p87">
            <a:extLst>
              <a:ext uri="{FF2B5EF4-FFF2-40B4-BE49-F238E27FC236}">
                <a16:creationId xmlns:a16="http://schemas.microsoft.com/office/drawing/2014/main" id="{F03F1B4C-9B59-BBF2-CE82-FFC9A115DBD7}"/>
              </a:ext>
            </a:extLst>
          </p:cNvPr>
          <p:cNvGrpSpPr/>
          <p:nvPr/>
        </p:nvGrpSpPr>
        <p:grpSpPr>
          <a:xfrm>
            <a:off x="7084866" y="3531760"/>
            <a:ext cx="366364" cy="367290"/>
            <a:chOff x="-61354875" y="4101525"/>
            <a:chExt cx="316650" cy="317450"/>
          </a:xfrm>
          <a:solidFill>
            <a:schemeClr val="tx1"/>
          </a:solidFill>
        </p:grpSpPr>
        <p:sp>
          <p:nvSpPr>
            <p:cNvPr id="13" name="Google Shape;6424;p87">
              <a:extLst>
                <a:ext uri="{FF2B5EF4-FFF2-40B4-BE49-F238E27FC236}">
                  <a16:creationId xmlns:a16="http://schemas.microsoft.com/office/drawing/2014/main" id="{0FB13EA7-50A2-FABA-8F25-D0BCF14C0CF1}"/>
                </a:ext>
              </a:extLst>
            </p:cNvPr>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425;p87">
              <a:extLst>
                <a:ext uri="{FF2B5EF4-FFF2-40B4-BE49-F238E27FC236}">
                  <a16:creationId xmlns:a16="http://schemas.microsoft.com/office/drawing/2014/main" id="{C822D0B2-526C-158E-DA4D-81C7B5C13A3D}"/>
                </a:ext>
              </a:extLst>
            </p:cNvPr>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6576;p87">
            <a:extLst>
              <a:ext uri="{FF2B5EF4-FFF2-40B4-BE49-F238E27FC236}">
                <a16:creationId xmlns:a16="http://schemas.microsoft.com/office/drawing/2014/main" id="{A3543C8D-2710-1E3B-F249-AE522AA20055}"/>
              </a:ext>
            </a:extLst>
          </p:cNvPr>
          <p:cNvGrpSpPr/>
          <p:nvPr/>
        </p:nvGrpSpPr>
        <p:grpSpPr>
          <a:xfrm>
            <a:off x="6274609" y="2704470"/>
            <a:ext cx="366364" cy="367290"/>
            <a:chOff x="-61783350" y="3743950"/>
            <a:chExt cx="316650" cy="317450"/>
          </a:xfrm>
          <a:solidFill>
            <a:schemeClr val="tx1"/>
          </a:solidFill>
        </p:grpSpPr>
        <p:sp>
          <p:nvSpPr>
            <p:cNvPr id="16" name="Google Shape;6577;p87">
              <a:extLst>
                <a:ext uri="{FF2B5EF4-FFF2-40B4-BE49-F238E27FC236}">
                  <a16:creationId xmlns:a16="http://schemas.microsoft.com/office/drawing/2014/main" id="{3DBAAA0D-7AC4-BB10-3F24-459D0B8EAC97}"/>
                </a:ext>
              </a:extLst>
            </p:cNvPr>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578;p87">
              <a:extLst>
                <a:ext uri="{FF2B5EF4-FFF2-40B4-BE49-F238E27FC236}">
                  <a16:creationId xmlns:a16="http://schemas.microsoft.com/office/drawing/2014/main" id="{7C5D8391-CBC5-2236-B86E-7848247D8380}"/>
                </a:ext>
              </a:extLst>
            </p:cNvPr>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6579;p87">
            <a:extLst>
              <a:ext uri="{FF2B5EF4-FFF2-40B4-BE49-F238E27FC236}">
                <a16:creationId xmlns:a16="http://schemas.microsoft.com/office/drawing/2014/main" id="{4CC52EA7-0B7B-AD83-917D-73665168D620}"/>
              </a:ext>
            </a:extLst>
          </p:cNvPr>
          <p:cNvSpPr/>
          <p:nvPr/>
        </p:nvSpPr>
        <p:spPr>
          <a:xfrm>
            <a:off x="6415245" y="3531760"/>
            <a:ext cx="366364" cy="366682"/>
          </a:xfrm>
          <a:custGeom>
            <a:avLst/>
            <a:gdLst/>
            <a:ahLst/>
            <a:cxnLst/>
            <a:rect l="l" t="t" r="r" b="b"/>
            <a:pathLst>
              <a:path w="12666" h="12677" extrusionOk="0">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5037;p83">
            <a:extLst>
              <a:ext uri="{FF2B5EF4-FFF2-40B4-BE49-F238E27FC236}">
                <a16:creationId xmlns:a16="http://schemas.microsoft.com/office/drawing/2014/main" id="{D2E85158-FD1F-40AC-5DF1-A8EACE73DCF2}"/>
              </a:ext>
            </a:extLst>
          </p:cNvPr>
          <p:cNvGrpSpPr/>
          <p:nvPr/>
        </p:nvGrpSpPr>
        <p:grpSpPr>
          <a:xfrm>
            <a:off x="8301863" y="595285"/>
            <a:ext cx="293882" cy="293836"/>
            <a:chOff x="4873519" y="3311869"/>
            <a:chExt cx="499374" cy="499296"/>
          </a:xfrm>
          <a:solidFill>
            <a:schemeClr val="bg2">
              <a:lumMod val="60000"/>
              <a:lumOff val="40000"/>
            </a:schemeClr>
          </a:solidFill>
        </p:grpSpPr>
        <p:sp>
          <p:nvSpPr>
            <p:cNvPr id="20" name="Google Shape;5038;p83">
              <a:extLst>
                <a:ext uri="{FF2B5EF4-FFF2-40B4-BE49-F238E27FC236}">
                  <a16:creationId xmlns:a16="http://schemas.microsoft.com/office/drawing/2014/main" id="{C5F5FBC7-49C6-F83C-550B-88D30BE2E060}"/>
                </a:ext>
              </a:extLst>
            </p:cNvPr>
            <p:cNvSpPr/>
            <p:nvPr/>
          </p:nvSpPr>
          <p:spPr>
            <a:xfrm>
              <a:off x="4873519" y="3311869"/>
              <a:ext cx="499374" cy="499296"/>
            </a:xfrm>
            <a:custGeom>
              <a:avLst/>
              <a:gdLst/>
              <a:ahLst/>
              <a:cxnLst/>
              <a:rect l="l" t="t" r="r" b="b"/>
              <a:pathLst>
                <a:path w="19240" h="19237" extrusionOk="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039;p83">
              <a:extLst>
                <a:ext uri="{FF2B5EF4-FFF2-40B4-BE49-F238E27FC236}">
                  <a16:creationId xmlns:a16="http://schemas.microsoft.com/office/drawing/2014/main" id="{772A6343-EB1C-9602-2065-67AD5655864C}"/>
                </a:ext>
              </a:extLst>
            </p:cNvPr>
            <p:cNvSpPr/>
            <p:nvPr/>
          </p:nvSpPr>
          <p:spPr>
            <a:xfrm>
              <a:off x="4894620" y="3329830"/>
              <a:ext cx="202112" cy="182386"/>
            </a:xfrm>
            <a:custGeom>
              <a:avLst/>
              <a:gdLst/>
              <a:ahLst/>
              <a:cxnLst/>
              <a:rect l="l" t="t" r="r" b="b"/>
              <a:pathLst>
                <a:path w="7787" h="7027" extrusionOk="0">
                  <a:moveTo>
                    <a:pt x="0" y="1"/>
                  </a:moveTo>
                  <a:lnTo>
                    <a:pt x="0" y="7026"/>
                  </a:lnTo>
                  <a:lnTo>
                    <a:pt x="778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5040;p83">
            <a:extLst>
              <a:ext uri="{FF2B5EF4-FFF2-40B4-BE49-F238E27FC236}">
                <a16:creationId xmlns:a16="http://schemas.microsoft.com/office/drawing/2014/main" id="{B33A16C3-EF0D-AD3B-559D-051C4426B63B}"/>
              </a:ext>
            </a:extLst>
          </p:cNvPr>
          <p:cNvGrpSpPr/>
          <p:nvPr/>
        </p:nvGrpSpPr>
        <p:grpSpPr>
          <a:xfrm>
            <a:off x="8301863" y="907657"/>
            <a:ext cx="293882" cy="293882"/>
            <a:chOff x="4873519" y="3875839"/>
            <a:chExt cx="499374" cy="499374"/>
          </a:xfrm>
          <a:solidFill>
            <a:schemeClr val="bg2">
              <a:lumMod val="60000"/>
              <a:lumOff val="40000"/>
            </a:schemeClr>
          </a:solidFill>
        </p:grpSpPr>
        <p:sp>
          <p:nvSpPr>
            <p:cNvPr id="23" name="Google Shape;5041;p83">
              <a:extLst>
                <a:ext uri="{FF2B5EF4-FFF2-40B4-BE49-F238E27FC236}">
                  <a16:creationId xmlns:a16="http://schemas.microsoft.com/office/drawing/2014/main" id="{8597980F-CE83-0620-93B8-888BE08E0134}"/>
                </a:ext>
              </a:extLst>
            </p:cNvPr>
            <p:cNvSpPr/>
            <p:nvPr/>
          </p:nvSpPr>
          <p:spPr>
            <a:xfrm>
              <a:off x="4873519" y="3875839"/>
              <a:ext cx="499374" cy="499374"/>
            </a:xfrm>
            <a:custGeom>
              <a:avLst/>
              <a:gdLst/>
              <a:ahLst/>
              <a:cxnLst/>
              <a:rect l="l" t="t" r="r" b="b"/>
              <a:pathLst>
                <a:path w="19240" h="19240" extrusionOk="0">
                  <a:moveTo>
                    <a:pt x="1" y="1"/>
                  </a:moveTo>
                  <a:lnTo>
                    <a:pt x="1" y="9619"/>
                  </a:lnTo>
                  <a:cubicBezTo>
                    <a:pt x="1" y="14930"/>
                    <a:pt x="4308" y="19240"/>
                    <a:pt x="9619" y="19240"/>
                  </a:cubicBezTo>
                  <a:cubicBezTo>
                    <a:pt x="14933" y="19240"/>
                    <a:pt x="19240" y="14933"/>
                    <a:pt x="19240" y="9619"/>
                  </a:cubicBezTo>
                  <a:lnTo>
                    <a:pt x="1924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042;p83">
              <a:extLst>
                <a:ext uri="{FF2B5EF4-FFF2-40B4-BE49-F238E27FC236}">
                  <a16:creationId xmlns:a16="http://schemas.microsoft.com/office/drawing/2014/main" id="{9FA9BD77-49E1-EF7C-7BC1-9456DD3A48A3}"/>
                </a:ext>
              </a:extLst>
            </p:cNvPr>
            <p:cNvSpPr/>
            <p:nvPr/>
          </p:nvSpPr>
          <p:spPr>
            <a:xfrm>
              <a:off x="4894620" y="3893826"/>
              <a:ext cx="202112" cy="182360"/>
            </a:xfrm>
            <a:custGeom>
              <a:avLst/>
              <a:gdLst/>
              <a:ahLst/>
              <a:cxnLst/>
              <a:rect l="l" t="t" r="r" b="b"/>
              <a:pathLst>
                <a:path w="7787" h="7026" extrusionOk="0">
                  <a:moveTo>
                    <a:pt x="0" y="0"/>
                  </a:moveTo>
                  <a:lnTo>
                    <a:pt x="0" y="7026"/>
                  </a:lnTo>
                  <a:lnTo>
                    <a:pt x="778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5050;p83">
            <a:extLst>
              <a:ext uri="{FF2B5EF4-FFF2-40B4-BE49-F238E27FC236}">
                <a16:creationId xmlns:a16="http://schemas.microsoft.com/office/drawing/2014/main" id="{5CD5DF1E-7F9C-CEBF-C80F-278AAA7B0730}"/>
              </a:ext>
            </a:extLst>
          </p:cNvPr>
          <p:cNvGrpSpPr/>
          <p:nvPr/>
        </p:nvGrpSpPr>
        <p:grpSpPr>
          <a:xfrm>
            <a:off x="7755802" y="564210"/>
            <a:ext cx="438354" cy="637329"/>
            <a:chOff x="1697726" y="3244179"/>
            <a:chExt cx="788124" cy="1146069"/>
          </a:xfrm>
          <a:solidFill>
            <a:schemeClr val="bg2">
              <a:lumMod val="60000"/>
              <a:lumOff val="40000"/>
            </a:schemeClr>
          </a:solidFill>
        </p:grpSpPr>
        <p:sp>
          <p:nvSpPr>
            <p:cNvPr id="26" name="Google Shape;5051;p83">
              <a:extLst>
                <a:ext uri="{FF2B5EF4-FFF2-40B4-BE49-F238E27FC236}">
                  <a16:creationId xmlns:a16="http://schemas.microsoft.com/office/drawing/2014/main" id="{6ADD2201-5C7E-C3E0-4AA8-183DD938DF4D}"/>
                </a:ext>
              </a:extLst>
            </p:cNvPr>
            <p:cNvSpPr/>
            <p:nvPr/>
          </p:nvSpPr>
          <p:spPr>
            <a:xfrm>
              <a:off x="1697726" y="3244179"/>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052;p83">
              <a:extLst>
                <a:ext uri="{FF2B5EF4-FFF2-40B4-BE49-F238E27FC236}">
                  <a16:creationId xmlns:a16="http://schemas.microsoft.com/office/drawing/2014/main" id="{7583A26D-15FF-CB99-061F-B6924D657B94}"/>
                </a:ext>
              </a:extLst>
            </p:cNvPr>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63261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6957D-067D-DF16-DECC-A4627362F268}"/>
            </a:ext>
          </a:extLst>
        </p:cNvPr>
        <p:cNvGrpSpPr/>
        <p:nvPr/>
      </p:nvGrpSpPr>
      <p:grpSpPr>
        <a:xfrm>
          <a:off x="0" y="0"/>
          <a:ext cx="0" cy="0"/>
          <a:chOff x="0" y="0"/>
          <a:chExt cx="0" cy="0"/>
        </a:xfrm>
      </p:grpSpPr>
      <p:sp>
        <p:nvSpPr>
          <p:cNvPr id="3" name="AutoShape 4" descr="Is Cred Planning to Launch Co-Branded Credit Cards?">
            <a:extLst>
              <a:ext uri="{FF2B5EF4-FFF2-40B4-BE49-F238E27FC236}">
                <a16:creationId xmlns:a16="http://schemas.microsoft.com/office/drawing/2014/main" id="{5B92CBFC-5A65-867C-95E1-595C0FF05423}"/>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146" name="Picture 2" descr="Cred - History, Business Model, Marketing, Funding &amp; Growth">
            <a:extLst>
              <a:ext uri="{FF2B5EF4-FFF2-40B4-BE49-F238E27FC236}">
                <a16:creationId xmlns:a16="http://schemas.microsoft.com/office/drawing/2014/main" id="{2DB1EE4C-C159-D496-CB21-278A47502F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520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ED08E-2145-62A2-2053-ADECB68F5BA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62363D9-1098-9544-8DD3-B71F7E14C8F2}"/>
              </a:ext>
            </a:extLst>
          </p:cNvPr>
          <p:cNvSpPr txBox="1"/>
          <p:nvPr/>
        </p:nvSpPr>
        <p:spPr>
          <a:xfrm>
            <a:off x="548255" y="595285"/>
            <a:ext cx="6093177" cy="4031873"/>
          </a:xfrm>
          <a:prstGeom prst="rect">
            <a:avLst/>
          </a:prstGeom>
          <a:blipFill dpi="0" rotWithShape="1">
            <a:blip r:embed="rId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a:blipFill>
        </p:spPr>
        <p:txBody>
          <a:bodyPr wrap="square" rtlCol="0">
            <a:spAutoFit/>
          </a:bodyPr>
          <a:lstStyle/>
          <a:p>
            <a:r>
              <a:rPr lang="en-US" sz="1600" b="1" dirty="0"/>
              <a:t>4. Technology &amp; Data Infrastructure</a:t>
            </a:r>
          </a:p>
          <a:p>
            <a:pPr marL="285750" indent="-285750">
              <a:buFont typeface="Arial" panose="020B0604020202020204" pitchFamily="34" charset="0"/>
              <a:buChar char="•"/>
            </a:pPr>
            <a:r>
              <a:rPr lang="en-US" sz="1600" b="1" dirty="0"/>
              <a:t>What it is:</a:t>
            </a:r>
            <a:br>
              <a:rPr lang="en-US" sz="1600" dirty="0"/>
            </a:br>
            <a:r>
              <a:rPr lang="en-US" sz="1600" dirty="0"/>
              <a:t>CRED leverages data to deliver personalized offers, detect patterns, and enable financial products like CRED Mint (P2P lending) or CRED Cash (instant credit lines).</a:t>
            </a:r>
          </a:p>
          <a:p>
            <a:pPr marL="285750" indent="-285750">
              <a:buFont typeface="Arial" panose="020B0604020202020204" pitchFamily="34" charset="0"/>
              <a:buChar char="•"/>
            </a:pPr>
            <a:r>
              <a:rPr lang="en-US" sz="1600" b="1" dirty="0"/>
              <a:t>Strengths here:</a:t>
            </a:r>
            <a:endParaRPr lang="en-US" sz="1600" dirty="0"/>
          </a:p>
          <a:p>
            <a:pPr marL="285750" indent="-285750">
              <a:buFont typeface="Arial" panose="020B0604020202020204" pitchFamily="34" charset="0"/>
              <a:buChar char="•"/>
            </a:pPr>
            <a:r>
              <a:rPr lang="en-US" sz="1600" b="1" dirty="0"/>
              <a:t>Real-time credit scoring and payment sync:</a:t>
            </a:r>
            <a:r>
              <a:rPr lang="en-US" sz="1600" dirty="0"/>
              <a:t> CRED securely connects to banks and credit bureaus to keep tabs on payments and credit health.</a:t>
            </a:r>
          </a:p>
          <a:p>
            <a:pPr marL="285750" indent="-285750">
              <a:buFont typeface="Arial" panose="020B0604020202020204" pitchFamily="34" charset="0"/>
              <a:buChar char="•"/>
            </a:pPr>
            <a:r>
              <a:rPr lang="en-US" sz="1600" b="1" dirty="0"/>
              <a:t>Data insights:</a:t>
            </a:r>
            <a:r>
              <a:rPr lang="en-US" sz="1600" dirty="0"/>
              <a:t> With such a high-quality user base, CRED has a goldmine of credit and spending behavior data — which it can use for product innovation and monetization.</a:t>
            </a:r>
          </a:p>
          <a:p>
            <a:pPr marL="285750" indent="-285750">
              <a:buFont typeface="Arial" panose="020B0604020202020204" pitchFamily="34" charset="0"/>
              <a:buChar char="•"/>
            </a:pPr>
            <a:r>
              <a:rPr lang="en-US" sz="1600" b="1" dirty="0"/>
              <a:t>Security architecture:</a:t>
            </a:r>
            <a:r>
              <a:rPr lang="en-US" sz="1600" dirty="0"/>
              <a:t> The company emphasizes privacy and uses strong encryption and compliance practices — a key trust-builder when handling financial data.</a:t>
            </a:r>
          </a:p>
          <a:p>
            <a:endParaRPr lang="en-IN" sz="1600" dirty="0">
              <a:latin typeface="Aptos Display" panose="020B0004020202020204" pitchFamily="34" charset="0"/>
            </a:endParaRPr>
          </a:p>
        </p:txBody>
      </p:sp>
      <p:grpSp>
        <p:nvGrpSpPr>
          <p:cNvPr id="19" name="Google Shape;5037;p83">
            <a:extLst>
              <a:ext uri="{FF2B5EF4-FFF2-40B4-BE49-F238E27FC236}">
                <a16:creationId xmlns:a16="http://schemas.microsoft.com/office/drawing/2014/main" id="{31F67EF0-9B5F-57F1-1097-90A71DAB818C}"/>
              </a:ext>
            </a:extLst>
          </p:cNvPr>
          <p:cNvGrpSpPr/>
          <p:nvPr/>
        </p:nvGrpSpPr>
        <p:grpSpPr>
          <a:xfrm>
            <a:off x="8301863" y="595285"/>
            <a:ext cx="293882" cy="293836"/>
            <a:chOff x="4873519" y="3311869"/>
            <a:chExt cx="499374" cy="499296"/>
          </a:xfrm>
          <a:solidFill>
            <a:schemeClr val="bg2">
              <a:lumMod val="60000"/>
              <a:lumOff val="40000"/>
            </a:schemeClr>
          </a:solidFill>
        </p:grpSpPr>
        <p:sp>
          <p:nvSpPr>
            <p:cNvPr id="20" name="Google Shape;5038;p83">
              <a:extLst>
                <a:ext uri="{FF2B5EF4-FFF2-40B4-BE49-F238E27FC236}">
                  <a16:creationId xmlns:a16="http://schemas.microsoft.com/office/drawing/2014/main" id="{62AAA9F9-288E-CFDD-C684-155976BC7E8B}"/>
                </a:ext>
              </a:extLst>
            </p:cNvPr>
            <p:cNvSpPr/>
            <p:nvPr/>
          </p:nvSpPr>
          <p:spPr>
            <a:xfrm>
              <a:off x="4873519" y="3311869"/>
              <a:ext cx="499374" cy="499296"/>
            </a:xfrm>
            <a:custGeom>
              <a:avLst/>
              <a:gdLst/>
              <a:ahLst/>
              <a:cxnLst/>
              <a:rect l="l" t="t" r="r" b="b"/>
              <a:pathLst>
                <a:path w="19240" h="19237" extrusionOk="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039;p83">
              <a:extLst>
                <a:ext uri="{FF2B5EF4-FFF2-40B4-BE49-F238E27FC236}">
                  <a16:creationId xmlns:a16="http://schemas.microsoft.com/office/drawing/2014/main" id="{64C1E4CF-17E3-A44C-28AD-4867BB4263D7}"/>
                </a:ext>
              </a:extLst>
            </p:cNvPr>
            <p:cNvSpPr/>
            <p:nvPr/>
          </p:nvSpPr>
          <p:spPr>
            <a:xfrm>
              <a:off x="4894620" y="3329830"/>
              <a:ext cx="202112" cy="182386"/>
            </a:xfrm>
            <a:custGeom>
              <a:avLst/>
              <a:gdLst/>
              <a:ahLst/>
              <a:cxnLst/>
              <a:rect l="l" t="t" r="r" b="b"/>
              <a:pathLst>
                <a:path w="7787" h="7027" extrusionOk="0">
                  <a:moveTo>
                    <a:pt x="0" y="1"/>
                  </a:moveTo>
                  <a:lnTo>
                    <a:pt x="0" y="7026"/>
                  </a:lnTo>
                  <a:lnTo>
                    <a:pt x="778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5040;p83">
            <a:extLst>
              <a:ext uri="{FF2B5EF4-FFF2-40B4-BE49-F238E27FC236}">
                <a16:creationId xmlns:a16="http://schemas.microsoft.com/office/drawing/2014/main" id="{5700EA50-3082-872B-3240-9739D7F2A86C}"/>
              </a:ext>
            </a:extLst>
          </p:cNvPr>
          <p:cNvGrpSpPr/>
          <p:nvPr/>
        </p:nvGrpSpPr>
        <p:grpSpPr>
          <a:xfrm>
            <a:off x="8301863" y="907657"/>
            <a:ext cx="293882" cy="293882"/>
            <a:chOff x="4873519" y="3875839"/>
            <a:chExt cx="499374" cy="499374"/>
          </a:xfrm>
          <a:solidFill>
            <a:schemeClr val="bg2">
              <a:lumMod val="60000"/>
              <a:lumOff val="40000"/>
            </a:schemeClr>
          </a:solidFill>
        </p:grpSpPr>
        <p:sp>
          <p:nvSpPr>
            <p:cNvPr id="23" name="Google Shape;5041;p83">
              <a:extLst>
                <a:ext uri="{FF2B5EF4-FFF2-40B4-BE49-F238E27FC236}">
                  <a16:creationId xmlns:a16="http://schemas.microsoft.com/office/drawing/2014/main" id="{4A907B07-B21D-9821-7987-8E73F2AB334E}"/>
                </a:ext>
              </a:extLst>
            </p:cNvPr>
            <p:cNvSpPr/>
            <p:nvPr/>
          </p:nvSpPr>
          <p:spPr>
            <a:xfrm>
              <a:off x="4873519" y="3875839"/>
              <a:ext cx="499374" cy="499374"/>
            </a:xfrm>
            <a:custGeom>
              <a:avLst/>
              <a:gdLst/>
              <a:ahLst/>
              <a:cxnLst/>
              <a:rect l="l" t="t" r="r" b="b"/>
              <a:pathLst>
                <a:path w="19240" h="19240" extrusionOk="0">
                  <a:moveTo>
                    <a:pt x="1" y="1"/>
                  </a:moveTo>
                  <a:lnTo>
                    <a:pt x="1" y="9619"/>
                  </a:lnTo>
                  <a:cubicBezTo>
                    <a:pt x="1" y="14930"/>
                    <a:pt x="4308" y="19240"/>
                    <a:pt x="9619" y="19240"/>
                  </a:cubicBezTo>
                  <a:cubicBezTo>
                    <a:pt x="14933" y="19240"/>
                    <a:pt x="19240" y="14933"/>
                    <a:pt x="19240" y="9619"/>
                  </a:cubicBezTo>
                  <a:lnTo>
                    <a:pt x="1924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042;p83">
              <a:extLst>
                <a:ext uri="{FF2B5EF4-FFF2-40B4-BE49-F238E27FC236}">
                  <a16:creationId xmlns:a16="http://schemas.microsoft.com/office/drawing/2014/main" id="{932C205A-E303-4A55-3372-13162912877F}"/>
                </a:ext>
              </a:extLst>
            </p:cNvPr>
            <p:cNvSpPr/>
            <p:nvPr/>
          </p:nvSpPr>
          <p:spPr>
            <a:xfrm>
              <a:off x="4894620" y="3893826"/>
              <a:ext cx="202112" cy="182360"/>
            </a:xfrm>
            <a:custGeom>
              <a:avLst/>
              <a:gdLst/>
              <a:ahLst/>
              <a:cxnLst/>
              <a:rect l="l" t="t" r="r" b="b"/>
              <a:pathLst>
                <a:path w="7787" h="7026" extrusionOk="0">
                  <a:moveTo>
                    <a:pt x="0" y="0"/>
                  </a:moveTo>
                  <a:lnTo>
                    <a:pt x="0" y="7026"/>
                  </a:lnTo>
                  <a:lnTo>
                    <a:pt x="7787"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5050;p83">
            <a:extLst>
              <a:ext uri="{FF2B5EF4-FFF2-40B4-BE49-F238E27FC236}">
                <a16:creationId xmlns:a16="http://schemas.microsoft.com/office/drawing/2014/main" id="{6EB22140-236E-A3C8-3159-3FF344A7295C}"/>
              </a:ext>
            </a:extLst>
          </p:cNvPr>
          <p:cNvGrpSpPr/>
          <p:nvPr/>
        </p:nvGrpSpPr>
        <p:grpSpPr>
          <a:xfrm>
            <a:off x="7755802" y="564210"/>
            <a:ext cx="438354" cy="637329"/>
            <a:chOff x="1697726" y="3244179"/>
            <a:chExt cx="788124" cy="1146069"/>
          </a:xfrm>
          <a:solidFill>
            <a:schemeClr val="bg2">
              <a:lumMod val="60000"/>
              <a:lumOff val="40000"/>
            </a:schemeClr>
          </a:solidFill>
        </p:grpSpPr>
        <p:sp>
          <p:nvSpPr>
            <p:cNvPr id="26" name="Google Shape;5051;p83">
              <a:extLst>
                <a:ext uri="{FF2B5EF4-FFF2-40B4-BE49-F238E27FC236}">
                  <a16:creationId xmlns:a16="http://schemas.microsoft.com/office/drawing/2014/main" id="{2E0B73C7-24DC-417E-4C36-EDE049F2F0DA}"/>
                </a:ext>
              </a:extLst>
            </p:cNvPr>
            <p:cNvSpPr/>
            <p:nvPr/>
          </p:nvSpPr>
          <p:spPr>
            <a:xfrm>
              <a:off x="1697726" y="3244179"/>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052;p83">
              <a:extLst>
                <a:ext uri="{FF2B5EF4-FFF2-40B4-BE49-F238E27FC236}">
                  <a16:creationId xmlns:a16="http://schemas.microsoft.com/office/drawing/2014/main" id="{0ACADE47-DD1B-0286-7D20-EB31AC16DCBD}"/>
                </a:ext>
              </a:extLst>
            </p:cNvPr>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6536;p87">
            <a:extLst>
              <a:ext uri="{FF2B5EF4-FFF2-40B4-BE49-F238E27FC236}">
                <a16:creationId xmlns:a16="http://schemas.microsoft.com/office/drawing/2014/main" id="{39ED3FA5-93D2-8373-681C-878E3113A1B5}"/>
              </a:ext>
            </a:extLst>
          </p:cNvPr>
          <p:cNvGrpSpPr/>
          <p:nvPr/>
        </p:nvGrpSpPr>
        <p:grpSpPr>
          <a:xfrm>
            <a:off x="6605158" y="2852093"/>
            <a:ext cx="368186" cy="366364"/>
            <a:chOff x="-62151950" y="4111775"/>
            <a:chExt cx="318225" cy="316650"/>
          </a:xfrm>
          <a:solidFill>
            <a:schemeClr val="tx1"/>
          </a:solidFill>
        </p:grpSpPr>
        <p:sp>
          <p:nvSpPr>
            <p:cNvPr id="3" name="Google Shape;6537;p87">
              <a:extLst>
                <a:ext uri="{FF2B5EF4-FFF2-40B4-BE49-F238E27FC236}">
                  <a16:creationId xmlns:a16="http://schemas.microsoft.com/office/drawing/2014/main" id="{C29DB6E7-D8EC-EFFD-3DB2-4BF606342511}"/>
                </a:ext>
              </a:extLst>
            </p:cNvPr>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538;p87">
              <a:extLst>
                <a:ext uri="{FF2B5EF4-FFF2-40B4-BE49-F238E27FC236}">
                  <a16:creationId xmlns:a16="http://schemas.microsoft.com/office/drawing/2014/main" id="{F7E50233-FDCA-7EA8-0303-CD2DCDAC5290}"/>
                </a:ext>
              </a:extLst>
            </p:cNvPr>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539;p87">
              <a:extLst>
                <a:ext uri="{FF2B5EF4-FFF2-40B4-BE49-F238E27FC236}">
                  <a16:creationId xmlns:a16="http://schemas.microsoft.com/office/drawing/2014/main" id="{06EB8BE3-F1A6-2C04-F00F-C5B7C4CE8456}"/>
                </a:ext>
              </a:extLst>
            </p:cNvPr>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6540;p87">
              <a:extLst>
                <a:ext uri="{FF2B5EF4-FFF2-40B4-BE49-F238E27FC236}">
                  <a16:creationId xmlns:a16="http://schemas.microsoft.com/office/drawing/2014/main" id="{052C9A78-A876-0D5E-74A4-C3B7BED5BE60}"/>
                </a:ext>
              </a:extLst>
            </p:cNvPr>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 name="Google Shape;7964;p89">
            <a:extLst>
              <a:ext uri="{FF2B5EF4-FFF2-40B4-BE49-F238E27FC236}">
                <a16:creationId xmlns:a16="http://schemas.microsoft.com/office/drawing/2014/main" id="{52FB1A3E-ACF3-0709-976D-F7E0CEA83E97}"/>
              </a:ext>
            </a:extLst>
          </p:cNvPr>
          <p:cNvGrpSpPr/>
          <p:nvPr/>
        </p:nvGrpSpPr>
        <p:grpSpPr>
          <a:xfrm>
            <a:off x="6523399" y="2113744"/>
            <a:ext cx="358588" cy="355325"/>
            <a:chOff x="-13077450" y="3647075"/>
            <a:chExt cx="356025" cy="352750"/>
          </a:xfrm>
          <a:solidFill>
            <a:schemeClr val="tx1"/>
          </a:solidFill>
        </p:grpSpPr>
        <p:sp>
          <p:nvSpPr>
            <p:cNvPr id="32" name="Google Shape;7965;p89">
              <a:extLst>
                <a:ext uri="{FF2B5EF4-FFF2-40B4-BE49-F238E27FC236}">
                  <a16:creationId xmlns:a16="http://schemas.microsoft.com/office/drawing/2014/main" id="{0166D53D-6D4B-89CA-C67B-D2C5ECF986C0}"/>
                </a:ext>
              </a:extLst>
            </p:cNvPr>
            <p:cNvSpPr/>
            <p:nvPr/>
          </p:nvSpPr>
          <p:spPr>
            <a:xfrm>
              <a:off x="-13014450" y="3708500"/>
              <a:ext cx="104000" cy="145750"/>
            </a:xfrm>
            <a:custGeom>
              <a:avLst/>
              <a:gdLst/>
              <a:ahLst/>
              <a:cxnLst/>
              <a:rect l="l" t="t" r="r" b="b"/>
              <a:pathLst>
                <a:path w="4160" h="5830" extrusionOk="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7966;p89">
              <a:extLst>
                <a:ext uri="{FF2B5EF4-FFF2-40B4-BE49-F238E27FC236}">
                  <a16:creationId xmlns:a16="http://schemas.microsoft.com/office/drawing/2014/main" id="{356D3E44-E2B1-4524-36F2-D8152612AA21}"/>
                </a:ext>
              </a:extLst>
            </p:cNvPr>
            <p:cNvSpPr/>
            <p:nvPr/>
          </p:nvSpPr>
          <p:spPr>
            <a:xfrm>
              <a:off x="-12890800" y="3708500"/>
              <a:ext cx="104775" cy="145750"/>
            </a:xfrm>
            <a:custGeom>
              <a:avLst/>
              <a:gdLst/>
              <a:ahLst/>
              <a:cxnLst/>
              <a:rect l="l" t="t" r="r" b="b"/>
              <a:pathLst>
                <a:path w="4191" h="5830" extrusionOk="0">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7967;p89">
              <a:extLst>
                <a:ext uri="{FF2B5EF4-FFF2-40B4-BE49-F238E27FC236}">
                  <a16:creationId xmlns:a16="http://schemas.microsoft.com/office/drawing/2014/main" id="{A46598F4-EF78-9259-DF43-67C63C88C16A}"/>
                </a:ext>
              </a:extLst>
            </p:cNvPr>
            <p:cNvSpPr/>
            <p:nvPr/>
          </p:nvSpPr>
          <p:spPr>
            <a:xfrm>
              <a:off x="-13077450" y="3647075"/>
              <a:ext cx="356025" cy="352750"/>
            </a:xfrm>
            <a:custGeom>
              <a:avLst/>
              <a:gdLst/>
              <a:ahLst/>
              <a:cxnLst/>
              <a:rect l="l" t="t" r="r" b="b"/>
              <a:pathLst>
                <a:path w="14241" h="14110" extrusionOk="0">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8522;p91">
            <a:extLst>
              <a:ext uri="{FF2B5EF4-FFF2-40B4-BE49-F238E27FC236}">
                <a16:creationId xmlns:a16="http://schemas.microsoft.com/office/drawing/2014/main" id="{E3AA46E1-40EA-1D76-B10C-802C36CCC6B0}"/>
              </a:ext>
            </a:extLst>
          </p:cNvPr>
          <p:cNvGrpSpPr/>
          <p:nvPr/>
        </p:nvGrpSpPr>
        <p:grpSpPr>
          <a:xfrm>
            <a:off x="7048604" y="2080442"/>
            <a:ext cx="423043" cy="421927"/>
            <a:chOff x="-2670575" y="3956600"/>
            <a:chExt cx="293800" cy="293025"/>
          </a:xfrm>
          <a:solidFill>
            <a:schemeClr val="tx1"/>
          </a:solidFill>
        </p:grpSpPr>
        <p:sp>
          <p:nvSpPr>
            <p:cNvPr id="36" name="Google Shape;8523;p91">
              <a:extLst>
                <a:ext uri="{FF2B5EF4-FFF2-40B4-BE49-F238E27FC236}">
                  <a16:creationId xmlns:a16="http://schemas.microsoft.com/office/drawing/2014/main" id="{5B47DC84-4F09-E62F-6690-E3270CF619CC}"/>
                </a:ext>
              </a:extLst>
            </p:cNvPr>
            <p:cNvSpPr/>
            <p:nvPr/>
          </p:nvSpPr>
          <p:spPr>
            <a:xfrm>
              <a:off x="-2670575" y="3975525"/>
              <a:ext cx="116575" cy="34675"/>
            </a:xfrm>
            <a:custGeom>
              <a:avLst/>
              <a:gdLst/>
              <a:ahLst/>
              <a:cxnLst/>
              <a:rect l="l" t="t" r="r" b="b"/>
              <a:pathLst>
                <a:path w="4663" h="1387" extrusionOk="0">
                  <a:moveTo>
                    <a:pt x="1040" y="0"/>
                  </a:moveTo>
                  <a:cubicBezTo>
                    <a:pt x="473" y="0"/>
                    <a:pt x="0" y="473"/>
                    <a:pt x="0" y="1040"/>
                  </a:cubicBezTo>
                  <a:lnTo>
                    <a:pt x="0" y="1386"/>
                  </a:lnTo>
                  <a:lnTo>
                    <a:pt x="3781" y="1386"/>
                  </a:lnTo>
                  <a:cubicBezTo>
                    <a:pt x="4001" y="882"/>
                    <a:pt x="4316" y="410"/>
                    <a:pt x="46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8524;p91">
              <a:extLst>
                <a:ext uri="{FF2B5EF4-FFF2-40B4-BE49-F238E27FC236}">
                  <a16:creationId xmlns:a16="http://schemas.microsoft.com/office/drawing/2014/main" id="{DD2D26FA-87DD-B6CC-C445-70EC7D30B03F}"/>
                </a:ext>
              </a:extLst>
            </p:cNvPr>
            <p:cNvSpPr/>
            <p:nvPr/>
          </p:nvSpPr>
          <p:spPr>
            <a:xfrm>
              <a:off x="-2669800" y="4026700"/>
              <a:ext cx="170950" cy="136300"/>
            </a:xfrm>
            <a:custGeom>
              <a:avLst/>
              <a:gdLst/>
              <a:ahLst/>
              <a:cxnLst/>
              <a:rect l="l" t="t" r="r" b="b"/>
              <a:pathLst>
                <a:path w="6838" h="5452" extrusionOk="0">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8525;p91">
              <a:extLst>
                <a:ext uri="{FF2B5EF4-FFF2-40B4-BE49-F238E27FC236}">
                  <a16:creationId xmlns:a16="http://schemas.microsoft.com/office/drawing/2014/main" id="{572386B4-13A9-10CE-031E-5FDD8269C740}"/>
                </a:ext>
              </a:extLst>
            </p:cNvPr>
            <p:cNvSpPr/>
            <p:nvPr/>
          </p:nvSpPr>
          <p:spPr>
            <a:xfrm>
              <a:off x="-2669800" y="4179500"/>
              <a:ext cx="170950" cy="70125"/>
            </a:xfrm>
            <a:custGeom>
              <a:avLst/>
              <a:gdLst/>
              <a:ahLst/>
              <a:cxnLst/>
              <a:rect l="l" t="t" r="r" b="b"/>
              <a:pathLst>
                <a:path w="6838" h="2805" extrusionOk="0">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8526;p91">
              <a:extLst>
                <a:ext uri="{FF2B5EF4-FFF2-40B4-BE49-F238E27FC236}">
                  <a16:creationId xmlns:a16="http://schemas.microsoft.com/office/drawing/2014/main" id="{18DA13EE-156E-87C4-ECAC-2BD3E5708406}"/>
                </a:ext>
              </a:extLst>
            </p:cNvPr>
            <p:cNvSpPr/>
            <p:nvPr/>
          </p:nvSpPr>
          <p:spPr>
            <a:xfrm>
              <a:off x="-2566625" y="3956600"/>
              <a:ext cx="189850" cy="190650"/>
            </a:xfrm>
            <a:custGeom>
              <a:avLst/>
              <a:gdLst/>
              <a:ahLst/>
              <a:cxnLst/>
              <a:rect l="l" t="t" r="r" b="b"/>
              <a:pathLst>
                <a:path w="7594" h="7626" extrusionOk="0">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 name="Google Shape;6991;p88">
            <a:extLst>
              <a:ext uri="{FF2B5EF4-FFF2-40B4-BE49-F238E27FC236}">
                <a16:creationId xmlns:a16="http://schemas.microsoft.com/office/drawing/2014/main" id="{B9990294-018E-3D62-7553-CE7391496B51}"/>
              </a:ext>
            </a:extLst>
          </p:cNvPr>
          <p:cNvGrpSpPr/>
          <p:nvPr/>
        </p:nvGrpSpPr>
        <p:grpSpPr>
          <a:xfrm>
            <a:off x="7127548" y="3648431"/>
            <a:ext cx="352675" cy="355375"/>
            <a:chOff x="-31809525" y="3192625"/>
            <a:chExt cx="290650" cy="292875"/>
          </a:xfrm>
          <a:solidFill>
            <a:schemeClr val="tx1"/>
          </a:solidFill>
        </p:grpSpPr>
        <p:sp>
          <p:nvSpPr>
            <p:cNvPr id="41" name="Google Shape;6992;p88">
              <a:extLst>
                <a:ext uri="{FF2B5EF4-FFF2-40B4-BE49-F238E27FC236}">
                  <a16:creationId xmlns:a16="http://schemas.microsoft.com/office/drawing/2014/main" id="{080C57B2-994B-97D2-DCF3-AFBA6788FC69}"/>
                </a:ext>
              </a:extLst>
            </p:cNvPr>
            <p:cNvSpPr/>
            <p:nvPr/>
          </p:nvSpPr>
          <p:spPr>
            <a:xfrm>
              <a:off x="-31767775" y="3192625"/>
              <a:ext cx="204800" cy="153600"/>
            </a:xfrm>
            <a:custGeom>
              <a:avLst/>
              <a:gdLst/>
              <a:ahLst/>
              <a:cxnLst/>
              <a:rect l="l" t="t" r="r" b="b"/>
              <a:pathLst>
                <a:path w="8192" h="6144" extrusionOk="0">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6993;p88">
              <a:extLst>
                <a:ext uri="{FF2B5EF4-FFF2-40B4-BE49-F238E27FC236}">
                  <a16:creationId xmlns:a16="http://schemas.microsoft.com/office/drawing/2014/main" id="{93922540-2389-3E32-D0EE-EF63A11DA8C1}"/>
                </a:ext>
              </a:extLst>
            </p:cNvPr>
            <p:cNvSpPr/>
            <p:nvPr/>
          </p:nvSpPr>
          <p:spPr>
            <a:xfrm>
              <a:off x="-31715000" y="3244600"/>
              <a:ext cx="101625" cy="52450"/>
            </a:xfrm>
            <a:custGeom>
              <a:avLst/>
              <a:gdLst/>
              <a:ahLst/>
              <a:cxnLst/>
              <a:rect l="l" t="t" r="r" b="b"/>
              <a:pathLst>
                <a:path w="4065" h="2098" extrusionOk="0">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6994;p88">
              <a:extLst>
                <a:ext uri="{FF2B5EF4-FFF2-40B4-BE49-F238E27FC236}">
                  <a16:creationId xmlns:a16="http://schemas.microsoft.com/office/drawing/2014/main" id="{78588F11-56CB-417B-4B73-0F79E1D8FC47}"/>
                </a:ext>
              </a:extLst>
            </p:cNvPr>
            <p:cNvSpPr/>
            <p:nvPr/>
          </p:nvSpPr>
          <p:spPr>
            <a:xfrm>
              <a:off x="-31716575" y="3308400"/>
              <a:ext cx="102400" cy="73275"/>
            </a:xfrm>
            <a:custGeom>
              <a:avLst/>
              <a:gdLst/>
              <a:ahLst/>
              <a:cxnLst/>
              <a:rect l="l" t="t" r="r" b="b"/>
              <a:pathLst>
                <a:path w="4096" h="2931" extrusionOk="0">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6995;p88">
              <a:extLst>
                <a:ext uri="{FF2B5EF4-FFF2-40B4-BE49-F238E27FC236}">
                  <a16:creationId xmlns:a16="http://schemas.microsoft.com/office/drawing/2014/main" id="{7201A654-8ECD-40F3-4D9A-6E659E293531}"/>
                </a:ext>
              </a:extLst>
            </p:cNvPr>
            <p:cNvSpPr/>
            <p:nvPr/>
          </p:nvSpPr>
          <p:spPr>
            <a:xfrm>
              <a:off x="-31809525" y="3386375"/>
              <a:ext cx="290650" cy="99125"/>
            </a:xfrm>
            <a:custGeom>
              <a:avLst/>
              <a:gdLst/>
              <a:ahLst/>
              <a:cxnLst/>
              <a:rect l="l" t="t" r="r" b="b"/>
              <a:pathLst>
                <a:path w="11626" h="3965" extrusionOk="0">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6996;p88">
            <a:extLst>
              <a:ext uri="{FF2B5EF4-FFF2-40B4-BE49-F238E27FC236}">
                <a16:creationId xmlns:a16="http://schemas.microsoft.com/office/drawing/2014/main" id="{D4037542-51AE-F633-B8CF-9FBFB8BD789D}"/>
              </a:ext>
            </a:extLst>
          </p:cNvPr>
          <p:cNvGrpSpPr/>
          <p:nvPr/>
        </p:nvGrpSpPr>
        <p:grpSpPr>
          <a:xfrm>
            <a:off x="6643232" y="3662938"/>
            <a:ext cx="353645" cy="355557"/>
            <a:chOff x="-31811100" y="3550975"/>
            <a:chExt cx="291450" cy="293025"/>
          </a:xfrm>
          <a:solidFill>
            <a:schemeClr val="tx1"/>
          </a:solidFill>
        </p:grpSpPr>
        <p:sp>
          <p:nvSpPr>
            <p:cNvPr id="46" name="Google Shape;6997;p88">
              <a:extLst>
                <a:ext uri="{FF2B5EF4-FFF2-40B4-BE49-F238E27FC236}">
                  <a16:creationId xmlns:a16="http://schemas.microsoft.com/office/drawing/2014/main" id="{EA324E29-8924-057E-E8A3-122F9AE68970}"/>
                </a:ext>
              </a:extLst>
            </p:cNvPr>
            <p:cNvSpPr/>
            <p:nvPr/>
          </p:nvSpPr>
          <p:spPr>
            <a:xfrm>
              <a:off x="-31554325" y="3595875"/>
              <a:ext cx="34675" cy="33900"/>
            </a:xfrm>
            <a:custGeom>
              <a:avLst/>
              <a:gdLst/>
              <a:ahLst/>
              <a:cxnLst/>
              <a:rect l="l" t="t" r="r" b="b"/>
              <a:pathLst>
                <a:path w="1387" h="1356" extrusionOk="0">
                  <a:moveTo>
                    <a:pt x="0" y="1"/>
                  </a:moveTo>
                  <a:lnTo>
                    <a:pt x="0" y="1355"/>
                  </a:lnTo>
                  <a:lnTo>
                    <a:pt x="662" y="1355"/>
                  </a:lnTo>
                  <a:cubicBezTo>
                    <a:pt x="1071" y="1355"/>
                    <a:pt x="1324" y="1040"/>
                    <a:pt x="1324" y="694"/>
                  </a:cubicBezTo>
                  <a:cubicBezTo>
                    <a:pt x="1387" y="316"/>
                    <a:pt x="1071" y="1"/>
                    <a:pt x="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6998;p88">
              <a:extLst>
                <a:ext uri="{FF2B5EF4-FFF2-40B4-BE49-F238E27FC236}">
                  <a16:creationId xmlns:a16="http://schemas.microsoft.com/office/drawing/2014/main" id="{926776AD-941E-BB0F-3A51-754CADD588D0}"/>
                </a:ext>
              </a:extLst>
            </p:cNvPr>
            <p:cNvSpPr/>
            <p:nvPr/>
          </p:nvSpPr>
          <p:spPr>
            <a:xfrm>
              <a:off x="-31659075" y="3628650"/>
              <a:ext cx="139425" cy="71650"/>
            </a:xfrm>
            <a:custGeom>
              <a:avLst/>
              <a:gdLst/>
              <a:ahLst/>
              <a:cxnLst/>
              <a:rect l="l" t="t" r="r" b="b"/>
              <a:pathLst>
                <a:path w="5577" h="2866" extrusionOk="0">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6999;p88">
              <a:extLst>
                <a:ext uri="{FF2B5EF4-FFF2-40B4-BE49-F238E27FC236}">
                  <a16:creationId xmlns:a16="http://schemas.microsoft.com/office/drawing/2014/main" id="{722A68DF-1E76-DA21-CA55-413A4BF5F8A4}"/>
                </a:ext>
              </a:extLst>
            </p:cNvPr>
            <p:cNvSpPr/>
            <p:nvPr/>
          </p:nvSpPr>
          <p:spPr>
            <a:xfrm>
              <a:off x="-31811100" y="3647075"/>
              <a:ext cx="33100" cy="33100"/>
            </a:xfrm>
            <a:custGeom>
              <a:avLst/>
              <a:gdLst/>
              <a:ahLst/>
              <a:cxnLst/>
              <a:rect l="l" t="t" r="r" b="b"/>
              <a:pathLst>
                <a:path w="1324" h="1324" extrusionOk="0">
                  <a:moveTo>
                    <a:pt x="662" y="1"/>
                  </a:moveTo>
                  <a:cubicBezTo>
                    <a:pt x="253" y="1"/>
                    <a:pt x="1" y="316"/>
                    <a:pt x="1" y="662"/>
                  </a:cubicBezTo>
                  <a:cubicBezTo>
                    <a:pt x="1" y="1040"/>
                    <a:pt x="316" y="1324"/>
                    <a:pt x="662" y="1324"/>
                  </a:cubicBezTo>
                  <a:lnTo>
                    <a:pt x="1324" y="1324"/>
                  </a:lnTo>
                  <a:lnTo>
                    <a:pt x="132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000;p88">
              <a:extLst>
                <a:ext uri="{FF2B5EF4-FFF2-40B4-BE49-F238E27FC236}">
                  <a16:creationId xmlns:a16="http://schemas.microsoft.com/office/drawing/2014/main" id="{74D5F744-5D09-BEAF-FA82-902C2F59C7D7}"/>
                </a:ext>
              </a:extLst>
            </p:cNvPr>
            <p:cNvSpPr/>
            <p:nvPr/>
          </p:nvSpPr>
          <p:spPr>
            <a:xfrm>
              <a:off x="-31811100" y="3678325"/>
              <a:ext cx="138650" cy="72250"/>
            </a:xfrm>
            <a:custGeom>
              <a:avLst/>
              <a:gdLst/>
              <a:ahLst/>
              <a:cxnLst/>
              <a:rect l="l" t="t" r="r" b="b"/>
              <a:pathLst>
                <a:path w="5546" h="2890" extrusionOk="0">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7001;p88">
              <a:extLst>
                <a:ext uri="{FF2B5EF4-FFF2-40B4-BE49-F238E27FC236}">
                  <a16:creationId xmlns:a16="http://schemas.microsoft.com/office/drawing/2014/main" id="{177FCBB0-A9DA-359F-B198-20EFA99F7BFF}"/>
                </a:ext>
              </a:extLst>
            </p:cNvPr>
            <p:cNvSpPr/>
            <p:nvPr/>
          </p:nvSpPr>
          <p:spPr>
            <a:xfrm>
              <a:off x="-31759900" y="3791200"/>
              <a:ext cx="187475" cy="52800"/>
            </a:xfrm>
            <a:custGeom>
              <a:avLst/>
              <a:gdLst/>
              <a:ahLst/>
              <a:cxnLst/>
              <a:rect l="l" t="t" r="r" b="b"/>
              <a:pathLst>
                <a:path w="7499" h="2112" extrusionOk="0">
                  <a:moveTo>
                    <a:pt x="1" y="1"/>
                  </a:moveTo>
                  <a:lnTo>
                    <a:pt x="1" y="1072"/>
                  </a:lnTo>
                  <a:cubicBezTo>
                    <a:pt x="1" y="1639"/>
                    <a:pt x="473" y="2112"/>
                    <a:pt x="1009" y="2112"/>
                  </a:cubicBezTo>
                  <a:lnTo>
                    <a:pt x="6491" y="2112"/>
                  </a:lnTo>
                  <a:cubicBezTo>
                    <a:pt x="7026" y="2112"/>
                    <a:pt x="7499" y="1639"/>
                    <a:pt x="7499" y="1072"/>
                  </a:cubicBezTo>
                  <a:lnTo>
                    <a:pt x="749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002;p88">
              <a:extLst>
                <a:ext uri="{FF2B5EF4-FFF2-40B4-BE49-F238E27FC236}">
                  <a16:creationId xmlns:a16="http://schemas.microsoft.com/office/drawing/2014/main" id="{08F8A99F-1F4F-1612-2DAB-1FFD1907ABF9}"/>
                </a:ext>
              </a:extLst>
            </p:cNvPr>
            <p:cNvSpPr/>
            <p:nvPr/>
          </p:nvSpPr>
          <p:spPr>
            <a:xfrm>
              <a:off x="-31759900" y="3550975"/>
              <a:ext cx="187475" cy="35475"/>
            </a:xfrm>
            <a:custGeom>
              <a:avLst/>
              <a:gdLst/>
              <a:ahLst/>
              <a:cxnLst/>
              <a:rect l="l" t="t" r="r" b="b"/>
              <a:pathLst>
                <a:path w="7499" h="1419" extrusionOk="0">
                  <a:moveTo>
                    <a:pt x="1009" y="1"/>
                  </a:moveTo>
                  <a:cubicBezTo>
                    <a:pt x="473" y="1"/>
                    <a:pt x="1" y="474"/>
                    <a:pt x="1" y="1072"/>
                  </a:cubicBezTo>
                  <a:lnTo>
                    <a:pt x="1" y="1419"/>
                  </a:lnTo>
                  <a:lnTo>
                    <a:pt x="7499" y="1419"/>
                  </a:lnTo>
                  <a:lnTo>
                    <a:pt x="7499" y="1072"/>
                  </a:lnTo>
                  <a:cubicBezTo>
                    <a:pt x="7499" y="537"/>
                    <a:pt x="7026" y="1"/>
                    <a:pt x="649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7003;p88">
              <a:extLst>
                <a:ext uri="{FF2B5EF4-FFF2-40B4-BE49-F238E27FC236}">
                  <a16:creationId xmlns:a16="http://schemas.microsoft.com/office/drawing/2014/main" id="{EC0C37D4-6465-4743-34A6-E2201AAC69C0}"/>
                </a:ext>
              </a:extLst>
            </p:cNvPr>
            <p:cNvSpPr/>
            <p:nvPr/>
          </p:nvSpPr>
          <p:spPr>
            <a:xfrm>
              <a:off x="-31759100" y="3602975"/>
              <a:ext cx="188250" cy="172500"/>
            </a:xfrm>
            <a:custGeom>
              <a:avLst/>
              <a:gdLst/>
              <a:ahLst/>
              <a:cxnLst/>
              <a:rect l="l" t="t" r="r" b="b"/>
              <a:pathLst>
                <a:path w="7530" h="6900" extrusionOk="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 name="Google Shape;5783;p85">
            <a:extLst>
              <a:ext uri="{FF2B5EF4-FFF2-40B4-BE49-F238E27FC236}">
                <a16:creationId xmlns:a16="http://schemas.microsoft.com/office/drawing/2014/main" id="{55A5EAED-EF09-2C6B-AB00-467BE3A147A8}"/>
              </a:ext>
            </a:extLst>
          </p:cNvPr>
          <p:cNvSpPr/>
          <p:nvPr/>
        </p:nvSpPr>
        <p:spPr>
          <a:xfrm>
            <a:off x="7168127" y="2877124"/>
            <a:ext cx="333673" cy="315824"/>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Tree>
    <p:extLst>
      <p:ext uri="{BB962C8B-B14F-4D97-AF65-F5344CB8AC3E}">
        <p14:creationId xmlns:p14="http://schemas.microsoft.com/office/powerpoint/2010/main" val="3957603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458AC0-4CDF-68D3-C686-7B17C4E16D87}"/>
              </a:ext>
            </a:extLst>
          </p:cNvPr>
          <p:cNvPicPr>
            <a:picLocks noChangeAspect="1"/>
          </p:cNvPicPr>
          <p:nvPr/>
        </p:nvPicPr>
        <p:blipFill>
          <a:blip r:embed="rId2"/>
          <a:stretch>
            <a:fillRect/>
          </a:stretch>
        </p:blipFill>
        <p:spPr>
          <a:xfrm>
            <a:off x="1700264" y="593764"/>
            <a:ext cx="1947711" cy="4166181"/>
          </a:xfrm>
          <a:prstGeom prst="rect">
            <a:avLst/>
          </a:prstGeom>
        </p:spPr>
      </p:pic>
      <p:pic>
        <p:nvPicPr>
          <p:cNvPr id="7" name="Picture 6">
            <a:extLst>
              <a:ext uri="{FF2B5EF4-FFF2-40B4-BE49-F238E27FC236}">
                <a16:creationId xmlns:a16="http://schemas.microsoft.com/office/drawing/2014/main" id="{C7DABDA8-FC98-E77F-3ACA-6B5104C59F3F}"/>
              </a:ext>
            </a:extLst>
          </p:cNvPr>
          <p:cNvPicPr>
            <a:picLocks noChangeAspect="1"/>
          </p:cNvPicPr>
          <p:nvPr/>
        </p:nvPicPr>
        <p:blipFill>
          <a:blip r:embed="rId3"/>
          <a:stretch>
            <a:fillRect/>
          </a:stretch>
        </p:blipFill>
        <p:spPr>
          <a:xfrm>
            <a:off x="4572000" y="765512"/>
            <a:ext cx="2795956" cy="3612475"/>
          </a:xfrm>
          <a:prstGeom prst="rect">
            <a:avLst/>
          </a:prstGeom>
        </p:spPr>
      </p:pic>
    </p:spTree>
    <p:extLst>
      <p:ext uri="{BB962C8B-B14F-4D97-AF65-F5344CB8AC3E}">
        <p14:creationId xmlns:p14="http://schemas.microsoft.com/office/powerpoint/2010/main" val="741387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D5251-5EF1-9063-72C2-097249DF378E}"/>
            </a:ext>
          </a:extLst>
        </p:cNvPr>
        <p:cNvGrpSpPr/>
        <p:nvPr/>
      </p:nvGrpSpPr>
      <p:grpSpPr>
        <a:xfrm>
          <a:off x="0" y="0"/>
          <a:ext cx="0" cy="0"/>
          <a:chOff x="0" y="0"/>
          <a:chExt cx="0" cy="0"/>
        </a:xfrm>
      </p:grpSpPr>
      <p:sp>
        <p:nvSpPr>
          <p:cNvPr id="5" name="Google Shape;1065;p65">
            <a:extLst>
              <a:ext uri="{FF2B5EF4-FFF2-40B4-BE49-F238E27FC236}">
                <a16:creationId xmlns:a16="http://schemas.microsoft.com/office/drawing/2014/main" id="{0F258D33-2CEF-2A5D-AE64-81FE94C4FB5B}"/>
              </a:ext>
            </a:extLst>
          </p:cNvPr>
          <p:cNvSpPr txBox="1"/>
          <p:nvPr/>
        </p:nvSpPr>
        <p:spPr>
          <a:xfrm>
            <a:off x="1193128" y="85663"/>
            <a:ext cx="2438100" cy="449100"/>
          </a:xfrm>
          <a:prstGeom prst="rect">
            <a:avLst/>
          </a:prstGeom>
          <a:solidFill>
            <a:schemeClr val="accent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IN" sz="2400" dirty="0">
                <a:solidFill>
                  <a:schemeClr val="tx1"/>
                </a:solidFill>
                <a:latin typeface="Krona One"/>
                <a:ea typeface="Krona One"/>
                <a:cs typeface="Krona One"/>
                <a:sym typeface="Krona One"/>
              </a:rPr>
              <a:t>Weakness</a:t>
            </a:r>
            <a:endParaRPr sz="2400" dirty="0">
              <a:solidFill>
                <a:schemeClr val="tx1"/>
              </a:solidFill>
              <a:latin typeface="Krona One"/>
              <a:ea typeface="Krona One"/>
              <a:cs typeface="Krona One"/>
              <a:sym typeface="Krona One"/>
            </a:endParaRPr>
          </a:p>
        </p:txBody>
      </p:sp>
      <p:sp>
        <p:nvSpPr>
          <p:cNvPr id="6" name="TextBox 5">
            <a:extLst>
              <a:ext uri="{FF2B5EF4-FFF2-40B4-BE49-F238E27FC236}">
                <a16:creationId xmlns:a16="http://schemas.microsoft.com/office/drawing/2014/main" id="{0AA26CB1-3670-80E9-AFF9-EEEA64C84EE4}"/>
              </a:ext>
            </a:extLst>
          </p:cNvPr>
          <p:cNvSpPr txBox="1"/>
          <p:nvPr/>
        </p:nvSpPr>
        <p:spPr>
          <a:xfrm>
            <a:off x="548640" y="773494"/>
            <a:ext cx="6762688" cy="4031873"/>
          </a:xfrm>
          <a:prstGeom prst="rect">
            <a:avLst/>
          </a:prstGeom>
          <a:blipFill dpi="0" rotWithShape="1">
            <a:blip r:embed="rId2">
              <a:lum bright="70000" contrast="-70000"/>
              <a:extLst>
                <a:ext uri="{28A0092B-C50C-407E-A947-70E740481C1C}">
                  <a14:useLocalDpi xmlns:a14="http://schemas.microsoft.com/office/drawing/2010/main" val="0"/>
                </a:ext>
              </a:extLst>
            </a:blip>
            <a:srcRect/>
            <a:stretch>
              <a:fillRect/>
            </a:stretch>
          </a:blipFill>
        </p:spPr>
        <p:txBody>
          <a:bodyPr wrap="square" rtlCol="0">
            <a:spAutoFit/>
          </a:bodyPr>
          <a:lstStyle/>
          <a:p>
            <a:r>
              <a:rPr lang="en-US" sz="1600" b="1" dirty="0"/>
              <a:t>1. Limited User Base</a:t>
            </a:r>
          </a:p>
          <a:p>
            <a:pPr marL="285750" indent="-285750">
              <a:buFont typeface="Arial" panose="020B0604020202020204" pitchFamily="34" charset="0"/>
              <a:buChar char="•"/>
            </a:pPr>
            <a:r>
              <a:rPr lang="en-US" sz="1600" b="1" dirty="0"/>
              <a:t>Where the challenge lies:</a:t>
            </a:r>
            <a:br>
              <a:rPr lang="en-US" sz="1600" dirty="0"/>
            </a:br>
            <a:r>
              <a:rPr lang="en-US" sz="1600" dirty="0"/>
              <a:t>CRED’s model is built around users with high credit scores and credit cards — a small slice of India’s population.</a:t>
            </a:r>
          </a:p>
          <a:p>
            <a:pPr marL="285750" indent="-285750">
              <a:buFont typeface="Arial" panose="020B0604020202020204" pitchFamily="34" charset="0"/>
              <a:buChar char="•"/>
            </a:pPr>
            <a:r>
              <a:rPr lang="en-US" sz="1600" b="1" dirty="0"/>
              <a:t>Only ~35 million active credit card users</a:t>
            </a:r>
            <a:r>
              <a:rPr lang="en-US" sz="1600" dirty="0"/>
              <a:t> exist in India, compared to 300+ million UPI users. So CRED is operating in a much narrower market. This niche approach means CRED misses out on the larger market of individuals with lower credit scores or no credit history. For instance, in 2024, only about 20% of the Indian population had a credit score above 750, CRED's target. This limits its expansion possibilities.</a:t>
            </a:r>
          </a:p>
          <a:p>
            <a:pPr marL="285750" indent="-285750">
              <a:buFont typeface="Arial" panose="020B0604020202020204" pitchFamily="34" charset="0"/>
              <a:buChar char="•"/>
            </a:pPr>
            <a:r>
              <a:rPr lang="en-US" sz="1600" dirty="0"/>
              <a:t>By design, it excludes those with lower credit scores or no access to formal credit, limiting both scale and inclusivity.</a:t>
            </a:r>
          </a:p>
          <a:p>
            <a:pPr marL="285750" indent="-285750">
              <a:buFont typeface="Arial" panose="020B0604020202020204" pitchFamily="34" charset="0"/>
              <a:buChar char="•"/>
            </a:pPr>
            <a:r>
              <a:rPr lang="en-US" sz="1600" dirty="0"/>
              <a:t>This makes it hard for CRED to grow as fast or as widely as apps like </a:t>
            </a:r>
            <a:r>
              <a:rPr lang="en-US" sz="1600" dirty="0" err="1"/>
              <a:t>PhonePe</a:t>
            </a:r>
            <a:r>
              <a:rPr lang="en-US" sz="1600" dirty="0"/>
              <a:t> or Paytm, which serve everyone with a bank account.</a:t>
            </a:r>
          </a:p>
          <a:p>
            <a:endParaRPr lang="en-IN" sz="1600" dirty="0">
              <a:latin typeface="Aptos Display" panose="020B0004020202020204" pitchFamily="34" charset="0"/>
            </a:endParaRPr>
          </a:p>
        </p:txBody>
      </p:sp>
      <p:grpSp>
        <p:nvGrpSpPr>
          <p:cNvPr id="2" name="Google Shape;5447;p84">
            <a:extLst>
              <a:ext uri="{FF2B5EF4-FFF2-40B4-BE49-F238E27FC236}">
                <a16:creationId xmlns:a16="http://schemas.microsoft.com/office/drawing/2014/main" id="{629A2C7B-24B7-8EB1-8E89-2EDEC23290AE}"/>
              </a:ext>
            </a:extLst>
          </p:cNvPr>
          <p:cNvGrpSpPr/>
          <p:nvPr/>
        </p:nvGrpSpPr>
        <p:grpSpPr>
          <a:xfrm>
            <a:off x="7260924" y="549683"/>
            <a:ext cx="1334436" cy="967914"/>
            <a:chOff x="4294923" y="2439811"/>
            <a:chExt cx="1334436" cy="967914"/>
          </a:xfrm>
        </p:grpSpPr>
        <p:grpSp>
          <p:nvGrpSpPr>
            <p:cNvPr id="3" name="Google Shape;5448;p84">
              <a:extLst>
                <a:ext uri="{FF2B5EF4-FFF2-40B4-BE49-F238E27FC236}">
                  <a16:creationId xmlns:a16="http://schemas.microsoft.com/office/drawing/2014/main" id="{CB2D83F5-4B0F-021B-BCE2-063158F594B9}"/>
                </a:ext>
              </a:extLst>
            </p:cNvPr>
            <p:cNvGrpSpPr/>
            <p:nvPr/>
          </p:nvGrpSpPr>
          <p:grpSpPr>
            <a:xfrm>
              <a:off x="4960455" y="2469658"/>
              <a:ext cx="668904" cy="885524"/>
              <a:chOff x="4960455" y="2469658"/>
              <a:chExt cx="668904" cy="885524"/>
            </a:xfrm>
          </p:grpSpPr>
          <p:sp>
            <p:nvSpPr>
              <p:cNvPr id="83" name="Google Shape;5449;p84">
                <a:extLst>
                  <a:ext uri="{FF2B5EF4-FFF2-40B4-BE49-F238E27FC236}">
                    <a16:creationId xmlns:a16="http://schemas.microsoft.com/office/drawing/2014/main" id="{1C095905-9008-A466-3944-A9BE6778BA60}"/>
                  </a:ext>
                </a:extLst>
              </p:cNvPr>
              <p:cNvSpPr/>
              <p:nvPr/>
            </p:nvSpPr>
            <p:spPr>
              <a:xfrm>
                <a:off x="4960455" y="3257057"/>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5450;p84">
                <a:extLst>
                  <a:ext uri="{FF2B5EF4-FFF2-40B4-BE49-F238E27FC236}">
                    <a16:creationId xmlns:a16="http://schemas.microsoft.com/office/drawing/2014/main" id="{38692EAE-76E9-CB63-752C-EE49895116C0}"/>
                  </a:ext>
                </a:extLst>
              </p:cNvPr>
              <p:cNvSpPr/>
              <p:nvPr/>
            </p:nvSpPr>
            <p:spPr>
              <a:xfrm>
                <a:off x="4960455" y="3099584"/>
                <a:ext cx="668904" cy="98124"/>
              </a:xfrm>
              <a:custGeom>
                <a:avLst/>
                <a:gdLst/>
                <a:ahLst/>
                <a:cxnLst/>
                <a:rect l="l" t="t" r="r" b="b"/>
                <a:pathLst>
                  <a:path w="42851" h="6286" extrusionOk="0">
                    <a:moveTo>
                      <a:pt x="0" y="0"/>
                    </a:moveTo>
                    <a:lnTo>
                      <a:pt x="0" y="6285"/>
                    </a:lnTo>
                    <a:lnTo>
                      <a:pt x="42851" y="6285"/>
                    </a:lnTo>
                    <a:lnTo>
                      <a:pt x="42851"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5451;p84">
                <a:extLst>
                  <a:ext uri="{FF2B5EF4-FFF2-40B4-BE49-F238E27FC236}">
                    <a16:creationId xmlns:a16="http://schemas.microsoft.com/office/drawing/2014/main" id="{43B9F9BE-DBD7-AC79-5780-86E6BD99F075}"/>
                  </a:ext>
                </a:extLst>
              </p:cNvPr>
              <p:cNvSpPr/>
              <p:nvPr/>
            </p:nvSpPr>
            <p:spPr>
              <a:xfrm>
                <a:off x="4960455" y="2942094"/>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5452;p84">
                <a:extLst>
                  <a:ext uri="{FF2B5EF4-FFF2-40B4-BE49-F238E27FC236}">
                    <a16:creationId xmlns:a16="http://schemas.microsoft.com/office/drawing/2014/main" id="{25E46650-CEA3-F4BD-755F-930A31C9D9DD}"/>
                  </a:ext>
                </a:extLst>
              </p:cNvPr>
              <p:cNvSpPr/>
              <p:nvPr/>
            </p:nvSpPr>
            <p:spPr>
              <a:xfrm>
                <a:off x="4960455" y="2784621"/>
                <a:ext cx="618094" cy="98124"/>
              </a:xfrm>
              <a:custGeom>
                <a:avLst/>
                <a:gdLst/>
                <a:ahLst/>
                <a:cxnLst/>
                <a:rect l="l" t="t" r="r" b="b"/>
                <a:pathLst>
                  <a:path w="39596" h="6286" extrusionOk="0">
                    <a:moveTo>
                      <a:pt x="0" y="0"/>
                    </a:moveTo>
                    <a:lnTo>
                      <a:pt x="0" y="6285"/>
                    </a:lnTo>
                    <a:lnTo>
                      <a:pt x="39596" y="6285"/>
                    </a:lnTo>
                    <a:lnTo>
                      <a:pt x="3959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5453;p84">
                <a:extLst>
                  <a:ext uri="{FF2B5EF4-FFF2-40B4-BE49-F238E27FC236}">
                    <a16:creationId xmlns:a16="http://schemas.microsoft.com/office/drawing/2014/main" id="{3983AF96-571F-F57C-FE40-16F4BD399304}"/>
                  </a:ext>
                </a:extLst>
              </p:cNvPr>
              <p:cNvSpPr/>
              <p:nvPr/>
            </p:nvSpPr>
            <p:spPr>
              <a:xfrm>
                <a:off x="4960455" y="2627131"/>
                <a:ext cx="516519" cy="98140"/>
              </a:xfrm>
              <a:custGeom>
                <a:avLst/>
                <a:gdLst/>
                <a:ahLst/>
                <a:cxnLst/>
                <a:rect l="l" t="t" r="r" b="b"/>
                <a:pathLst>
                  <a:path w="33089" h="6287" extrusionOk="0">
                    <a:moveTo>
                      <a:pt x="0" y="1"/>
                    </a:moveTo>
                    <a:lnTo>
                      <a:pt x="0" y="6286"/>
                    </a:lnTo>
                    <a:lnTo>
                      <a:pt x="33089" y="6286"/>
                    </a:lnTo>
                    <a:lnTo>
                      <a:pt x="3308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5454;p84">
                <a:extLst>
                  <a:ext uri="{FF2B5EF4-FFF2-40B4-BE49-F238E27FC236}">
                    <a16:creationId xmlns:a16="http://schemas.microsoft.com/office/drawing/2014/main" id="{5397C0ED-8D88-72FB-F97D-A41EBE6BBA9C}"/>
                  </a:ext>
                </a:extLst>
              </p:cNvPr>
              <p:cNvSpPr/>
              <p:nvPr/>
            </p:nvSpPr>
            <p:spPr>
              <a:xfrm>
                <a:off x="4960455" y="2469658"/>
                <a:ext cx="313293" cy="98078"/>
              </a:xfrm>
              <a:custGeom>
                <a:avLst/>
                <a:gdLst/>
                <a:ahLst/>
                <a:cxnLst/>
                <a:rect l="l" t="t" r="r" b="b"/>
                <a:pathLst>
                  <a:path w="20070" h="6283" extrusionOk="0">
                    <a:moveTo>
                      <a:pt x="0" y="1"/>
                    </a:moveTo>
                    <a:lnTo>
                      <a:pt x="0" y="6283"/>
                    </a:lnTo>
                    <a:lnTo>
                      <a:pt x="20069" y="6283"/>
                    </a:lnTo>
                    <a:lnTo>
                      <a:pt x="2006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5455;p84">
              <a:extLst>
                <a:ext uri="{FF2B5EF4-FFF2-40B4-BE49-F238E27FC236}">
                  <a16:creationId xmlns:a16="http://schemas.microsoft.com/office/drawing/2014/main" id="{369196E6-AC29-813C-7825-39484565B1C5}"/>
                </a:ext>
              </a:extLst>
            </p:cNvPr>
            <p:cNvGrpSpPr/>
            <p:nvPr/>
          </p:nvGrpSpPr>
          <p:grpSpPr>
            <a:xfrm>
              <a:off x="4294923" y="2469658"/>
              <a:ext cx="668951" cy="885524"/>
              <a:chOff x="4294923" y="2469658"/>
              <a:chExt cx="668951" cy="885524"/>
            </a:xfrm>
          </p:grpSpPr>
          <p:sp>
            <p:nvSpPr>
              <p:cNvPr id="77" name="Google Shape;5456;p84">
                <a:extLst>
                  <a:ext uri="{FF2B5EF4-FFF2-40B4-BE49-F238E27FC236}">
                    <a16:creationId xmlns:a16="http://schemas.microsoft.com/office/drawing/2014/main" id="{B36EB26C-B8BC-79FB-7A95-61D9797A26EB}"/>
                  </a:ext>
                </a:extLst>
              </p:cNvPr>
              <p:cNvSpPr/>
              <p:nvPr/>
            </p:nvSpPr>
            <p:spPr>
              <a:xfrm>
                <a:off x="4294923" y="3257057"/>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5457;p84">
                <a:extLst>
                  <a:ext uri="{FF2B5EF4-FFF2-40B4-BE49-F238E27FC236}">
                    <a16:creationId xmlns:a16="http://schemas.microsoft.com/office/drawing/2014/main" id="{E312C69F-09B3-9DC1-F08A-B81AB6EEA626}"/>
                  </a:ext>
                </a:extLst>
              </p:cNvPr>
              <p:cNvSpPr/>
              <p:nvPr/>
            </p:nvSpPr>
            <p:spPr>
              <a:xfrm>
                <a:off x="4294923" y="3099584"/>
                <a:ext cx="668951" cy="98124"/>
              </a:xfrm>
              <a:custGeom>
                <a:avLst/>
                <a:gdLst/>
                <a:ahLst/>
                <a:cxnLst/>
                <a:rect l="l" t="t" r="r" b="b"/>
                <a:pathLst>
                  <a:path w="42854" h="6286" extrusionOk="0">
                    <a:moveTo>
                      <a:pt x="0" y="0"/>
                    </a:moveTo>
                    <a:lnTo>
                      <a:pt x="0" y="6285"/>
                    </a:lnTo>
                    <a:lnTo>
                      <a:pt x="42854" y="6285"/>
                    </a:lnTo>
                    <a:lnTo>
                      <a:pt x="4285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5458;p84">
                <a:extLst>
                  <a:ext uri="{FF2B5EF4-FFF2-40B4-BE49-F238E27FC236}">
                    <a16:creationId xmlns:a16="http://schemas.microsoft.com/office/drawing/2014/main" id="{C939456A-80C5-073A-08C4-CE751F150204}"/>
                  </a:ext>
                </a:extLst>
              </p:cNvPr>
              <p:cNvSpPr/>
              <p:nvPr/>
            </p:nvSpPr>
            <p:spPr>
              <a:xfrm>
                <a:off x="4294923" y="2942094"/>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5459;p84">
                <a:extLst>
                  <a:ext uri="{FF2B5EF4-FFF2-40B4-BE49-F238E27FC236}">
                    <a16:creationId xmlns:a16="http://schemas.microsoft.com/office/drawing/2014/main" id="{F38FBCA8-CBCF-1D9C-8132-BC73347D5490}"/>
                  </a:ext>
                </a:extLst>
              </p:cNvPr>
              <p:cNvSpPr/>
              <p:nvPr/>
            </p:nvSpPr>
            <p:spPr>
              <a:xfrm>
                <a:off x="4447355" y="2784621"/>
                <a:ext cx="516519" cy="98124"/>
              </a:xfrm>
              <a:custGeom>
                <a:avLst/>
                <a:gdLst/>
                <a:ahLst/>
                <a:cxnLst/>
                <a:rect l="l" t="t" r="r" b="b"/>
                <a:pathLst>
                  <a:path w="33089" h="6286" extrusionOk="0">
                    <a:moveTo>
                      <a:pt x="0" y="0"/>
                    </a:moveTo>
                    <a:lnTo>
                      <a:pt x="0" y="6285"/>
                    </a:lnTo>
                    <a:lnTo>
                      <a:pt x="33089" y="6285"/>
                    </a:lnTo>
                    <a:lnTo>
                      <a:pt x="33089"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5460;p84">
                <a:extLst>
                  <a:ext uri="{FF2B5EF4-FFF2-40B4-BE49-F238E27FC236}">
                    <a16:creationId xmlns:a16="http://schemas.microsoft.com/office/drawing/2014/main" id="{3469F42F-A1A9-9B0C-5416-4F2B27EA67E7}"/>
                  </a:ext>
                </a:extLst>
              </p:cNvPr>
              <p:cNvSpPr/>
              <p:nvPr/>
            </p:nvSpPr>
            <p:spPr>
              <a:xfrm>
                <a:off x="4548960" y="2627131"/>
                <a:ext cx="414914" cy="98140"/>
              </a:xfrm>
              <a:custGeom>
                <a:avLst/>
                <a:gdLst/>
                <a:ahLst/>
                <a:cxnLst/>
                <a:rect l="l" t="t" r="r" b="b"/>
                <a:pathLst>
                  <a:path w="26580" h="6287" extrusionOk="0">
                    <a:moveTo>
                      <a:pt x="1" y="1"/>
                    </a:moveTo>
                    <a:lnTo>
                      <a:pt x="1" y="6286"/>
                    </a:lnTo>
                    <a:lnTo>
                      <a:pt x="26580" y="6286"/>
                    </a:lnTo>
                    <a:lnTo>
                      <a:pt x="2658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5461;p84">
                <a:extLst>
                  <a:ext uri="{FF2B5EF4-FFF2-40B4-BE49-F238E27FC236}">
                    <a16:creationId xmlns:a16="http://schemas.microsoft.com/office/drawing/2014/main" id="{2EC6ACF9-F7F0-28F1-8C2D-977A13AB13F0}"/>
                  </a:ext>
                </a:extLst>
              </p:cNvPr>
              <p:cNvSpPr/>
              <p:nvPr/>
            </p:nvSpPr>
            <p:spPr>
              <a:xfrm>
                <a:off x="4650534" y="2469658"/>
                <a:ext cx="313340" cy="98078"/>
              </a:xfrm>
              <a:custGeom>
                <a:avLst/>
                <a:gdLst/>
                <a:ahLst/>
                <a:cxnLst/>
                <a:rect l="l" t="t" r="r" b="b"/>
                <a:pathLst>
                  <a:path w="20073" h="6283" extrusionOk="0">
                    <a:moveTo>
                      <a:pt x="1" y="1"/>
                    </a:moveTo>
                    <a:lnTo>
                      <a:pt x="1" y="6283"/>
                    </a:lnTo>
                    <a:lnTo>
                      <a:pt x="20073" y="6283"/>
                    </a:lnTo>
                    <a:lnTo>
                      <a:pt x="20073"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5462;p84">
              <a:extLst>
                <a:ext uri="{FF2B5EF4-FFF2-40B4-BE49-F238E27FC236}">
                  <a16:creationId xmlns:a16="http://schemas.microsoft.com/office/drawing/2014/main" id="{8D4D5AB9-881B-121C-D61C-CFEECDB5CB3E}"/>
                </a:ext>
              </a:extLst>
            </p:cNvPr>
            <p:cNvSpPr/>
            <p:nvPr/>
          </p:nvSpPr>
          <p:spPr>
            <a:xfrm>
              <a:off x="4963437" y="2439811"/>
              <a:ext cx="16" cy="967914"/>
            </a:xfrm>
            <a:custGeom>
              <a:avLst/>
              <a:gdLst/>
              <a:ahLst/>
              <a:cxnLst/>
              <a:rect l="l" t="t" r="r" b="b"/>
              <a:pathLst>
                <a:path w="1" h="62006" fill="none" extrusionOk="0">
                  <a:moveTo>
                    <a:pt x="1" y="0"/>
                  </a:moveTo>
                  <a:lnTo>
                    <a:pt x="1" y="62006"/>
                  </a:lnTo>
                </a:path>
              </a:pathLst>
            </a:custGeom>
            <a:noFill/>
            <a:ln w="9525" cap="flat" cmpd="sng">
              <a:solidFill>
                <a:srgbClr val="F2F2F2"/>
              </a:solidFill>
              <a:prstDash val="solid"/>
              <a:miter lim="299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6056;p86">
            <a:extLst>
              <a:ext uri="{FF2B5EF4-FFF2-40B4-BE49-F238E27FC236}">
                <a16:creationId xmlns:a16="http://schemas.microsoft.com/office/drawing/2014/main" id="{F33014F7-D892-C984-BBDC-0D66AFDEF433}"/>
              </a:ext>
            </a:extLst>
          </p:cNvPr>
          <p:cNvGrpSpPr/>
          <p:nvPr/>
        </p:nvGrpSpPr>
        <p:grpSpPr>
          <a:xfrm>
            <a:off x="732841" y="85663"/>
            <a:ext cx="300016" cy="369273"/>
            <a:chOff x="-39248625" y="3588600"/>
            <a:chExt cx="256775" cy="316050"/>
          </a:xfrm>
        </p:grpSpPr>
        <p:sp>
          <p:nvSpPr>
            <p:cNvPr id="90" name="Google Shape;6057;p86">
              <a:extLst>
                <a:ext uri="{FF2B5EF4-FFF2-40B4-BE49-F238E27FC236}">
                  <a16:creationId xmlns:a16="http://schemas.microsoft.com/office/drawing/2014/main" id="{A09BEC34-9825-7986-2575-190D6CD6183C}"/>
                </a:ext>
              </a:extLst>
            </p:cNvPr>
            <p:cNvSpPr/>
            <p:nvPr/>
          </p:nvSpPr>
          <p:spPr>
            <a:xfrm>
              <a:off x="-39248625" y="3588600"/>
              <a:ext cx="256775" cy="316050"/>
            </a:xfrm>
            <a:custGeom>
              <a:avLst/>
              <a:gdLst/>
              <a:ahLst/>
              <a:cxnLst/>
              <a:rect l="l" t="t" r="r" b="b"/>
              <a:pathLst>
                <a:path w="10271" h="12642" extrusionOk="0">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6058;p86">
              <a:extLst>
                <a:ext uri="{FF2B5EF4-FFF2-40B4-BE49-F238E27FC236}">
                  <a16:creationId xmlns:a16="http://schemas.microsoft.com/office/drawing/2014/main" id="{E3297B80-DCDB-2FCC-D236-F39919D8EEA3}"/>
                </a:ext>
              </a:extLst>
            </p:cNvPr>
            <p:cNvSpPr/>
            <p:nvPr/>
          </p:nvSpPr>
          <p:spPr>
            <a:xfrm>
              <a:off x="-39076150" y="3684875"/>
              <a:ext cx="84300" cy="80300"/>
            </a:xfrm>
            <a:custGeom>
              <a:avLst/>
              <a:gdLst/>
              <a:ahLst/>
              <a:cxnLst/>
              <a:rect l="l" t="t" r="r" b="b"/>
              <a:pathLst>
                <a:path w="3372" h="3212" extrusionOk="0">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835311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2F9E11D-6069-CA08-B4AB-92329DFC41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49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UPI Statistics 2025: Insights and Trends Shaping Digital Payments">
            <a:extLst>
              <a:ext uri="{FF2B5EF4-FFF2-40B4-BE49-F238E27FC236}">
                <a16:creationId xmlns:a16="http://schemas.microsoft.com/office/drawing/2014/main" id="{DA5B8142-560A-BD13-72CB-EAF0E1F5EF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3735" y="1802352"/>
            <a:ext cx="2506930" cy="31305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822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34"/>
                                        </p:tgtEl>
                                        <p:attrNameLst>
                                          <p:attrName>style.visibility</p:attrName>
                                        </p:attrNameLst>
                                      </p:cBhvr>
                                      <p:to>
                                        <p:strVal val="visible"/>
                                      </p:to>
                                    </p:set>
                                    <p:anim calcmode="lin" valueType="num">
                                      <p:cBhvr additive="base">
                                        <p:cTn id="12" dur="500" fill="hold"/>
                                        <p:tgtEl>
                                          <p:spTgt spid="1034"/>
                                        </p:tgtEl>
                                        <p:attrNameLst>
                                          <p:attrName>ppt_x</p:attrName>
                                        </p:attrNameLst>
                                      </p:cBhvr>
                                      <p:tavLst>
                                        <p:tav tm="0">
                                          <p:val>
                                            <p:strVal val="#ppt_x"/>
                                          </p:val>
                                        </p:tav>
                                        <p:tav tm="100000">
                                          <p:val>
                                            <p:strVal val="#ppt_x"/>
                                          </p:val>
                                        </p:tav>
                                      </p:tavLst>
                                    </p:anim>
                                    <p:anim calcmode="lin" valueType="num">
                                      <p:cBhvr additive="base">
                                        <p:cTn id="13" dur="500" fill="hold"/>
                                        <p:tgtEl>
                                          <p:spTgt spid="10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A2838-7692-FFAA-FD1D-A98B9E5FE01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BA66E0D-DBB4-AC20-A74D-3D5759D78974}"/>
              </a:ext>
            </a:extLst>
          </p:cNvPr>
          <p:cNvSpPr txBox="1"/>
          <p:nvPr/>
        </p:nvSpPr>
        <p:spPr>
          <a:xfrm>
            <a:off x="548640" y="773494"/>
            <a:ext cx="5736657" cy="3046988"/>
          </a:xfrm>
          <a:prstGeom prst="rect">
            <a:avLst/>
          </a:prstGeom>
          <a:blipFill dpi="0" rotWithShape="1">
            <a:blip r:embed="rId2">
              <a:lum bright="70000" contrast="-70000"/>
              <a:extLst>
                <a:ext uri="{28A0092B-C50C-407E-A947-70E740481C1C}">
                  <a14:useLocalDpi xmlns:a14="http://schemas.microsoft.com/office/drawing/2010/main" val="0"/>
                </a:ext>
              </a:extLst>
            </a:blip>
            <a:srcRect/>
            <a:stretch>
              <a:fillRect/>
            </a:stretch>
          </a:blipFill>
        </p:spPr>
        <p:txBody>
          <a:bodyPr wrap="square" rtlCol="0">
            <a:spAutoFit/>
          </a:bodyPr>
          <a:lstStyle/>
          <a:p>
            <a:r>
              <a:rPr lang="en-US" sz="1600" b="1" dirty="0"/>
              <a:t>2. High Dependence on Rewards</a:t>
            </a:r>
          </a:p>
          <a:p>
            <a:pPr marL="285750" indent="-285750">
              <a:buFont typeface="Arial" panose="020B0604020202020204" pitchFamily="34" charset="0"/>
              <a:buChar char="•"/>
            </a:pPr>
            <a:r>
              <a:rPr lang="en-US" sz="1600" b="1" dirty="0"/>
              <a:t>Where the challenge lies:</a:t>
            </a:r>
            <a:br>
              <a:rPr lang="en-US" sz="1600" dirty="0"/>
            </a:br>
            <a:r>
              <a:rPr lang="en-US" sz="1600" dirty="0"/>
              <a:t>CRED’s engagement engine is built around </a:t>
            </a:r>
            <a:r>
              <a:rPr lang="en-US" sz="1600" b="1" dirty="0"/>
              <a:t>perceived value</a:t>
            </a:r>
            <a:r>
              <a:rPr lang="en-US" sz="1600" dirty="0"/>
              <a:t> — people come back for the rewards.</a:t>
            </a:r>
          </a:p>
          <a:p>
            <a:pPr marL="285750" indent="-285750">
              <a:buFont typeface="Arial" panose="020B0604020202020204" pitchFamily="34" charset="0"/>
              <a:buChar char="•"/>
            </a:pPr>
            <a:r>
              <a:rPr lang="en-US" sz="1600" dirty="0"/>
              <a:t>If the rewards become less attractive, delayed, or repetitive, users lose interest. That’s already a complaint seen in app reviews.</a:t>
            </a:r>
          </a:p>
          <a:p>
            <a:pPr marL="285750" indent="-285750">
              <a:buFont typeface="Arial" panose="020B0604020202020204" pitchFamily="34" charset="0"/>
              <a:buChar char="•"/>
            </a:pPr>
            <a:r>
              <a:rPr lang="en-US" sz="1600" dirty="0"/>
              <a:t>This creates a </a:t>
            </a:r>
            <a:r>
              <a:rPr lang="en-US" sz="1600" b="1" dirty="0"/>
              <a:t>fragile loyalty loop</a:t>
            </a:r>
            <a:r>
              <a:rPr lang="en-US" sz="1600" dirty="0"/>
              <a:t> — users may not be loyal to the platform itself, just to the benefits.</a:t>
            </a:r>
          </a:p>
          <a:p>
            <a:pPr marL="285750" indent="-285750">
              <a:buFont typeface="Arial" panose="020B0604020202020204" pitchFamily="34" charset="0"/>
              <a:buChar char="•"/>
            </a:pPr>
            <a:r>
              <a:rPr lang="en-US" sz="1600" dirty="0"/>
              <a:t>If costs force CRED to cut back on offers or limit redemptions, it risks user churn.</a:t>
            </a:r>
          </a:p>
          <a:p>
            <a:endParaRPr lang="en-IN" sz="1600" dirty="0">
              <a:latin typeface="Aptos Display" panose="020B0004020202020204" pitchFamily="34" charset="0"/>
            </a:endParaRPr>
          </a:p>
        </p:txBody>
      </p:sp>
      <p:grpSp>
        <p:nvGrpSpPr>
          <p:cNvPr id="7" name="Google Shape;5204;p83">
            <a:extLst>
              <a:ext uri="{FF2B5EF4-FFF2-40B4-BE49-F238E27FC236}">
                <a16:creationId xmlns:a16="http://schemas.microsoft.com/office/drawing/2014/main" id="{A655E452-A276-82EE-9FC0-9A59970AD07C}"/>
              </a:ext>
            </a:extLst>
          </p:cNvPr>
          <p:cNvGrpSpPr/>
          <p:nvPr/>
        </p:nvGrpSpPr>
        <p:grpSpPr>
          <a:xfrm>
            <a:off x="6400800" y="773494"/>
            <a:ext cx="2077833" cy="1215060"/>
            <a:chOff x="3820100" y="3023049"/>
            <a:chExt cx="1303926" cy="491162"/>
          </a:xfrm>
        </p:grpSpPr>
        <p:grpSp>
          <p:nvGrpSpPr>
            <p:cNvPr id="8" name="Google Shape;5205;p83">
              <a:extLst>
                <a:ext uri="{FF2B5EF4-FFF2-40B4-BE49-F238E27FC236}">
                  <a16:creationId xmlns:a16="http://schemas.microsoft.com/office/drawing/2014/main" id="{E658B4AA-A72D-1E03-97E3-D80B28FBE0DC}"/>
                </a:ext>
              </a:extLst>
            </p:cNvPr>
            <p:cNvGrpSpPr/>
            <p:nvPr/>
          </p:nvGrpSpPr>
          <p:grpSpPr>
            <a:xfrm>
              <a:off x="3820100" y="3023072"/>
              <a:ext cx="1303926" cy="491139"/>
              <a:chOff x="3820100" y="3023072"/>
              <a:chExt cx="1303926" cy="491139"/>
            </a:xfrm>
          </p:grpSpPr>
          <p:sp>
            <p:nvSpPr>
              <p:cNvPr id="18" name="Google Shape;5206;p83">
                <a:extLst>
                  <a:ext uri="{FF2B5EF4-FFF2-40B4-BE49-F238E27FC236}">
                    <a16:creationId xmlns:a16="http://schemas.microsoft.com/office/drawing/2014/main" id="{3639671E-8C90-9A79-94E8-E942612AC11D}"/>
                  </a:ext>
                </a:extLst>
              </p:cNvPr>
              <p:cNvSpPr/>
              <p:nvPr/>
            </p:nvSpPr>
            <p:spPr>
              <a:xfrm>
                <a:off x="3820100" y="3023072"/>
                <a:ext cx="505424" cy="491139"/>
              </a:xfrm>
              <a:custGeom>
                <a:avLst/>
                <a:gdLst/>
                <a:ahLst/>
                <a:cxnLst/>
                <a:rect l="l" t="t" r="r" b="b"/>
                <a:pathLst>
                  <a:path w="45218" h="43940" extrusionOk="0">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207;p83">
                <a:extLst>
                  <a:ext uri="{FF2B5EF4-FFF2-40B4-BE49-F238E27FC236}">
                    <a16:creationId xmlns:a16="http://schemas.microsoft.com/office/drawing/2014/main" id="{0501AC28-6CD1-6C04-7F19-BB3A9F03F21F}"/>
                  </a:ext>
                </a:extLst>
              </p:cNvPr>
              <p:cNvSpPr/>
              <p:nvPr/>
            </p:nvSpPr>
            <p:spPr>
              <a:xfrm>
                <a:off x="4323828" y="3411976"/>
                <a:ext cx="800197" cy="102229"/>
              </a:xfrm>
              <a:custGeom>
                <a:avLst/>
                <a:gdLst/>
                <a:ahLst/>
                <a:cxnLst/>
                <a:rect l="l" t="t" r="r" b="b"/>
                <a:pathLst>
                  <a:path w="71590" h="9146" extrusionOk="0">
                    <a:moveTo>
                      <a:pt x="1" y="1"/>
                    </a:moveTo>
                    <a:lnTo>
                      <a:pt x="1" y="9145"/>
                    </a:lnTo>
                    <a:lnTo>
                      <a:pt x="71589" y="9145"/>
                    </a:lnTo>
                    <a:lnTo>
                      <a:pt x="71589"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 name="Google Shape;5208;p83">
              <a:extLst>
                <a:ext uri="{FF2B5EF4-FFF2-40B4-BE49-F238E27FC236}">
                  <a16:creationId xmlns:a16="http://schemas.microsoft.com/office/drawing/2014/main" id="{C8E08C32-AE76-A7EC-00EF-B1CE703B4C10}"/>
                </a:ext>
              </a:extLst>
            </p:cNvPr>
            <p:cNvGrpSpPr/>
            <p:nvPr/>
          </p:nvGrpSpPr>
          <p:grpSpPr>
            <a:xfrm>
              <a:off x="4132439" y="3023645"/>
              <a:ext cx="393633" cy="177096"/>
              <a:chOff x="4132439" y="3023645"/>
              <a:chExt cx="393633" cy="177096"/>
            </a:xfrm>
          </p:grpSpPr>
          <p:sp>
            <p:nvSpPr>
              <p:cNvPr id="16" name="Google Shape;5209;p83">
                <a:extLst>
                  <a:ext uri="{FF2B5EF4-FFF2-40B4-BE49-F238E27FC236}">
                    <a16:creationId xmlns:a16="http://schemas.microsoft.com/office/drawing/2014/main" id="{F61AE927-F649-57D4-B9F8-4E0D4BD6A017}"/>
                  </a:ext>
                </a:extLst>
              </p:cNvPr>
              <p:cNvSpPr/>
              <p:nvPr/>
            </p:nvSpPr>
            <p:spPr>
              <a:xfrm>
                <a:off x="4132439" y="3023645"/>
                <a:ext cx="190085" cy="177096"/>
              </a:xfrm>
              <a:custGeom>
                <a:avLst/>
                <a:gdLst/>
                <a:ahLst/>
                <a:cxnLst/>
                <a:rect l="l" t="t" r="r" b="b"/>
                <a:pathLst>
                  <a:path w="17006" h="15844" extrusionOk="0">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5210;p83">
                <a:extLst>
                  <a:ext uri="{FF2B5EF4-FFF2-40B4-BE49-F238E27FC236}">
                    <a16:creationId xmlns:a16="http://schemas.microsoft.com/office/drawing/2014/main" id="{32B83349-0EF6-96D1-22FB-A801DCAD2D6E}"/>
                  </a:ext>
                </a:extLst>
              </p:cNvPr>
              <p:cNvSpPr/>
              <p:nvPr/>
            </p:nvSpPr>
            <p:spPr>
              <a:xfrm>
                <a:off x="4318649" y="3101461"/>
                <a:ext cx="207423" cy="99267"/>
              </a:xfrm>
              <a:custGeom>
                <a:avLst/>
                <a:gdLst/>
                <a:ahLst/>
                <a:cxnLst/>
                <a:rect l="l" t="t" r="r" b="b"/>
                <a:pathLst>
                  <a:path w="18211" h="8881" extrusionOk="0">
                    <a:moveTo>
                      <a:pt x="0" y="0"/>
                    </a:moveTo>
                    <a:lnTo>
                      <a:pt x="0" y="8880"/>
                    </a:lnTo>
                    <a:lnTo>
                      <a:pt x="18210" y="8880"/>
                    </a:lnTo>
                    <a:lnTo>
                      <a:pt x="1821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5211;p83">
              <a:extLst>
                <a:ext uri="{FF2B5EF4-FFF2-40B4-BE49-F238E27FC236}">
                  <a16:creationId xmlns:a16="http://schemas.microsoft.com/office/drawing/2014/main" id="{8B3A9B5A-FB63-0CC3-A7D9-2C32305FFE3D}"/>
                </a:ext>
              </a:extLst>
            </p:cNvPr>
            <p:cNvGrpSpPr/>
            <p:nvPr/>
          </p:nvGrpSpPr>
          <p:grpSpPr>
            <a:xfrm>
              <a:off x="3921811" y="3023049"/>
              <a:ext cx="1002397" cy="388943"/>
              <a:chOff x="3921811" y="3023049"/>
              <a:chExt cx="1002397" cy="388943"/>
            </a:xfrm>
          </p:grpSpPr>
          <p:sp>
            <p:nvSpPr>
              <p:cNvPr id="14" name="Google Shape;5212;p83">
                <a:extLst>
                  <a:ext uri="{FF2B5EF4-FFF2-40B4-BE49-F238E27FC236}">
                    <a16:creationId xmlns:a16="http://schemas.microsoft.com/office/drawing/2014/main" id="{D7EBD209-BF10-0D4C-893A-E6218D883347}"/>
                  </a:ext>
                </a:extLst>
              </p:cNvPr>
              <p:cNvSpPr/>
              <p:nvPr/>
            </p:nvSpPr>
            <p:spPr>
              <a:xfrm>
                <a:off x="3921811" y="3023049"/>
                <a:ext cx="403709" cy="388943"/>
              </a:xfrm>
              <a:custGeom>
                <a:avLst/>
                <a:gdLst/>
                <a:ahLst/>
                <a:cxnLst/>
                <a:rect l="l" t="t" r="r" b="b"/>
                <a:pathLst>
                  <a:path w="36118" h="34797" extrusionOk="0">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213;p83">
                <a:extLst>
                  <a:ext uri="{FF2B5EF4-FFF2-40B4-BE49-F238E27FC236}">
                    <a16:creationId xmlns:a16="http://schemas.microsoft.com/office/drawing/2014/main" id="{BBB79CC1-D7D7-FC6D-7EB0-A7622BD9D3B7}"/>
                  </a:ext>
                </a:extLst>
              </p:cNvPr>
              <p:cNvSpPr/>
              <p:nvPr/>
            </p:nvSpPr>
            <p:spPr>
              <a:xfrm>
                <a:off x="4322109" y="3309770"/>
                <a:ext cx="602098" cy="102218"/>
              </a:xfrm>
              <a:custGeom>
                <a:avLst/>
                <a:gdLst/>
                <a:ahLst/>
                <a:cxnLst/>
                <a:rect l="l" t="t" r="r" b="b"/>
                <a:pathLst>
                  <a:path w="53867" h="9145" extrusionOk="0">
                    <a:moveTo>
                      <a:pt x="1" y="0"/>
                    </a:moveTo>
                    <a:lnTo>
                      <a:pt x="1" y="9145"/>
                    </a:lnTo>
                    <a:lnTo>
                      <a:pt x="53867" y="9145"/>
                    </a:lnTo>
                    <a:lnTo>
                      <a:pt x="5386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5214;p83">
              <a:extLst>
                <a:ext uri="{FF2B5EF4-FFF2-40B4-BE49-F238E27FC236}">
                  <a16:creationId xmlns:a16="http://schemas.microsoft.com/office/drawing/2014/main" id="{ECF3F7D8-8C22-40EA-77DD-DB2659177711}"/>
                </a:ext>
              </a:extLst>
            </p:cNvPr>
            <p:cNvGrpSpPr/>
            <p:nvPr/>
          </p:nvGrpSpPr>
          <p:grpSpPr>
            <a:xfrm>
              <a:off x="4023645" y="3023049"/>
              <a:ext cx="683032" cy="286722"/>
              <a:chOff x="4023645" y="3023049"/>
              <a:chExt cx="683032" cy="286722"/>
            </a:xfrm>
          </p:grpSpPr>
          <p:sp>
            <p:nvSpPr>
              <p:cNvPr id="12" name="Google Shape;5215;p83">
                <a:extLst>
                  <a:ext uri="{FF2B5EF4-FFF2-40B4-BE49-F238E27FC236}">
                    <a16:creationId xmlns:a16="http://schemas.microsoft.com/office/drawing/2014/main" id="{284A9B27-77FE-05D9-910B-9C18FABABC4E}"/>
                  </a:ext>
                </a:extLst>
              </p:cNvPr>
              <p:cNvSpPr/>
              <p:nvPr/>
            </p:nvSpPr>
            <p:spPr>
              <a:xfrm>
                <a:off x="4023645" y="3023049"/>
                <a:ext cx="300664" cy="286524"/>
              </a:xfrm>
              <a:custGeom>
                <a:avLst/>
                <a:gdLst/>
                <a:ahLst/>
                <a:cxnLst/>
                <a:rect l="l" t="t" r="r" b="b"/>
                <a:pathLst>
                  <a:path w="26899" h="25634" extrusionOk="0">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216;p83">
                <a:extLst>
                  <a:ext uri="{FF2B5EF4-FFF2-40B4-BE49-F238E27FC236}">
                    <a16:creationId xmlns:a16="http://schemas.microsoft.com/office/drawing/2014/main" id="{F65E60EF-345B-F492-47BA-1447D55F7D2D}"/>
                  </a:ext>
                </a:extLst>
              </p:cNvPr>
              <p:cNvSpPr/>
              <p:nvPr/>
            </p:nvSpPr>
            <p:spPr>
              <a:xfrm>
                <a:off x="4314850" y="3200125"/>
                <a:ext cx="391827" cy="109646"/>
              </a:xfrm>
              <a:custGeom>
                <a:avLst/>
                <a:gdLst/>
                <a:ahLst/>
                <a:cxnLst/>
                <a:rect l="l" t="t" r="r" b="b"/>
                <a:pathLst>
                  <a:path w="35055" h="9792" extrusionOk="0">
                    <a:moveTo>
                      <a:pt x="1" y="0"/>
                    </a:moveTo>
                    <a:lnTo>
                      <a:pt x="1" y="88"/>
                    </a:lnTo>
                    <a:lnTo>
                      <a:pt x="1" y="9792"/>
                    </a:lnTo>
                    <a:lnTo>
                      <a:pt x="35054" y="9792"/>
                    </a:lnTo>
                    <a:lnTo>
                      <a:pt x="3505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37639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EBAFE-4346-3278-F1DB-32B19C90EFA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A2B8704-9365-000A-7A43-7437B5698B9B}"/>
              </a:ext>
            </a:extLst>
          </p:cNvPr>
          <p:cNvSpPr txBox="1"/>
          <p:nvPr/>
        </p:nvSpPr>
        <p:spPr>
          <a:xfrm>
            <a:off x="77002" y="609865"/>
            <a:ext cx="5736657" cy="3046988"/>
          </a:xfrm>
          <a:prstGeom prst="rect">
            <a:avLst/>
          </a:prstGeom>
          <a:blipFill dpi="0" rotWithShape="1">
            <a:blip r:embed="rId2">
              <a:lum bright="70000" contrast="-70000"/>
              <a:extLst>
                <a:ext uri="{28A0092B-C50C-407E-A947-70E740481C1C}">
                  <a14:useLocalDpi xmlns:a14="http://schemas.microsoft.com/office/drawing/2010/main" val="0"/>
                </a:ext>
              </a:extLst>
            </a:blip>
            <a:srcRect/>
            <a:stretch>
              <a:fillRect/>
            </a:stretch>
          </a:blipFill>
        </p:spPr>
        <p:txBody>
          <a:bodyPr wrap="square" rtlCol="0">
            <a:spAutoFit/>
          </a:bodyPr>
          <a:lstStyle/>
          <a:p>
            <a:r>
              <a:rPr lang="en-US" sz="1600" b="1" dirty="0"/>
              <a:t>3. Profitability Challenges</a:t>
            </a:r>
          </a:p>
          <a:p>
            <a:pPr marL="285750" indent="-285750">
              <a:buFont typeface="Arial" panose="020B0604020202020204" pitchFamily="34" charset="0"/>
              <a:buChar char="•"/>
            </a:pPr>
            <a:r>
              <a:rPr lang="en-US" sz="1600" b="1" dirty="0"/>
              <a:t>Where the challenge lies:</a:t>
            </a:r>
            <a:br>
              <a:rPr lang="en-US" sz="1600" dirty="0"/>
            </a:br>
            <a:r>
              <a:rPr lang="en-US" sz="1600" dirty="0"/>
              <a:t>CRED has massive brand presence and funding, but it’s still bleeding money.</a:t>
            </a:r>
          </a:p>
          <a:p>
            <a:pPr marL="285750" indent="-285750">
              <a:buFont typeface="Arial" panose="020B0604020202020204" pitchFamily="34" charset="0"/>
              <a:buChar char="•"/>
            </a:pPr>
            <a:r>
              <a:rPr lang="en-US" sz="1600" dirty="0"/>
              <a:t>It spends heavily on </a:t>
            </a:r>
            <a:r>
              <a:rPr lang="en-US" sz="1600" b="1" dirty="0"/>
              <a:t>marketing, cashback, partnerships, and tech</a:t>
            </a:r>
            <a:r>
              <a:rPr lang="en-US" sz="1600" dirty="0"/>
              <a:t> to attract and retain users.</a:t>
            </a:r>
          </a:p>
          <a:p>
            <a:pPr marL="285750" indent="-285750">
              <a:buFont typeface="Arial" panose="020B0604020202020204" pitchFamily="34" charset="0"/>
              <a:buChar char="•"/>
            </a:pPr>
            <a:r>
              <a:rPr lang="en-US" sz="1600" dirty="0"/>
              <a:t>Despite revenues crossing ₹2,400 crore (FY24), </a:t>
            </a:r>
            <a:r>
              <a:rPr lang="en-US" sz="1600" b="1" dirty="0"/>
              <a:t>losses remain high</a:t>
            </a:r>
            <a:r>
              <a:rPr lang="en-US" sz="1600" dirty="0"/>
              <a:t>, with no clear timeline for turning profitable.</a:t>
            </a:r>
          </a:p>
          <a:p>
            <a:pPr marL="285750" indent="-285750">
              <a:buFont typeface="Arial" panose="020B0604020202020204" pitchFamily="34" charset="0"/>
              <a:buChar char="•"/>
            </a:pPr>
            <a:r>
              <a:rPr lang="en-US" sz="1600" dirty="0"/>
              <a:t>This creates pressure from investors and raises sustainability questions, especially in a market where users are price-sensitive and alternatives are free.</a:t>
            </a:r>
          </a:p>
          <a:p>
            <a:endParaRPr lang="en-IN" sz="1600" dirty="0">
              <a:latin typeface="Aptos Display" panose="020B0004020202020204" pitchFamily="34" charset="0"/>
            </a:endParaRPr>
          </a:p>
        </p:txBody>
      </p:sp>
      <p:pic>
        <p:nvPicPr>
          <p:cNvPr id="2052" name="Picture 4" descr="Financials">
            <a:extLst>
              <a:ext uri="{FF2B5EF4-FFF2-40B4-BE49-F238E27FC236}">
                <a16:creationId xmlns:a16="http://schemas.microsoft.com/office/drawing/2014/main" id="{7A69866B-FF43-15F4-325E-4B4C34E86A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5135" y="477813"/>
            <a:ext cx="3430795" cy="3410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9948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3799B-D61A-E43E-3B0C-5317E2DDC97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C626CA3-994B-B225-36B6-E2B47B2C00BF}"/>
              </a:ext>
            </a:extLst>
          </p:cNvPr>
          <p:cNvPicPr>
            <a:picLocks noChangeAspect="1"/>
          </p:cNvPicPr>
          <p:nvPr/>
        </p:nvPicPr>
        <p:blipFill>
          <a:blip r:embed="rId2"/>
          <a:stretch>
            <a:fillRect/>
          </a:stretch>
        </p:blipFill>
        <p:spPr>
          <a:xfrm>
            <a:off x="1187969" y="67377"/>
            <a:ext cx="6367863" cy="5008745"/>
          </a:xfrm>
          <a:prstGeom prst="rect">
            <a:avLst/>
          </a:prstGeom>
        </p:spPr>
      </p:pic>
    </p:spTree>
    <p:extLst>
      <p:ext uri="{BB962C8B-B14F-4D97-AF65-F5344CB8AC3E}">
        <p14:creationId xmlns:p14="http://schemas.microsoft.com/office/powerpoint/2010/main" val="1449781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69737-E877-107B-1996-0A5DB073A73A}"/>
            </a:ext>
          </a:extLst>
        </p:cNvPr>
        <p:cNvGrpSpPr/>
        <p:nvPr/>
      </p:nvGrpSpPr>
      <p:grpSpPr>
        <a:xfrm>
          <a:off x="0" y="0"/>
          <a:ext cx="0" cy="0"/>
          <a:chOff x="0" y="0"/>
          <a:chExt cx="0" cy="0"/>
        </a:xfrm>
      </p:grpSpPr>
      <p:sp>
        <p:nvSpPr>
          <p:cNvPr id="5" name="Google Shape;1065;p65">
            <a:extLst>
              <a:ext uri="{FF2B5EF4-FFF2-40B4-BE49-F238E27FC236}">
                <a16:creationId xmlns:a16="http://schemas.microsoft.com/office/drawing/2014/main" id="{D3300E91-00AE-F77C-EF80-C6D9D889551A}"/>
              </a:ext>
            </a:extLst>
          </p:cNvPr>
          <p:cNvSpPr txBox="1"/>
          <p:nvPr/>
        </p:nvSpPr>
        <p:spPr>
          <a:xfrm>
            <a:off x="1193127" y="85663"/>
            <a:ext cx="3282619" cy="449100"/>
          </a:xfrm>
          <a:prstGeom prst="rect">
            <a:avLst/>
          </a:prstGeom>
          <a:solidFill>
            <a:schemeClr val="bg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IN" sz="2400" dirty="0">
                <a:solidFill>
                  <a:schemeClr val="tx1"/>
                </a:solidFill>
                <a:latin typeface="Krona One"/>
                <a:ea typeface="Krona One"/>
                <a:cs typeface="Krona One"/>
                <a:sym typeface="Krona One"/>
              </a:rPr>
              <a:t>Opportunities</a:t>
            </a:r>
            <a:endParaRPr sz="2400" dirty="0">
              <a:solidFill>
                <a:schemeClr val="tx1"/>
              </a:solidFill>
              <a:latin typeface="Krona One"/>
              <a:ea typeface="Krona One"/>
              <a:cs typeface="Krona One"/>
              <a:sym typeface="Krona One"/>
            </a:endParaRPr>
          </a:p>
        </p:txBody>
      </p:sp>
      <p:sp>
        <p:nvSpPr>
          <p:cNvPr id="6" name="TextBox 5">
            <a:extLst>
              <a:ext uri="{FF2B5EF4-FFF2-40B4-BE49-F238E27FC236}">
                <a16:creationId xmlns:a16="http://schemas.microsoft.com/office/drawing/2014/main" id="{70C6F26B-7277-8988-9327-7D72CEEF98A7}"/>
              </a:ext>
            </a:extLst>
          </p:cNvPr>
          <p:cNvSpPr txBox="1"/>
          <p:nvPr/>
        </p:nvSpPr>
        <p:spPr>
          <a:xfrm>
            <a:off x="548640" y="773494"/>
            <a:ext cx="5736657" cy="3293209"/>
          </a:xfrm>
          <a:prstGeom prst="rect">
            <a:avLst/>
          </a:prstGeom>
          <a:blipFill dpi="0" rotWithShape="1">
            <a:blip r:embed="rId2">
              <a:duotone>
                <a:schemeClr val="accent5">
                  <a:shade val="45000"/>
                  <a:satMod val="135000"/>
                </a:schemeClr>
                <a:prstClr val="white"/>
              </a:duotone>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a:stretch>
              <a:fillRect/>
            </a:stretch>
          </a:blipFill>
        </p:spPr>
        <p:txBody>
          <a:bodyPr wrap="square" rtlCol="0">
            <a:spAutoFit/>
          </a:bodyPr>
          <a:lstStyle/>
          <a:p>
            <a:r>
              <a:rPr lang="en-US" sz="1600" b="1" dirty="0"/>
              <a:t>1.Service &amp; Market Expansion</a:t>
            </a:r>
          </a:p>
          <a:p>
            <a:pPr marL="285750" indent="-285750">
              <a:buFont typeface="Arial" panose="020B0604020202020204" pitchFamily="34" charset="0"/>
              <a:buChar char="•"/>
            </a:pPr>
            <a:r>
              <a:rPr lang="en-US" sz="1600" b="1" dirty="0"/>
              <a:t>How it fits the fintech landscape:</a:t>
            </a:r>
            <a:br>
              <a:rPr lang="en-US" sz="1600" dirty="0"/>
            </a:br>
            <a:r>
              <a:rPr lang="en-US" sz="1600" dirty="0"/>
              <a:t>CRED can break out of its credit-card-only bubble and become a broader personal finance platform.</a:t>
            </a:r>
          </a:p>
          <a:p>
            <a:endParaRPr lang="en-US" sz="1600" dirty="0"/>
          </a:p>
          <a:p>
            <a:pPr marL="285750" indent="-285750">
              <a:buFont typeface="Arial" panose="020B0604020202020204" pitchFamily="34" charset="0"/>
              <a:buChar char="•"/>
            </a:pPr>
            <a:r>
              <a:rPr lang="en-US" sz="1600" dirty="0"/>
              <a:t>Expanding into </a:t>
            </a:r>
            <a:r>
              <a:rPr lang="en-US" sz="1600" b="1" dirty="0"/>
              <a:t>personal loans, BNPL (Buy Now Pay Later), and insurance</a:t>
            </a:r>
            <a:r>
              <a:rPr lang="en-US" sz="1600" dirty="0"/>
              <a:t> would allow CRED to serve more everyday financial needs, not just payments.</a:t>
            </a:r>
          </a:p>
          <a:p>
            <a:endParaRPr lang="en-US" sz="1600" dirty="0"/>
          </a:p>
          <a:p>
            <a:pPr marL="285750" indent="-285750">
              <a:buFont typeface="Arial" panose="020B0604020202020204" pitchFamily="34" charset="0"/>
              <a:buChar char="•"/>
            </a:pPr>
            <a:r>
              <a:rPr lang="en-US" sz="1600" dirty="0"/>
              <a:t>As users mature financially, they look for a </a:t>
            </a:r>
            <a:r>
              <a:rPr lang="en-US" sz="1600" b="1" dirty="0"/>
              <a:t>one-stop app</a:t>
            </a:r>
            <a:r>
              <a:rPr lang="en-US" sz="1600" dirty="0"/>
              <a:t> for spending, saving, and investing — CRED has the brand and infrastructure to become that.</a:t>
            </a:r>
          </a:p>
          <a:p>
            <a:endParaRPr lang="en-IN" sz="1600" dirty="0">
              <a:latin typeface="Aptos Display" panose="020B0004020202020204" pitchFamily="34" charset="0"/>
            </a:endParaRPr>
          </a:p>
        </p:txBody>
      </p:sp>
      <p:grpSp>
        <p:nvGrpSpPr>
          <p:cNvPr id="7" name="Google Shape;6554;p87">
            <a:extLst>
              <a:ext uri="{FF2B5EF4-FFF2-40B4-BE49-F238E27FC236}">
                <a16:creationId xmlns:a16="http://schemas.microsoft.com/office/drawing/2014/main" id="{EBF7B8EF-B86F-460F-C336-72C52DD444D8}"/>
              </a:ext>
            </a:extLst>
          </p:cNvPr>
          <p:cNvGrpSpPr/>
          <p:nvPr/>
        </p:nvGrpSpPr>
        <p:grpSpPr>
          <a:xfrm>
            <a:off x="6381970" y="2091971"/>
            <a:ext cx="310770" cy="365467"/>
            <a:chOff x="-60232500" y="4101525"/>
            <a:chExt cx="268600" cy="315875"/>
          </a:xfrm>
          <a:solidFill>
            <a:schemeClr val="tx1"/>
          </a:solidFill>
        </p:grpSpPr>
        <p:sp>
          <p:nvSpPr>
            <p:cNvPr id="8" name="Google Shape;6555;p87">
              <a:extLst>
                <a:ext uri="{FF2B5EF4-FFF2-40B4-BE49-F238E27FC236}">
                  <a16:creationId xmlns:a16="http://schemas.microsoft.com/office/drawing/2014/main" id="{A34A4F8C-5B8D-A2FA-9D9C-98B1DBA14238}"/>
                </a:ext>
              </a:extLst>
            </p:cNvPr>
            <p:cNvSpPr/>
            <p:nvPr/>
          </p:nvSpPr>
          <p:spPr>
            <a:xfrm>
              <a:off x="-60222275" y="4273225"/>
              <a:ext cx="63025" cy="144175"/>
            </a:xfrm>
            <a:custGeom>
              <a:avLst/>
              <a:gdLst/>
              <a:ahLst/>
              <a:cxnLst/>
              <a:rect l="l" t="t" r="r" b="b"/>
              <a:pathLst>
                <a:path w="2521" h="5767" extrusionOk="0">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556;p87">
              <a:extLst>
                <a:ext uri="{FF2B5EF4-FFF2-40B4-BE49-F238E27FC236}">
                  <a16:creationId xmlns:a16="http://schemas.microsoft.com/office/drawing/2014/main" id="{D3326412-CC8B-7010-D9E4-F84E78750D3A}"/>
                </a:ext>
              </a:extLst>
            </p:cNvPr>
            <p:cNvSpPr/>
            <p:nvPr/>
          </p:nvSpPr>
          <p:spPr>
            <a:xfrm>
              <a:off x="-60232500" y="4101525"/>
              <a:ext cx="268600" cy="315875"/>
            </a:xfrm>
            <a:custGeom>
              <a:avLst/>
              <a:gdLst/>
              <a:ahLst/>
              <a:cxnLst/>
              <a:rect l="l" t="t" r="r" b="b"/>
              <a:pathLst>
                <a:path w="10744" h="12635" extrusionOk="0">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6582;p87">
            <a:extLst>
              <a:ext uri="{FF2B5EF4-FFF2-40B4-BE49-F238E27FC236}">
                <a16:creationId xmlns:a16="http://schemas.microsoft.com/office/drawing/2014/main" id="{204FE1B0-2E73-7F3F-5273-2ECE055F752A}"/>
              </a:ext>
            </a:extLst>
          </p:cNvPr>
          <p:cNvGrpSpPr/>
          <p:nvPr/>
        </p:nvGrpSpPr>
        <p:grpSpPr>
          <a:xfrm>
            <a:off x="6795138" y="2092376"/>
            <a:ext cx="369112" cy="364657"/>
            <a:chOff x="-59869425" y="4102225"/>
            <a:chExt cx="319025" cy="315175"/>
          </a:xfrm>
          <a:solidFill>
            <a:schemeClr val="tx1"/>
          </a:solidFill>
        </p:grpSpPr>
        <p:sp>
          <p:nvSpPr>
            <p:cNvPr id="11" name="Google Shape;6583;p87">
              <a:extLst>
                <a:ext uri="{FF2B5EF4-FFF2-40B4-BE49-F238E27FC236}">
                  <a16:creationId xmlns:a16="http://schemas.microsoft.com/office/drawing/2014/main" id="{A7244C46-0E13-2535-CC2E-A14BA7D23457}"/>
                </a:ext>
              </a:extLst>
            </p:cNvPr>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584;p87">
              <a:extLst>
                <a:ext uri="{FF2B5EF4-FFF2-40B4-BE49-F238E27FC236}">
                  <a16:creationId xmlns:a16="http://schemas.microsoft.com/office/drawing/2014/main" id="{52DEBA59-5069-2C93-6070-98CE906F92AF}"/>
                </a:ext>
              </a:extLst>
            </p:cNvPr>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585;p87">
              <a:extLst>
                <a:ext uri="{FF2B5EF4-FFF2-40B4-BE49-F238E27FC236}">
                  <a16:creationId xmlns:a16="http://schemas.microsoft.com/office/drawing/2014/main" id="{F8FA1242-13EE-825B-9BE6-10D68C3442AC}"/>
                </a:ext>
              </a:extLst>
            </p:cNvPr>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586;p87">
              <a:extLst>
                <a:ext uri="{FF2B5EF4-FFF2-40B4-BE49-F238E27FC236}">
                  <a16:creationId xmlns:a16="http://schemas.microsoft.com/office/drawing/2014/main" id="{D1022702-291E-3AC9-6746-D781E800B346}"/>
                </a:ext>
              </a:extLst>
            </p:cNvPr>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7635;p89">
            <a:extLst>
              <a:ext uri="{FF2B5EF4-FFF2-40B4-BE49-F238E27FC236}">
                <a16:creationId xmlns:a16="http://schemas.microsoft.com/office/drawing/2014/main" id="{B32822C8-6295-8487-538B-202BFEDD03E8}"/>
              </a:ext>
            </a:extLst>
          </p:cNvPr>
          <p:cNvGrpSpPr/>
          <p:nvPr/>
        </p:nvGrpSpPr>
        <p:grpSpPr>
          <a:xfrm>
            <a:off x="6176704" y="3100383"/>
            <a:ext cx="354311" cy="354104"/>
            <a:chOff x="-49764975" y="3183375"/>
            <a:chExt cx="299300" cy="299125"/>
          </a:xfrm>
          <a:solidFill>
            <a:schemeClr val="tx1"/>
          </a:solidFill>
        </p:grpSpPr>
        <p:sp>
          <p:nvSpPr>
            <p:cNvPr id="16" name="Google Shape;7636;p89">
              <a:extLst>
                <a:ext uri="{FF2B5EF4-FFF2-40B4-BE49-F238E27FC236}">
                  <a16:creationId xmlns:a16="http://schemas.microsoft.com/office/drawing/2014/main" id="{8735F871-9596-A061-C750-0573E63D903D}"/>
                </a:ext>
              </a:extLst>
            </p:cNvPr>
            <p:cNvSpPr/>
            <p:nvPr/>
          </p:nvSpPr>
          <p:spPr>
            <a:xfrm>
              <a:off x="-49606675" y="3233575"/>
              <a:ext cx="70125" cy="103200"/>
            </a:xfrm>
            <a:custGeom>
              <a:avLst/>
              <a:gdLst/>
              <a:ahLst/>
              <a:cxnLst/>
              <a:rect l="l" t="t" r="r" b="b"/>
              <a:pathLst>
                <a:path w="2805" h="4128" extrusionOk="0">
                  <a:moveTo>
                    <a:pt x="2805" y="1"/>
                  </a:moveTo>
                  <a:lnTo>
                    <a:pt x="1" y="1355"/>
                  </a:lnTo>
                  <a:lnTo>
                    <a:pt x="1" y="4128"/>
                  </a:lnTo>
                  <a:lnTo>
                    <a:pt x="2805" y="2710"/>
                  </a:lnTo>
                  <a:lnTo>
                    <a:pt x="2805"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637;p89">
              <a:extLst>
                <a:ext uri="{FF2B5EF4-FFF2-40B4-BE49-F238E27FC236}">
                  <a16:creationId xmlns:a16="http://schemas.microsoft.com/office/drawing/2014/main" id="{84704BC7-B5FB-320C-595B-FEAA0CD08DD8}"/>
                </a:ext>
              </a:extLst>
            </p:cNvPr>
            <p:cNvSpPr/>
            <p:nvPr/>
          </p:nvSpPr>
          <p:spPr>
            <a:xfrm>
              <a:off x="-49676775" y="3364325"/>
              <a:ext cx="52000" cy="118175"/>
            </a:xfrm>
            <a:custGeom>
              <a:avLst/>
              <a:gdLst/>
              <a:ahLst/>
              <a:cxnLst/>
              <a:rect l="l" t="t" r="r" b="b"/>
              <a:pathLst>
                <a:path w="2080" h="4727" extrusionOk="0">
                  <a:moveTo>
                    <a:pt x="2080" y="0"/>
                  </a:moveTo>
                  <a:lnTo>
                    <a:pt x="1" y="1072"/>
                  </a:lnTo>
                  <a:lnTo>
                    <a:pt x="1" y="4726"/>
                  </a:lnTo>
                  <a:lnTo>
                    <a:pt x="2080" y="3529"/>
                  </a:lnTo>
                  <a:lnTo>
                    <a:pt x="2080"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638;p89">
              <a:extLst>
                <a:ext uri="{FF2B5EF4-FFF2-40B4-BE49-F238E27FC236}">
                  <a16:creationId xmlns:a16="http://schemas.microsoft.com/office/drawing/2014/main" id="{A8AB6313-2C0D-F0B1-92E9-0D211E9EFFBB}"/>
                </a:ext>
              </a:extLst>
            </p:cNvPr>
            <p:cNvSpPr/>
            <p:nvPr/>
          </p:nvSpPr>
          <p:spPr>
            <a:xfrm>
              <a:off x="-49694100" y="3233575"/>
              <a:ext cx="69325" cy="103200"/>
            </a:xfrm>
            <a:custGeom>
              <a:avLst/>
              <a:gdLst/>
              <a:ahLst/>
              <a:cxnLst/>
              <a:rect l="l" t="t" r="r" b="b"/>
              <a:pathLst>
                <a:path w="2773" h="4128" extrusionOk="0">
                  <a:moveTo>
                    <a:pt x="1" y="1"/>
                  </a:moveTo>
                  <a:lnTo>
                    <a:pt x="1" y="2710"/>
                  </a:lnTo>
                  <a:lnTo>
                    <a:pt x="2773" y="4128"/>
                  </a:lnTo>
                  <a:lnTo>
                    <a:pt x="2773" y="1355"/>
                  </a:lnTo>
                  <a:lnTo>
                    <a:pt x="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639;p89">
              <a:extLst>
                <a:ext uri="{FF2B5EF4-FFF2-40B4-BE49-F238E27FC236}">
                  <a16:creationId xmlns:a16="http://schemas.microsoft.com/office/drawing/2014/main" id="{BCDE0627-F140-5F99-39DA-BD3CA13B9313}"/>
                </a:ext>
              </a:extLst>
            </p:cNvPr>
            <p:cNvSpPr/>
            <p:nvPr/>
          </p:nvSpPr>
          <p:spPr>
            <a:xfrm>
              <a:off x="-49756325" y="3314700"/>
              <a:ext cx="121325" cy="61450"/>
            </a:xfrm>
            <a:custGeom>
              <a:avLst/>
              <a:gdLst/>
              <a:ahLst/>
              <a:cxnLst/>
              <a:rect l="l" t="t" r="r" b="b"/>
              <a:pathLst>
                <a:path w="4853" h="2458" extrusionOk="0">
                  <a:moveTo>
                    <a:pt x="2048" y="1"/>
                  </a:moveTo>
                  <a:lnTo>
                    <a:pt x="1" y="1040"/>
                  </a:lnTo>
                  <a:lnTo>
                    <a:pt x="2836" y="2458"/>
                  </a:lnTo>
                  <a:lnTo>
                    <a:pt x="4852" y="1418"/>
                  </a:lnTo>
                  <a:lnTo>
                    <a:pt x="204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640;p89">
              <a:extLst>
                <a:ext uri="{FF2B5EF4-FFF2-40B4-BE49-F238E27FC236}">
                  <a16:creationId xmlns:a16="http://schemas.microsoft.com/office/drawing/2014/main" id="{31D73688-8BF4-DB81-EDA1-98DAFE38DDFB}"/>
                </a:ext>
              </a:extLst>
            </p:cNvPr>
            <p:cNvSpPr/>
            <p:nvPr/>
          </p:nvSpPr>
          <p:spPr>
            <a:xfrm>
              <a:off x="-49606675" y="3364325"/>
              <a:ext cx="52000" cy="118175"/>
            </a:xfrm>
            <a:custGeom>
              <a:avLst/>
              <a:gdLst/>
              <a:ahLst/>
              <a:cxnLst/>
              <a:rect l="l" t="t" r="r" b="b"/>
              <a:pathLst>
                <a:path w="2080" h="4727" extrusionOk="0">
                  <a:moveTo>
                    <a:pt x="1" y="0"/>
                  </a:moveTo>
                  <a:lnTo>
                    <a:pt x="1" y="3529"/>
                  </a:lnTo>
                  <a:lnTo>
                    <a:pt x="2080" y="4726"/>
                  </a:lnTo>
                  <a:lnTo>
                    <a:pt x="2080" y="1072"/>
                  </a:lnTo>
                  <a:lnTo>
                    <a:pt x="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641;p89">
              <a:extLst>
                <a:ext uri="{FF2B5EF4-FFF2-40B4-BE49-F238E27FC236}">
                  <a16:creationId xmlns:a16="http://schemas.microsoft.com/office/drawing/2014/main" id="{DEB49D96-1103-58F6-AD45-A6519E0CF0B6}"/>
                </a:ext>
              </a:extLst>
            </p:cNvPr>
            <p:cNvSpPr/>
            <p:nvPr/>
          </p:nvSpPr>
          <p:spPr>
            <a:xfrm>
              <a:off x="-49595650" y="3314700"/>
              <a:ext cx="121325" cy="61450"/>
            </a:xfrm>
            <a:custGeom>
              <a:avLst/>
              <a:gdLst/>
              <a:ahLst/>
              <a:cxnLst/>
              <a:rect l="l" t="t" r="r" b="b"/>
              <a:pathLst>
                <a:path w="4853" h="2458" extrusionOk="0">
                  <a:moveTo>
                    <a:pt x="2773" y="1"/>
                  </a:moveTo>
                  <a:lnTo>
                    <a:pt x="1" y="1418"/>
                  </a:lnTo>
                  <a:lnTo>
                    <a:pt x="1985" y="2458"/>
                  </a:lnTo>
                  <a:lnTo>
                    <a:pt x="4852" y="1040"/>
                  </a:lnTo>
                  <a:lnTo>
                    <a:pt x="277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642;p89">
              <a:extLst>
                <a:ext uri="{FF2B5EF4-FFF2-40B4-BE49-F238E27FC236}">
                  <a16:creationId xmlns:a16="http://schemas.microsoft.com/office/drawing/2014/main" id="{7BE8B5F3-FE19-7E4D-506D-7907CE3FA6D3}"/>
                </a:ext>
              </a:extLst>
            </p:cNvPr>
            <p:cNvSpPr/>
            <p:nvPr/>
          </p:nvSpPr>
          <p:spPr>
            <a:xfrm>
              <a:off x="-49764975" y="3355650"/>
              <a:ext cx="70100" cy="126850"/>
            </a:xfrm>
            <a:custGeom>
              <a:avLst/>
              <a:gdLst/>
              <a:ahLst/>
              <a:cxnLst/>
              <a:rect l="l" t="t" r="r" b="b"/>
              <a:pathLst>
                <a:path w="2804" h="5074" extrusionOk="0">
                  <a:moveTo>
                    <a:pt x="0" y="1"/>
                  </a:moveTo>
                  <a:lnTo>
                    <a:pt x="0" y="3309"/>
                  </a:lnTo>
                  <a:cubicBezTo>
                    <a:pt x="0" y="3403"/>
                    <a:pt x="63" y="3529"/>
                    <a:pt x="189" y="3624"/>
                  </a:cubicBezTo>
                  <a:lnTo>
                    <a:pt x="2804" y="5073"/>
                  </a:lnTo>
                  <a:lnTo>
                    <a:pt x="2804" y="1419"/>
                  </a:lnTo>
                  <a:lnTo>
                    <a:pt x="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643;p89">
              <a:extLst>
                <a:ext uri="{FF2B5EF4-FFF2-40B4-BE49-F238E27FC236}">
                  <a16:creationId xmlns:a16="http://schemas.microsoft.com/office/drawing/2014/main" id="{3A795026-702D-17B6-9CD6-91FA5B8A8860}"/>
                </a:ext>
              </a:extLst>
            </p:cNvPr>
            <p:cNvSpPr/>
            <p:nvPr/>
          </p:nvSpPr>
          <p:spPr>
            <a:xfrm>
              <a:off x="-49535775" y="3355650"/>
              <a:ext cx="70100" cy="126850"/>
            </a:xfrm>
            <a:custGeom>
              <a:avLst/>
              <a:gdLst/>
              <a:ahLst/>
              <a:cxnLst/>
              <a:rect l="l" t="t" r="r" b="b"/>
              <a:pathLst>
                <a:path w="2804" h="5074" extrusionOk="0">
                  <a:moveTo>
                    <a:pt x="2804" y="1"/>
                  </a:moveTo>
                  <a:lnTo>
                    <a:pt x="0" y="1419"/>
                  </a:lnTo>
                  <a:lnTo>
                    <a:pt x="0" y="5073"/>
                  </a:lnTo>
                  <a:lnTo>
                    <a:pt x="2583" y="3624"/>
                  </a:lnTo>
                  <a:cubicBezTo>
                    <a:pt x="2709" y="3529"/>
                    <a:pt x="2804" y="3403"/>
                    <a:pt x="2804" y="3309"/>
                  </a:cubicBezTo>
                  <a:lnTo>
                    <a:pt x="2804"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644;p89">
              <a:extLst>
                <a:ext uri="{FF2B5EF4-FFF2-40B4-BE49-F238E27FC236}">
                  <a16:creationId xmlns:a16="http://schemas.microsoft.com/office/drawing/2014/main" id="{9F0697C9-56A4-679C-A510-F72958154ECC}"/>
                </a:ext>
              </a:extLst>
            </p:cNvPr>
            <p:cNvSpPr/>
            <p:nvPr/>
          </p:nvSpPr>
          <p:spPr>
            <a:xfrm>
              <a:off x="-49685425" y="3183375"/>
              <a:ext cx="140200" cy="69925"/>
            </a:xfrm>
            <a:custGeom>
              <a:avLst/>
              <a:gdLst/>
              <a:ahLst/>
              <a:cxnLst/>
              <a:rect l="l" t="t" r="r" b="b"/>
              <a:pathLst>
                <a:path w="5608" h="2797" extrusionOk="0">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7715;p89">
            <a:extLst>
              <a:ext uri="{FF2B5EF4-FFF2-40B4-BE49-F238E27FC236}">
                <a16:creationId xmlns:a16="http://schemas.microsoft.com/office/drawing/2014/main" id="{2775BD6A-3B08-0A68-08C8-63465C9D25E3}"/>
              </a:ext>
            </a:extLst>
          </p:cNvPr>
          <p:cNvGrpSpPr/>
          <p:nvPr/>
        </p:nvGrpSpPr>
        <p:grpSpPr>
          <a:xfrm>
            <a:off x="6617386" y="3111333"/>
            <a:ext cx="356205" cy="332885"/>
            <a:chOff x="-49397175" y="3192625"/>
            <a:chExt cx="300900" cy="281200"/>
          </a:xfrm>
          <a:solidFill>
            <a:schemeClr val="tx1"/>
          </a:solidFill>
        </p:grpSpPr>
        <p:sp>
          <p:nvSpPr>
            <p:cNvPr id="26" name="Google Shape;7716;p89">
              <a:extLst>
                <a:ext uri="{FF2B5EF4-FFF2-40B4-BE49-F238E27FC236}">
                  <a16:creationId xmlns:a16="http://schemas.microsoft.com/office/drawing/2014/main" id="{764BA84A-C95B-73B3-7638-30030E2A91F4}"/>
                </a:ext>
              </a:extLst>
            </p:cNvPr>
            <p:cNvSpPr/>
            <p:nvPr/>
          </p:nvSpPr>
          <p:spPr>
            <a:xfrm>
              <a:off x="-49325500" y="3297975"/>
              <a:ext cx="64625" cy="58500"/>
            </a:xfrm>
            <a:custGeom>
              <a:avLst/>
              <a:gdLst/>
              <a:ahLst/>
              <a:cxnLst/>
              <a:rect l="l" t="t" r="r" b="b"/>
              <a:pathLst>
                <a:path w="2585" h="2340" extrusionOk="0">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717;p89">
              <a:extLst>
                <a:ext uri="{FF2B5EF4-FFF2-40B4-BE49-F238E27FC236}">
                  <a16:creationId xmlns:a16="http://schemas.microsoft.com/office/drawing/2014/main" id="{CD4BBCB4-7BE4-8A80-CD67-E44E0255E0EC}"/>
                </a:ext>
              </a:extLst>
            </p:cNvPr>
            <p:cNvSpPr/>
            <p:nvPr/>
          </p:nvSpPr>
          <p:spPr>
            <a:xfrm>
              <a:off x="-49345975" y="3192625"/>
              <a:ext cx="199300" cy="103975"/>
            </a:xfrm>
            <a:custGeom>
              <a:avLst/>
              <a:gdLst/>
              <a:ahLst/>
              <a:cxnLst/>
              <a:rect l="l" t="t" r="r" b="b"/>
              <a:pathLst>
                <a:path w="7972" h="4159" extrusionOk="0">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718;p89">
              <a:extLst>
                <a:ext uri="{FF2B5EF4-FFF2-40B4-BE49-F238E27FC236}">
                  <a16:creationId xmlns:a16="http://schemas.microsoft.com/office/drawing/2014/main" id="{2D271765-16F0-75B8-B169-53D83A7CC264}"/>
                </a:ext>
              </a:extLst>
            </p:cNvPr>
            <p:cNvSpPr/>
            <p:nvPr/>
          </p:nvSpPr>
          <p:spPr>
            <a:xfrm>
              <a:off x="-49272725" y="3381650"/>
              <a:ext cx="52800" cy="53575"/>
            </a:xfrm>
            <a:custGeom>
              <a:avLst/>
              <a:gdLst/>
              <a:ahLst/>
              <a:cxnLst/>
              <a:rect l="l" t="t" r="r" b="b"/>
              <a:pathLst>
                <a:path w="2112" h="2143" extrusionOk="0">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719;p89">
              <a:extLst>
                <a:ext uri="{FF2B5EF4-FFF2-40B4-BE49-F238E27FC236}">
                  <a16:creationId xmlns:a16="http://schemas.microsoft.com/office/drawing/2014/main" id="{BA0EE8B6-C989-A553-9507-E70C2AF7A370}"/>
                </a:ext>
              </a:extLst>
            </p:cNvPr>
            <p:cNvSpPr/>
            <p:nvPr/>
          </p:nvSpPr>
          <p:spPr>
            <a:xfrm>
              <a:off x="-49231775" y="3298075"/>
              <a:ext cx="63050" cy="58400"/>
            </a:xfrm>
            <a:custGeom>
              <a:avLst/>
              <a:gdLst/>
              <a:ahLst/>
              <a:cxnLst/>
              <a:rect l="l" t="t" r="r" b="b"/>
              <a:pathLst>
                <a:path w="2522" h="2336" extrusionOk="0">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720;p89">
              <a:extLst>
                <a:ext uri="{FF2B5EF4-FFF2-40B4-BE49-F238E27FC236}">
                  <a16:creationId xmlns:a16="http://schemas.microsoft.com/office/drawing/2014/main" id="{EFDC03E0-043B-7474-EF9C-AFB0FF01A5DC}"/>
                </a:ext>
              </a:extLst>
            </p:cNvPr>
            <p:cNvSpPr/>
            <p:nvPr/>
          </p:nvSpPr>
          <p:spPr>
            <a:xfrm>
              <a:off x="-49271925" y="3317850"/>
              <a:ext cx="48850" cy="49850"/>
            </a:xfrm>
            <a:custGeom>
              <a:avLst/>
              <a:gdLst/>
              <a:ahLst/>
              <a:cxnLst/>
              <a:rect l="l" t="t" r="r" b="b"/>
              <a:pathLst>
                <a:path w="1954" h="1994" extrusionOk="0">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721;p89">
              <a:extLst>
                <a:ext uri="{FF2B5EF4-FFF2-40B4-BE49-F238E27FC236}">
                  <a16:creationId xmlns:a16="http://schemas.microsoft.com/office/drawing/2014/main" id="{8126DAD4-4626-A76A-5F65-32D48B1A0F2E}"/>
                </a:ext>
              </a:extLst>
            </p:cNvPr>
            <p:cNvSpPr/>
            <p:nvPr/>
          </p:nvSpPr>
          <p:spPr>
            <a:xfrm>
              <a:off x="-49245950" y="3291075"/>
              <a:ext cx="149675" cy="182750"/>
            </a:xfrm>
            <a:custGeom>
              <a:avLst/>
              <a:gdLst/>
              <a:ahLst/>
              <a:cxnLst/>
              <a:rect l="l" t="t" r="r" b="b"/>
              <a:pathLst>
                <a:path w="5987" h="7310" extrusionOk="0">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7722;p89">
              <a:extLst>
                <a:ext uri="{FF2B5EF4-FFF2-40B4-BE49-F238E27FC236}">
                  <a16:creationId xmlns:a16="http://schemas.microsoft.com/office/drawing/2014/main" id="{D371136E-B634-6BB1-5AE0-656BCDACDCD1}"/>
                </a:ext>
              </a:extLst>
            </p:cNvPr>
            <p:cNvSpPr/>
            <p:nvPr/>
          </p:nvSpPr>
          <p:spPr>
            <a:xfrm>
              <a:off x="-49397175" y="3291075"/>
              <a:ext cx="149675" cy="182750"/>
            </a:xfrm>
            <a:custGeom>
              <a:avLst/>
              <a:gdLst/>
              <a:ahLst/>
              <a:cxnLst/>
              <a:rect l="l" t="t" r="r" b="b"/>
              <a:pathLst>
                <a:path w="5987" h="7310" extrusionOk="0">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 name="Google Shape;7787;p89">
            <a:extLst>
              <a:ext uri="{FF2B5EF4-FFF2-40B4-BE49-F238E27FC236}">
                <a16:creationId xmlns:a16="http://schemas.microsoft.com/office/drawing/2014/main" id="{D0195F1D-2500-49BB-7E7E-686182C7EE23}"/>
              </a:ext>
            </a:extLst>
          </p:cNvPr>
          <p:cNvGrpSpPr/>
          <p:nvPr/>
        </p:nvGrpSpPr>
        <p:grpSpPr>
          <a:xfrm>
            <a:off x="7059015" y="3100146"/>
            <a:ext cx="354341" cy="354341"/>
            <a:chOff x="-49027775" y="3183175"/>
            <a:chExt cx="299325" cy="299325"/>
          </a:xfrm>
          <a:solidFill>
            <a:schemeClr val="tx1"/>
          </a:solidFill>
        </p:grpSpPr>
        <p:sp>
          <p:nvSpPr>
            <p:cNvPr id="34" name="Google Shape;7788;p89">
              <a:extLst>
                <a:ext uri="{FF2B5EF4-FFF2-40B4-BE49-F238E27FC236}">
                  <a16:creationId xmlns:a16="http://schemas.microsoft.com/office/drawing/2014/main" id="{CAC2A834-CE54-F0F0-5BA0-A9789EDD4059}"/>
                </a:ext>
              </a:extLst>
            </p:cNvPr>
            <p:cNvSpPr/>
            <p:nvPr/>
          </p:nvSpPr>
          <p:spPr>
            <a:xfrm>
              <a:off x="-48870250" y="3183175"/>
              <a:ext cx="141800" cy="185900"/>
            </a:xfrm>
            <a:custGeom>
              <a:avLst/>
              <a:gdLst/>
              <a:ahLst/>
              <a:cxnLst/>
              <a:rect l="l" t="t" r="r" b="b"/>
              <a:pathLst>
                <a:path w="5672" h="7436" extrusionOk="0">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7789;p89">
              <a:extLst>
                <a:ext uri="{FF2B5EF4-FFF2-40B4-BE49-F238E27FC236}">
                  <a16:creationId xmlns:a16="http://schemas.microsoft.com/office/drawing/2014/main" id="{D27EE736-F656-2881-4E93-7AB476D466A4}"/>
                </a:ext>
              </a:extLst>
            </p:cNvPr>
            <p:cNvSpPr/>
            <p:nvPr/>
          </p:nvSpPr>
          <p:spPr>
            <a:xfrm>
              <a:off x="-49027775" y="3183175"/>
              <a:ext cx="185900" cy="141800"/>
            </a:xfrm>
            <a:custGeom>
              <a:avLst/>
              <a:gdLst/>
              <a:ahLst/>
              <a:cxnLst/>
              <a:rect l="l" t="t" r="r" b="b"/>
              <a:pathLst>
                <a:path w="7436" h="5672" extrusionOk="0">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7790;p89">
              <a:extLst>
                <a:ext uri="{FF2B5EF4-FFF2-40B4-BE49-F238E27FC236}">
                  <a16:creationId xmlns:a16="http://schemas.microsoft.com/office/drawing/2014/main" id="{FBC8F716-862A-CFF1-3F6A-73DF5D3FFEA9}"/>
                </a:ext>
              </a:extLst>
            </p:cNvPr>
            <p:cNvSpPr/>
            <p:nvPr/>
          </p:nvSpPr>
          <p:spPr>
            <a:xfrm>
              <a:off x="-49027775" y="3295800"/>
              <a:ext cx="141800" cy="186700"/>
            </a:xfrm>
            <a:custGeom>
              <a:avLst/>
              <a:gdLst/>
              <a:ahLst/>
              <a:cxnLst/>
              <a:rect l="l" t="t" r="r" b="b"/>
              <a:pathLst>
                <a:path w="5672" h="7468" extrusionOk="0">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7791;p89">
              <a:extLst>
                <a:ext uri="{FF2B5EF4-FFF2-40B4-BE49-F238E27FC236}">
                  <a16:creationId xmlns:a16="http://schemas.microsoft.com/office/drawing/2014/main" id="{2D6815EE-CE7A-DDAF-5C33-2E5BFFDD2A10}"/>
                </a:ext>
              </a:extLst>
            </p:cNvPr>
            <p:cNvSpPr/>
            <p:nvPr/>
          </p:nvSpPr>
          <p:spPr>
            <a:xfrm>
              <a:off x="-48914350" y="3340700"/>
              <a:ext cx="185900" cy="141800"/>
            </a:xfrm>
            <a:custGeom>
              <a:avLst/>
              <a:gdLst/>
              <a:ahLst/>
              <a:cxnLst/>
              <a:rect l="l" t="t" r="r" b="b"/>
              <a:pathLst>
                <a:path w="7436" h="5672" extrusionOk="0">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86;p81">
            <a:extLst>
              <a:ext uri="{FF2B5EF4-FFF2-40B4-BE49-F238E27FC236}">
                <a16:creationId xmlns:a16="http://schemas.microsoft.com/office/drawing/2014/main" id="{78750EE2-7A29-83FB-7671-949FC27687CB}"/>
              </a:ext>
            </a:extLst>
          </p:cNvPr>
          <p:cNvGrpSpPr/>
          <p:nvPr/>
        </p:nvGrpSpPr>
        <p:grpSpPr>
          <a:xfrm>
            <a:off x="6871931" y="789530"/>
            <a:ext cx="1675870" cy="758251"/>
            <a:chOff x="3530532" y="1496185"/>
            <a:chExt cx="1562000" cy="706730"/>
          </a:xfrm>
        </p:grpSpPr>
        <p:cxnSp>
          <p:nvCxnSpPr>
            <p:cNvPr id="39" name="Google Shape;4287;p81">
              <a:extLst>
                <a:ext uri="{FF2B5EF4-FFF2-40B4-BE49-F238E27FC236}">
                  <a16:creationId xmlns:a16="http://schemas.microsoft.com/office/drawing/2014/main" id="{FEE8C206-6289-12AF-8B86-709A7750BC4D}"/>
                </a:ext>
              </a:extLst>
            </p:cNvPr>
            <p:cNvCxnSpPr/>
            <p:nvPr/>
          </p:nvCxnSpPr>
          <p:spPr>
            <a:xfrm>
              <a:off x="3583832" y="1857562"/>
              <a:ext cx="1508700" cy="0"/>
            </a:xfrm>
            <a:prstGeom prst="straightConnector1">
              <a:avLst/>
            </a:prstGeom>
            <a:noFill/>
            <a:ln w="28575" cap="flat" cmpd="sng">
              <a:solidFill>
                <a:srgbClr val="A5B7C6"/>
              </a:solidFill>
              <a:prstDash val="solid"/>
              <a:round/>
              <a:headEnd type="none" w="med" len="med"/>
              <a:tailEnd type="triangle" w="med" len="med"/>
            </a:ln>
          </p:spPr>
        </p:cxnSp>
        <p:grpSp>
          <p:nvGrpSpPr>
            <p:cNvPr id="40" name="Google Shape;4288;p81">
              <a:extLst>
                <a:ext uri="{FF2B5EF4-FFF2-40B4-BE49-F238E27FC236}">
                  <a16:creationId xmlns:a16="http://schemas.microsoft.com/office/drawing/2014/main" id="{DE91BD25-DA76-48BD-4CE3-D11FFF5E4A5F}"/>
                </a:ext>
              </a:extLst>
            </p:cNvPr>
            <p:cNvGrpSpPr/>
            <p:nvPr/>
          </p:nvGrpSpPr>
          <p:grpSpPr>
            <a:xfrm>
              <a:off x="3530532" y="1496185"/>
              <a:ext cx="323430" cy="463587"/>
              <a:chOff x="3530532" y="1496185"/>
              <a:chExt cx="323430" cy="463587"/>
            </a:xfrm>
          </p:grpSpPr>
          <p:grpSp>
            <p:nvGrpSpPr>
              <p:cNvPr id="56" name="Google Shape;4289;p81">
                <a:extLst>
                  <a:ext uri="{FF2B5EF4-FFF2-40B4-BE49-F238E27FC236}">
                    <a16:creationId xmlns:a16="http://schemas.microsoft.com/office/drawing/2014/main" id="{8174748D-9BFD-D1D1-92B1-F350476504AB}"/>
                  </a:ext>
                </a:extLst>
              </p:cNvPr>
              <p:cNvGrpSpPr/>
              <p:nvPr/>
            </p:nvGrpSpPr>
            <p:grpSpPr>
              <a:xfrm>
                <a:off x="3567462" y="1496185"/>
                <a:ext cx="286500" cy="361376"/>
                <a:chOff x="3567462" y="1496185"/>
                <a:chExt cx="286500" cy="361376"/>
              </a:xfrm>
            </p:grpSpPr>
            <p:cxnSp>
              <p:nvCxnSpPr>
                <p:cNvPr id="58" name="Google Shape;4290;p81">
                  <a:extLst>
                    <a:ext uri="{FF2B5EF4-FFF2-40B4-BE49-F238E27FC236}">
                      <a16:creationId xmlns:a16="http://schemas.microsoft.com/office/drawing/2014/main" id="{21CC878C-3CF8-F344-B59A-BD6596BD1E79}"/>
                    </a:ext>
                  </a:extLst>
                </p:cNvPr>
                <p:cNvCxnSpPr/>
                <p:nvPr/>
              </p:nvCxnSpPr>
              <p:spPr>
                <a:xfrm rot="10800000">
                  <a:off x="3626630"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59" name="Google Shape;4291;p81">
                  <a:extLst>
                    <a:ext uri="{FF2B5EF4-FFF2-40B4-BE49-F238E27FC236}">
                      <a16:creationId xmlns:a16="http://schemas.microsoft.com/office/drawing/2014/main" id="{7E70D48D-C29F-78B3-0BF9-3F4697126CC5}"/>
                    </a:ext>
                  </a:extLst>
                </p:cNvPr>
                <p:cNvSpPr/>
                <p:nvPr/>
              </p:nvSpPr>
              <p:spPr>
                <a:xfrm>
                  <a:off x="3567462"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4292;p81">
                <a:extLst>
                  <a:ext uri="{FF2B5EF4-FFF2-40B4-BE49-F238E27FC236}">
                    <a16:creationId xmlns:a16="http://schemas.microsoft.com/office/drawing/2014/main" id="{83D7B861-4203-D474-2747-148813528B7A}"/>
                  </a:ext>
                </a:extLst>
              </p:cNvPr>
              <p:cNvSpPr/>
              <p:nvPr/>
            </p:nvSpPr>
            <p:spPr>
              <a:xfrm>
                <a:off x="3530532"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4293;p81">
              <a:extLst>
                <a:ext uri="{FF2B5EF4-FFF2-40B4-BE49-F238E27FC236}">
                  <a16:creationId xmlns:a16="http://schemas.microsoft.com/office/drawing/2014/main" id="{2B5B0B31-9E2B-787A-DA29-2DD2DB1F2079}"/>
                </a:ext>
              </a:extLst>
            </p:cNvPr>
            <p:cNvGrpSpPr/>
            <p:nvPr/>
          </p:nvGrpSpPr>
          <p:grpSpPr>
            <a:xfrm>
              <a:off x="3891569" y="1779209"/>
              <a:ext cx="323945" cy="423706"/>
              <a:chOff x="3891569" y="1779209"/>
              <a:chExt cx="323945" cy="423706"/>
            </a:xfrm>
          </p:grpSpPr>
          <p:grpSp>
            <p:nvGrpSpPr>
              <p:cNvPr id="52" name="Google Shape;4294;p81">
                <a:extLst>
                  <a:ext uri="{FF2B5EF4-FFF2-40B4-BE49-F238E27FC236}">
                    <a16:creationId xmlns:a16="http://schemas.microsoft.com/office/drawing/2014/main" id="{220182C5-4C35-AF37-B08B-B732D10CFC63}"/>
                  </a:ext>
                </a:extLst>
              </p:cNvPr>
              <p:cNvGrpSpPr/>
              <p:nvPr/>
            </p:nvGrpSpPr>
            <p:grpSpPr>
              <a:xfrm>
                <a:off x="3929014" y="1881638"/>
                <a:ext cx="286500" cy="321278"/>
                <a:chOff x="3929014" y="1881638"/>
                <a:chExt cx="286500" cy="321278"/>
              </a:xfrm>
            </p:grpSpPr>
            <p:cxnSp>
              <p:nvCxnSpPr>
                <p:cNvPr id="54" name="Google Shape;4295;p81">
                  <a:extLst>
                    <a:ext uri="{FF2B5EF4-FFF2-40B4-BE49-F238E27FC236}">
                      <a16:creationId xmlns:a16="http://schemas.microsoft.com/office/drawing/2014/main" id="{EEDEB8B6-5BD2-0E93-F348-1E464AFB7701}"/>
                    </a:ext>
                  </a:extLst>
                </p:cNvPr>
                <p:cNvCxnSpPr/>
                <p:nvPr/>
              </p:nvCxnSpPr>
              <p:spPr>
                <a:xfrm rot="10800000">
                  <a:off x="3988388" y="1881638"/>
                  <a:ext cx="0" cy="291900"/>
                </a:xfrm>
                <a:prstGeom prst="straightConnector1">
                  <a:avLst/>
                </a:prstGeom>
                <a:noFill/>
                <a:ln w="28575" cap="flat" cmpd="sng">
                  <a:solidFill>
                    <a:srgbClr val="A5B7C6"/>
                  </a:solidFill>
                  <a:prstDash val="solid"/>
                  <a:round/>
                  <a:headEnd type="none" w="med" len="med"/>
                  <a:tailEnd type="none" w="med" len="med"/>
                </a:ln>
              </p:spPr>
            </p:cxnSp>
            <p:sp>
              <p:nvSpPr>
                <p:cNvPr id="55" name="Google Shape;4296;p81">
                  <a:extLst>
                    <a:ext uri="{FF2B5EF4-FFF2-40B4-BE49-F238E27FC236}">
                      <a16:creationId xmlns:a16="http://schemas.microsoft.com/office/drawing/2014/main" id="{7A3D5872-D824-810C-29FD-04862580EF1B}"/>
                    </a:ext>
                  </a:extLst>
                </p:cNvPr>
                <p:cNvSpPr/>
                <p:nvPr/>
              </p:nvSpPr>
              <p:spPr>
                <a:xfrm>
                  <a:off x="3929014"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 name="Google Shape;4297;p81">
                <a:extLst>
                  <a:ext uri="{FF2B5EF4-FFF2-40B4-BE49-F238E27FC236}">
                    <a16:creationId xmlns:a16="http://schemas.microsoft.com/office/drawing/2014/main" id="{342929CC-D2EE-E923-C8F3-83829C598EBA}"/>
                  </a:ext>
                </a:extLst>
              </p:cNvPr>
              <p:cNvSpPr/>
              <p:nvPr/>
            </p:nvSpPr>
            <p:spPr>
              <a:xfrm>
                <a:off x="3891569" y="1779209"/>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98;p81">
              <a:extLst>
                <a:ext uri="{FF2B5EF4-FFF2-40B4-BE49-F238E27FC236}">
                  <a16:creationId xmlns:a16="http://schemas.microsoft.com/office/drawing/2014/main" id="{BFB66032-7CA4-72BC-C589-E7D1B2C877C9}"/>
                </a:ext>
              </a:extLst>
            </p:cNvPr>
            <p:cNvGrpSpPr/>
            <p:nvPr/>
          </p:nvGrpSpPr>
          <p:grpSpPr>
            <a:xfrm>
              <a:off x="4252606" y="1496185"/>
              <a:ext cx="324721" cy="463587"/>
              <a:chOff x="4252606" y="1496185"/>
              <a:chExt cx="324721" cy="463587"/>
            </a:xfrm>
          </p:grpSpPr>
          <p:grpSp>
            <p:nvGrpSpPr>
              <p:cNvPr id="48" name="Google Shape;4299;p81">
                <a:extLst>
                  <a:ext uri="{FF2B5EF4-FFF2-40B4-BE49-F238E27FC236}">
                    <a16:creationId xmlns:a16="http://schemas.microsoft.com/office/drawing/2014/main" id="{80DA0A80-FE94-7FE2-D79C-03717C52A135}"/>
                  </a:ext>
                </a:extLst>
              </p:cNvPr>
              <p:cNvGrpSpPr/>
              <p:nvPr/>
            </p:nvGrpSpPr>
            <p:grpSpPr>
              <a:xfrm>
                <a:off x="4290828" y="1496185"/>
                <a:ext cx="286500" cy="361376"/>
                <a:chOff x="4290828" y="1496185"/>
                <a:chExt cx="286500" cy="361376"/>
              </a:xfrm>
            </p:grpSpPr>
            <p:cxnSp>
              <p:nvCxnSpPr>
                <p:cNvPr id="50" name="Google Shape;4300;p81">
                  <a:extLst>
                    <a:ext uri="{FF2B5EF4-FFF2-40B4-BE49-F238E27FC236}">
                      <a16:creationId xmlns:a16="http://schemas.microsoft.com/office/drawing/2014/main" id="{E7097BFE-6047-78AA-D7DB-887ABAB7BE49}"/>
                    </a:ext>
                  </a:extLst>
                </p:cNvPr>
                <p:cNvCxnSpPr/>
                <p:nvPr/>
              </p:nvCxnSpPr>
              <p:spPr>
                <a:xfrm rot="10800000">
                  <a:off x="4349995"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51" name="Google Shape;4301;p81">
                  <a:extLst>
                    <a:ext uri="{FF2B5EF4-FFF2-40B4-BE49-F238E27FC236}">
                      <a16:creationId xmlns:a16="http://schemas.microsoft.com/office/drawing/2014/main" id="{48CEE6B2-06DA-843B-F9B6-C1DF455E6A69}"/>
                    </a:ext>
                  </a:extLst>
                </p:cNvPr>
                <p:cNvSpPr/>
                <p:nvPr/>
              </p:nvSpPr>
              <p:spPr>
                <a:xfrm>
                  <a:off x="4290828"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302;p81">
                <a:extLst>
                  <a:ext uri="{FF2B5EF4-FFF2-40B4-BE49-F238E27FC236}">
                    <a16:creationId xmlns:a16="http://schemas.microsoft.com/office/drawing/2014/main" id="{679C2C03-8DD1-EA85-9F67-815CFD4451FD}"/>
                  </a:ext>
                </a:extLst>
              </p:cNvPr>
              <p:cNvSpPr/>
              <p:nvPr/>
            </p:nvSpPr>
            <p:spPr>
              <a:xfrm>
                <a:off x="4252606"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03;p81">
              <a:extLst>
                <a:ext uri="{FF2B5EF4-FFF2-40B4-BE49-F238E27FC236}">
                  <a16:creationId xmlns:a16="http://schemas.microsoft.com/office/drawing/2014/main" id="{3106F20F-DE9D-B397-D008-B682700EDF5B}"/>
                </a:ext>
              </a:extLst>
            </p:cNvPr>
            <p:cNvGrpSpPr/>
            <p:nvPr/>
          </p:nvGrpSpPr>
          <p:grpSpPr>
            <a:xfrm>
              <a:off x="4613643" y="1763716"/>
              <a:ext cx="325308" cy="439200"/>
              <a:chOff x="4613643" y="1763716"/>
              <a:chExt cx="325308" cy="439200"/>
            </a:xfrm>
          </p:grpSpPr>
          <p:grpSp>
            <p:nvGrpSpPr>
              <p:cNvPr id="44" name="Google Shape;4304;p81">
                <a:extLst>
                  <a:ext uri="{FF2B5EF4-FFF2-40B4-BE49-F238E27FC236}">
                    <a16:creationId xmlns:a16="http://schemas.microsoft.com/office/drawing/2014/main" id="{09124D51-03E5-1200-C59C-25C368006181}"/>
                  </a:ext>
                </a:extLst>
              </p:cNvPr>
              <p:cNvGrpSpPr/>
              <p:nvPr/>
            </p:nvGrpSpPr>
            <p:grpSpPr>
              <a:xfrm>
                <a:off x="4652451" y="1879538"/>
                <a:ext cx="286500" cy="323378"/>
                <a:chOff x="4652451" y="1879538"/>
                <a:chExt cx="286500" cy="323378"/>
              </a:xfrm>
            </p:grpSpPr>
            <p:cxnSp>
              <p:nvCxnSpPr>
                <p:cNvPr id="46" name="Google Shape;4305;p81">
                  <a:extLst>
                    <a:ext uri="{FF2B5EF4-FFF2-40B4-BE49-F238E27FC236}">
                      <a16:creationId xmlns:a16="http://schemas.microsoft.com/office/drawing/2014/main" id="{E6B8E4D8-7DC6-7842-FDD0-E64EE161CE6F}"/>
                    </a:ext>
                  </a:extLst>
                </p:cNvPr>
                <p:cNvCxnSpPr/>
                <p:nvPr/>
              </p:nvCxnSpPr>
              <p:spPr>
                <a:xfrm rot="10800000">
                  <a:off x="4707486" y="1879538"/>
                  <a:ext cx="0" cy="294000"/>
                </a:xfrm>
                <a:prstGeom prst="straightConnector1">
                  <a:avLst/>
                </a:prstGeom>
                <a:noFill/>
                <a:ln w="28575" cap="flat" cmpd="sng">
                  <a:solidFill>
                    <a:srgbClr val="A5B7C6"/>
                  </a:solidFill>
                  <a:prstDash val="solid"/>
                  <a:round/>
                  <a:headEnd type="none" w="med" len="med"/>
                  <a:tailEnd type="none" w="med" len="med"/>
                </a:ln>
              </p:spPr>
            </p:cxnSp>
            <p:sp>
              <p:nvSpPr>
                <p:cNvPr id="47" name="Google Shape;4306;p81">
                  <a:extLst>
                    <a:ext uri="{FF2B5EF4-FFF2-40B4-BE49-F238E27FC236}">
                      <a16:creationId xmlns:a16="http://schemas.microsoft.com/office/drawing/2014/main" id="{60A14A66-3ADB-94C3-4A78-2A003E691790}"/>
                    </a:ext>
                  </a:extLst>
                </p:cNvPr>
                <p:cNvSpPr/>
                <p:nvPr/>
              </p:nvSpPr>
              <p:spPr>
                <a:xfrm>
                  <a:off x="4652451"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307;p81">
                <a:extLst>
                  <a:ext uri="{FF2B5EF4-FFF2-40B4-BE49-F238E27FC236}">
                    <a16:creationId xmlns:a16="http://schemas.microsoft.com/office/drawing/2014/main" id="{1F8254A2-F458-5AF7-8F12-E3229E189B4E}"/>
                  </a:ext>
                </a:extLst>
              </p:cNvPr>
              <p:cNvSpPr/>
              <p:nvPr/>
            </p:nvSpPr>
            <p:spPr>
              <a:xfrm>
                <a:off x="4613643" y="1763716"/>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 name="Google Shape;1318;p72">
            <a:extLst>
              <a:ext uri="{FF2B5EF4-FFF2-40B4-BE49-F238E27FC236}">
                <a16:creationId xmlns:a16="http://schemas.microsoft.com/office/drawing/2014/main" id="{EC75AC40-D1C4-CFB2-D3F9-20D60E4BAA57}"/>
              </a:ext>
            </a:extLst>
          </p:cNvPr>
          <p:cNvGrpSpPr/>
          <p:nvPr/>
        </p:nvGrpSpPr>
        <p:grpSpPr>
          <a:xfrm>
            <a:off x="792917" y="110858"/>
            <a:ext cx="400210" cy="398710"/>
            <a:chOff x="4047799" y="2054388"/>
            <a:chExt cx="400210" cy="398710"/>
          </a:xfrm>
        </p:grpSpPr>
        <p:sp>
          <p:nvSpPr>
            <p:cNvPr id="3" name="Google Shape;1319;p72">
              <a:extLst>
                <a:ext uri="{FF2B5EF4-FFF2-40B4-BE49-F238E27FC236}">
                  <a16:creationId xmlns:a16="http://schemas.microsoft.com/office/drawing/2014/main" id="{F124ACA6-F6B6-8936-2017-BA37C1845BB9}"/>
                </a:ext>
              </a:extLst>
            </p:cNvPr>
            <p:cNvSpPr/>
            <p:nvPr/>
          </p:nvSpPr>
          <p:spPr>
            <a:xfrm>
              <a:off x="4047799" y="2054388"/>
              <a:ext cx="242705" cy="46420"/>
            </a:xfrm>
            <a:custGeom>
              <a:avLst/>
              <a:gdLst/>
              <a:ahLst/>
              <a:cxnLst/>
              <a:rect l="l" t="t" r="r" b="b"/>
              <a:pathLst>
                <a:path w="7597" h="1453" extrusionOk="0">
                  <a:moveTo>
                    <a:pt x="1405" y="0"/>
                  </a:moveTo>
                  <a:cubicBezTo>
                    <a:pt x="619" y="0"/>
                    <a:pt x="0" y="619"/>
                    <a:pt x="0" y="1382"/>
                  </a:cubicBezTo>
                  <a:lnTo>
                    <a:pt x="0" y="1453"/>
                  </a:lnTo>
                  <a:lnTo>
                    <a:pt x="7597" y="1453"/>
                  </a:lnTo>
                  <a:lnTo>
                    <a:pt x="7597" y="1382"/>
                  </a:lnTo>
                  <a:cubicBezTo>
                    <a:pt x="7597" y="619"/>
                    <a:pt x="6978" y="0"/>
                    <a:pt x="62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320;p72">
              <a:extLst>
                <a:ext uri="{FF2B5EF4-FFF2-40B4-BE49-F238E27FC236}">
                  <a16:creationId xmlns:a16="http://schemas.microsoft.com/office/drawing/2014/main" id="{7DA69A06-1FFA-0EBE-7956-84FF5E6DC54D}"/>
                </a:ext>
              </a:extLst>
            </p:cNvPr>
            <p:cNvSpPr/>
            <p:nvPr/>
          </p:nvSpPr>
          <p:spPr>
            <a:xfrm>
              <a:off x="4047799" y="2124386"/>
              <a:ext cx="242705" cy="258711"/>
            </a:xfrm>
            <a:custGeom>
              <a:avLst/>
              <a:gdLst/>
              <a:ahLst/>
              <a:cxnLst/>
              <a:rect l="l" t="t" r="r" b="b"/>
              <a:pathLst>
                <a:path w="7597" h="8098" extrusionOk="0">
                  <a:moveTo>
                    <a:pt x="3794" y="712"/>
                  </a:moveTo>
                  <a:cubicBezTo>
                    <a:pt x="3807" y="712"/>
                    <a:pt x="3821" y="713"/>
                    <a:pt x="3834" y="715"/>
                  </a:cubicBezTo>
                  <a:cubicBezTo>
                    <a:pt x="4025" y="715"/>
                    <a:pt x="4168" y="881"/>
                    <a:pt x="4168" y="1072"/>
                  </a:cubicBezTo>
                  <a:lnTo>
                    <a:pt x="4168" y="1381"/>
                  </a:lnTo>
                  <a:cubicBezTo>
                    <a:pt x="4620" y="1477"/>
                    <a:pt x="4930" y="1739"/>
                    <a:pt x="4954" y="1739"/>
                  </a:cubicBezTo>
                  <a:cubicBezTo>
                    <a:pt x="5096" y="1882"/>
                    <a:pt x="5120" y="2096"/>
                    <a:pt x="5001" y="2263"/>
                  </a:cubicBezTo>
                  <a:cubicBezTo>
                    <a:pt x="4935" y="2356"/>
                    <a:pt x="4831" y="2404"/>
                    <a:pt x="4724" y="2404"/>
                  </a:cubicBezTo>
                  <a:cubicBezTo>
                    <a:pt x="4639" y="2404"/>
                    <a:pt x="4551" y="2373"/>
                    <a:pt x="4477" y="2310"/>
                  </a:cubicBezTo>
                  <a:cubicBezTo>
                    <a:pt x="4477" y="2310"/>
                    <a:pt x="4191" y="2072"/>
                    <a:pt x="3834" y="2072"/>
                  </a:cubicBezTo>
                  <a:cubicBezTo>
                    <a:pt x="3739" y="2072"/>
                    <a:pt x="3668" y="2072"/>
                    <a:pt x="3596" y="2096"/>
                  </a:cubicBezTo>
                  <a:cubicBezTo>
                    <a:pt x="3358" y="2167"/>
                    <a:pt x="3334" y="2310"/>
                    <a:pt x="3310" y="2382"/>
                  </a:cubicBezTo>
                  <a:cubicBezTo>
                    <a:pt x="3310" y="2501"/>
                    <a:pt x="3358" y="2596"/>
                    <a:pt x="3477" y="2644"/>
                  </a:cubicBezTo>
                  <a:cubicBezTo>
                    <a:pt x="3668" y="2715"/>
                    <a:pt x="4001" y="2858"/>
                    <a:pt x="4263" y="2953"/>
                  </a:cubicBezTo>
                  <a:cubicBezTo>
                    <a:pt x="5049" y="3239"/>
                    <a:pt x="5239" y="3811"/>
                    <a:pt x="5168" y="4239"/>
                  </a:cubicBezTo>
                  <a:cubicBezTo>
                    <a:pt x="5120" y="4501"/>
                    <a:pt x="4954" y="4763"/>
                    <a:pt x="4715" y="4930"/>
                  </a:cubicBezTo>
                  <a:cubicBezTo>
                    <a:pt x="4572" y="5049"/>
                    <a:pt x="4382" y="5144"/>
                    <a:pt x="4168" y="5168"/>
                  </a:cubicBezTo>
                  <a:lnTo>
                    <a:pt x="4168" y="5478"/>
                  </a:lnTo>
                  <a:cubicBezTo>
                    <a:pt x="4168" y="5668"/>
                    <a:pt x="4025" y="5835"/>
                    <a:pt x="3834" y="5859"/>
                  </a:cubicBezTo>
                  <a:cubicBezTo>
                    <a:pt x="3620" y="5859"/>
                    <a:pt x="3453" y="5692"/>
                    <a:pt x="3453" y="5478"/>
                  </a:cubicBezTo>
                  <a:lnTo>
                    <a:pt x="3453" y="5168"/>
                  </a:lnTo>
                  <a:cubicBezTo>
                    <a:pt x="3072" y="5073"/>
                    <a:pt x="2739" y="4882"/>
                    <a:pt x="2501" y="4620"/>
                  </a:cubicBezTo>
                  <a:cubicBezTo>
                    <a:pt x="2382" y="4477"/>
                    <a:pt x="2382" y="4239"/>
                    <a:pt x="2524" y="4120"/>
                  </a:cubicBezTo>
                  <a:cubicBezTo>
                    <a:pt x="2605" y="4051"/>
                    <a:pt x="2696" y="4016"/>
                    <a:pt x="2785" y="4016"/>
                  </a:cubicBezTo>
                  <a:cubicBezTo>
                    <a:pt x="2881" y="4016"/>
                    <a:pt x="2974" y="4057"/>
                    <a:pt x="3048" y="4144"/>
                  </a:cubicBezTo>
                  <a:cubicBezTo>
                    <a:pt x="3239" y="4334"/>
                    <a:pt x="3525" y="4477"/>
                    <a:pt x="3834" y="4477"/>
                  </a:cubicBezTo>
                  <a:cubicBezTo>
                    <a:pt x="3852" y="4479"/>
                    <a:pt x="3869" y="4479"/>
                    <a:pt x="3887" y="4479"/>
                  </a:cubicBezTo>
                  <a:cubicBezTo>
                    <a:pt x="4176" y="4479"/>
                    <a:pt x="4431" y="4298"/>
                    <a:pt x="4453" y="4096"/>
                  </a:cubicBezTo>
                  <a:cubicBezTo>
                    <a:pt x="4501" y="3858"/>
                    <a:pt x="4168" y="3691"/>
                    <a:pt x="4025" y="3644"/>
                  </a:cubicBezTo>
                  <a:cubicBezTo>
                    <a:pt x="3739" y="3549"/>
                    <a:pt x="3286" y="3358"/>
                    <a:pt x="3167" y="3310"/>
                  </a:cubicBezTo>
                  <a:cubicBezTo>
                    <a:pt x="3001" y="3239"/>
                    <a:pt x="2858" y="3120"/>
                    <a:pt x="2763" y="3001"/>
                  </a:cubicBezTo>
                  <a:cubicBezTo>
                    <a:pt x="2620" y="2787"/>
                    <a:pt x="2548" y="2525"/>
                    <a:pt x="2596" y="2263"/>
                  </a:cubicBezTo>
                  <a:cubicBezTo>
                    <a:pt x="2667" y="1858"/>
                    <a:pt x="2953" y="1524"/>
                    <a:pt x="3382" y="1405"/>
                  </a:cubicBezTo>
                  <a:cubicBezTo>
                    <a:pt x="3406" y="1405"/>
                    <a:pt x="3429" y="1381"/>
                    <a:pt x="3453" y="1381"/>
                  </a:cubicBezTo>
                  <a:lnTo>
                    <a:pt x="3453" y="1072"/>
                  </a:lnTo>
                  <a:cubicBezTo>
                    <a:pt x="3453" y="871"/>
                    <a:pt x="3599" y="712"/>
                    <a:pt x="3794" y="712"/>
                  </a:cubicBezTo>
                  <a:close/>
                  <a:moveTo>
                    <a:pt x="5454" y="6621"/>
                  </a:moveTo>
                  <a:cubicBezTo>
                    <a:pt x="5644" y="6621"/>
                    <a:pt x="5811" y="6764"/>
                    <a:pt x="5811" y="6978"/>
                  </a:cubicBezTo>
                  <a:cubicBezTo>
                    <a:pt x="5811" y="7168"/>
                    <a:pt x="5644" y="7335"/>
                    <a:pt x="5454" y="7335"/>
                  </a:cubicBezTo>
                  <a:lnTo>
                    <a:pt x="2143" y="7335"/>
                  </a:lnTo>
                  <a:cubicBezTo>
                    <a:pt x="1953" y="7335"/>
                    <a:pt x="1786" y="7168"/>
                    <a:pt x="1786" y="6978"/>
                  </a:cubicBezTo>
                  <a:cubicBezTo>
                    <a:pt x="1786" y="6764"/>
                    <a:pt x="1953" y="6621"/>
                    <a:pt x="2143" y="6621"/>
                  </a:cubicBezTo>
                  <a:close/>
                  <a:moveTo>
                    <a:pt x="0" y="0"/>
                  </a:moveTo>
                  <a:lnTo>
                    <a:pt x="0" y="8097"/>
                  </a:lnTo>
                  <a:lnTo>
                    <a:pt x="7597" y="8097"/>
                  </a:lnTo>
                  <a:lnTo>
                    <a:pt x="75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321;p72">
              <a:extLst>
                <a:ext uri="{FF2B5EF4-FFF2-40B4-BE49-F238E27FC236}">
                  <a16:creationId xmlns:a16="http://schemas.microsoft.com/office/drawing/2014/main" id="{1CA23EC4-8F39-886D-12F4-50F971449725}"/>
                </a:ext>
              </a:extLst>
            </p:cNvPr>
            <p:cNvSpPr/>
            <p:nvPr/>
          </p:nvSpPr>
          <p:spPr>
            <a:xfrm>
              <a:off x="4047799" y="2406647"/>
              <a:ext cx="242705" cy="46452"/>
            </a:xfrm>
            <a:custGeom>
              <a:avLst/>
              <a:gdLst/>
              <a:ahLst/>
              <a:cxnLst/>
              <a:rect l="l" t="t" r="r" b="b"/>
              <a:pathLst>
                <a:path w="7597" h="1454" extrusionOk="0">
                  <a:moveTo>
                    <a:pt x="0" y="0"/>
                  </a:moveTo>
                  <a:lnTo>
                    <a:pt x="0" y="72"/>
                  </a:lnTo>
                  <a:cubicBezTo>
                    <a:pt x="0" y="834"/>
                    <a:pt x="619" y="1453"/>
                    <a:pt x="1405" y="1453"/>
                  </a:cubicBezTo>
                  <a:lnTo>
                    <a:pt x="6216" y="1453"/>
                  </a:lnTo>
                  <a:cubicBezTo>
                    <a:pt x="6978" y="1453"/>
                    <a:pt x="7597" y="834"/>
                    <a:pt x="7597" y="72"/>
                  </a:cubicBezTo>
                  <a:lnTo>
                    <a:pt x="75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322;p72">
              <a:extLst>
                <a:ext uri="{FF2B5EF4-FFF2-40B4-BE49-F238E27FC236}">
                  <a16:creationId xmlns:a16="http://schemas.microsoft.com/office/drawing/2014/main" id="{AD21A263-39C3-9D18-3F48-5CB8B6E14E90}"/>
                </a:ext>
              </a:extLst>
            </p:cNvPr>
            <p:cNvSpPr/>
            <p:nvPr/>
          </p:nvSpPr>
          <p:spPr>
            <a:xfrm>
              <a:off x="4346033" y="2289462"/>
              <a:ext cx="70029" cy="70029"/>
            </a:xfrm>
            <a:custGeom>
              <a:avLst/>
              <a:gdLst/>
              <a:ahLst/>
              <a:cxnLst/>
              <a:rect l="l" t="t" r="r" b="b"/>
              <a:pathLst>
                <a:path w="2192" h="2192" extrusionOk="0">
                  <a:moveTo>
                    <a:pt x="358" y="1"/>
                  </a:moveTo>
                  <a:cubicBezTo>
                    <a:pt x="143" y="1"/>
                    <a:pt x="0" y="168"/>
                    <a:pt x="0" y="358"/>
                  </a:cubicBezTo>
                  <a:lnTo>
                    <a:pt x="0" y="1835"/>
                  </a:lnTo>
                  <a:cubicBezTo>
                    <a:pt x="0" y="2025"/>
                    <a:pt x="143" y="2192"/>
                    <a:pt x="358" y="2192"/>
                  </a:cubicBezTo>
                  <a:lnTo>
                    <a:pt x="1810" y="2192"/>
                  </a:lnTo>
                  <a:cubicBezTo>
                    <a:pt x="2025" y="2192"/>
                    <a:pt x="2191" y="2025"/>
                    <a:pt x="2191" y="1835"/>
                  </a:cubicBezTo>
                  <a:lnTo>
                    <a:pt x="2191" y="358"/>
                  </a:lnTo>
                  <a:cubicBezTo>
                    <a:pt x="2191" y="168"/>
                    <a:pt x="2025" y="1"/>
                    <a:pt x="18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323;p72">
              <a:extLst>
                <a:ext uri="{FF2B5EF4-FFF2-40B4-BE49-F238E27FC236}">
                  <a16:creationId xmlns:a16="http://schemas.microsoft.com/office/drawing/2014/main" id="{96FA5F94-66CA-6EF3-9DD4-15FF3D3BEB5F}"/>
                </a:ext>
              </a:extLst>
            </p:cNvPr>
            <p:cNvSpPr/>
            <p:nvPr/>
          </p:nvSpPr>
          <p:spPr>
            <a:xfrm>
              <a:off x="4346033" y="2383069"/>
              <a:ext cx="70029" cy="70029"/>
            </a:xfrm>
            <a:custGeom>
              <a:avLst/>
              <a:gdLst/>
              <a:ahLst/>
              <a:cxnLst/>
              <a:rect l="l" t="t" r="r" b="b"/>
              <a:pathLst>
                <a:path w="2192" h="2192" extrusionOk="0">
                  <a:moveTo>
                    <a:pt x="358" y="0"/>
                  </a:moveTo>
                  <a:cubicBezTo>
                    <a:pt x="143" y="0"/>
                    <a:pt x="0" y="167"/>
                    <a:pt x="0" y="357"/>
                  </a:cubicBezTo>
                  <a:lnTo>
                    <a:pt x="0" y="1834"/>
                  </a:lnTo>
                  <a:cubicBezTo>
                    <a:pt x="0" y="2024"/>
                    <a:pt x="143" y="2191"/>
                    <a:pt x="358" y="2191"/>
                  </a:cubicBezTo>
                  <a:lnTo>
                    <a:pt x="1810" y="2191"/>
                  </a:lnTo>
                  <a:cubicBezTo>
                    <a:pt x="2025" y="2191"/>
                    <a:pt x="2191" y="2024"/>
                    <a:pt x="2191" y="1834"/>
                  </a:cubicBezTo>
                  <a:lnTo>
                    <a:pt x="2191" y="357"/>
                  </a:lnTo>
                  <a:cubicBezTo>
                    <a:pt x="2191" y="167"/>
                    <a:pt x="2025" y="0"/>
                    <a:pt x="18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324;p72">
              <a:extLst>
                <a:ext uri="{FF2B5EF4-FFF2-40B4-BE49-F238E27FC236}">
                  <a16:creationId xmlns:a16="http://schemas.microsoft.com/office/drawing/2014/main" id="{95EF861A-99D0-754C-ECF8-CA1FA376B8B4}"/>
                </a:ext>
              </a:extLst>
            </p:cNvPr>
            <p:cNvSpPr/>
            <p:nvPr/>
          </p:nvSpPr>
          <p:spPr>
            <a:xfrm>
              <a:off x="4311018" y="2054388"/>
              <a:ext cx="136991" cy="211524"/>
            </a:xfrm>
            <a:custGeom>
              <a:avLst/>
              <a:gdLst/>
              <a:ahLst/>
              <a:cxnLst/>
              <a:rect l="l" t="t" r="r" b="b"/>
              <a:pathLst>
                <a:path w="4288" h="6621" extrusionOk="0">
                  <a:moveTo>
                    <a:pt x="2183" y="0"/>
                  </a:moveTo>
                  <a:cubicBezTo>
                    <a:pt x="2073" y="0"/>
                    <a:pt x="1966" y="48"/>
                    <a:pt x="1906" y="143"/>
                  </a:cubicBezTo>
                  <a:lnTo>
                    <a:pt x="191" y="2286"/>
                  </a:lnTo>
                  <a:cubicBezTo>
                    <a:pt x="1" y="2501"/>
                    <a:pt x="191" y="2882"/>
                    <a:pt x="477" y="2882"/>
                  </a:cubicBezTo>
                  <a:lnTo>
                    <a:pt x="1096" y="2882"/>
                  </a:lnTo>
                  <a:lnTo>
                    <a:pt x="1096" y="6263"/>
                  </a:lnTo>
                  <a:cubicBezTo>
                    <a:pt x="1096" y="6478"/>
                    <a:pt x="1239" y="6621"/>
                    <a:pt x="1454" y="6621"/>
                  </a:cubicBezTo>
                  <a:lnTo>
                    <a:pt x="2906" y="6621"/>
                  </a:lnTo>
                  <a:cubicBezTo>
                    <a:pt x="3121" y="6621"/>
                    <a:pt x="3287" y="6478"/>
                    <a:pt x="3287" y="6263"/>
                  </a:cubicBezTo>
                  <a:lnTo>
                    <a:pt x="3287" y="2882"/>
                  </a:lnTo>
                  <a:lnTo>
                    <a:pt x="3883" y="2882"/>
                  </a:lnTo>
                  <a:cubicBezTo>
                    <a:pt x="4026" y="2882"/>
                    <a:pt x="4168" y="2787"/>
                    <a:pt x="4216" y="2668"/>
                  </a:cubicBezTo>
                  <a:cubicBezTo>
                    <a:pt x="4288" y="2548"/>
                    <a:pt x="4264" y="2382"/>
                    <a:pt x="4168" y="2286"/>
                  </a:cubicBezTo>
                  <a:lnTo>
                    <a:pt x="2478" y="143"/>
                  </a:lnTo>
                  <a:cubicBezTo>
                    <a:pt x="2406" y="48"/>
                    <a:pt x="2293" y="0"/>
                    <a:pt x="2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766571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D2D087-FE5C-47CB-A701-72766EA24F28}"/>
              </a:ext>
            </a:extLst>
          </p:cNvPr>
          <p:cNvPicPr>
            <a:picLocks noChangeAspect="1"/>
          </p:cNvPicPr>
          <p:nvPr/>
        </p:nvPicPr>
        <p:blipFill>
          <a:blip r:embed="rId2"/>
          <a:stretch>
            <a:fillRect/>
          </a:stretch>
        </p:blipFill>
        <p:spPr>
          <a:xfrm>
            <a:off x="115094" y="0"/>
            <a:ext cx="3445669" cy="5143500"/>
          </a:xfrm>
          <a:prstGeom prst="rect">
            <a:avLst/>
          </a:prstGeom>
        </p:spPr>
      </p:pic>
      <p:pic>
        <p:nvPicPr>
          <p:cNvPr id="1032" name="Picture 8" descr="Decoding $1.3 Tn Fintech Market Opportunity For Indian Startups">
            <a:extLst>
              <a:ext uri="{FF2B5EF4-FFF2-40B4-BE49-F238E27FC236}">
                <a16:creationId xmlns:a16="http://schemas.microsoft.com/office/drawing/2014/main" id="{BCE06508-C8F0-782A-C132-5EE319E69D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0763" y="0"/>
            <a:ext cx="5583237"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028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3846-4AD1-F92B-ADFC-D7CB42A86B9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A88DD91-C847-41DB-59CB-C84505FED87E}"/>
              </a:ext>
            </a:extLst>
          </p:cNvPr>
          <p:cNvSpPr txBox="1"/>
          <p:nvPr/>
        </p:nvSpPr>
        <p:spPr>
          <a:xfrm>
            <a:off x="548640" y="773494"/>
            <a:ext cx="5736657" cy="3539430"/>
          </a:xfrm>
          <a:prstGeom prst="rect">
            <a:avLst/>
          </a:prstGeom>
          <a:blipFill dpi="0" rotWithShape="1">
            <a:blip r:embed="rId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a:blipFill>
        </p:spPr>
        <p:txBody>
          <a:bodyPr wrap="square" rtlCol="0">
            <a:spAutoFit/>
          </a:bodyPr>
          <a:lstStyle/>
          <a:p>
            <a:r>
              <a:rPr lang="en-US" sz="1600" b="1" dirty="0"/>
              <a:t>2. Data-Driven Personalization</a:t>
            </a:r>
          </a:p>
          <a:p>
            <a:pPr marL="285750" indent="-285750">
              <a:buFont typeface="Arial" panose="020B0604020202020204" pitchFamily="34" charset="0"/>
              <a:buChar char="•"/>
            </a:pPr>
            <a:r>
              <a:rPr lang="en-US" sz="1600" b="1" dirty="0"/>
              <a:t>Why it’s a huge opportunity in fintech:</a:t>
            </a:r>
            <a:br>
              <a:rPr lang="en-US" sz="1600" dirty="0"/>
            </a:br>
            <a:r>
              <a:rPr lang="en-US" sz="1600" dirty="0"/>
              <a:t>CRED has access to high-quality credit, spending, and behavioral data — and that’s gold in personal finance.</a:t>
            </a:r>
          </a:p>
          <a:p>
            <a:pPr marL="285750" indent="-285750">
              <a:buFont typeface="Arial" panose="020B0604020202020204" pitchFamily="34" charset="0"/>
              <a:buChar char="•"/>
            </a:pPr>
            <a:r>
              <a:rPr lang="en-US" sz="1600" dirty="0"/>
              <a:t>By applying </a:t>
            </a:r>
            <a:r>
              <a:rPr lang="en-US" sz="1600" b="1" dirty="0"/>
              <a:t>AI/ML models</a:t>
            </a:r>
            <a:r>
              <a:rPr lang="en-US" sz="1600" dirty="0"/>
              <a:t>, CRED can offer smarter product recommendations, interest rates, spending insights, and alerts.</a:t>
            </a:r>
          </a:p>
          <a:p>
            <a:r>
              <a:rPr lang="en-US" sz="1600" dirty="0"/>
              <a:t>For example, it could suggest investment products based on spending patterns, or pre-approve credit based on real-time usage trends.</a:t>
            </a:r>
          </a:p>
          <a:p>
            <a:pPr marL="285750" indent="-285750">
              <a:buFont typeface="Arial" panose="020B0604020202020204" pitchFamily="34" charset="0"/>
              <a:buChar char="•"/>
            </a:pPr>
            <a:r>
              <a:rPr lang="en-US" sz="1600" dirty="0"/>
              <a:t>This not only improves </a:t>
            </a:r>
            <a:r>
              <a:rPr lang="en-US" sz="1600" b="1" dirty="0"/>
              <a:t>customer experience and loyalty</a:t>
            </a:r>
            <a:r>
              <a:rPr lang="en-US" sz="1600" dirty="0"/>
              <a:t>, but also reduces risk and improves margins for lending products.</a:t>
            </a:r>
          </a:p>
          <a:p>
            <a:endParaRPr lang="en-IN" sz="1600" dirty="0">
              <a:latin typeface="Aptos Display" panose="020B0004020202020204" pitchFamily="34" charset="0"/>
            </a:endParaRPr>
          </a:p>
        </p:txBody>
      </p:sp>
      <p:grpSp>
        <p:nvGrpSpPr>
          <p:cNvPr id="38" name="Google Shape;4286;p81">
            <a:extLst>
              <a:ext uri="{FF2B5EF4-FFF2-40B4-BE49-F238E27FC236}">
                <a16:creationId xmlns:a16="http://schemas.microsoft.com/office/drawing/2014/main" id="{31CEC1B4-23C8-227E-29F3-CCB058C20916}"/>
              </a:ext>
            </a:extLst>
          </p:cNvPr>
          <p:cNvGrpSpPr/>
          <p:nvPr/>
        </p:nvGrpSpPr>
        <p:grpSpPr>
          <a:xfrm>
            <a:off x="6871931" y="789530"/>
            <a:ext cx="1675870" cy="758251"/>
            <a:chOff x="3530532" y="1496185"/>
            <a:chExt cx="1562000" cy="706730"/>
          </a:xfrm>
        </p:grpSpPr>
        <p:cxnSp>
          <p:nvCxnSpPr>
            <p:cNvPr id="39" name="Google Shape;4287;p81">
              <a:extLst>
                <a:ext uri="{FF2B5EF4-FFF2-40B4-BE49-F238E27FC236}">
                  <a16:creationId xmlns:a16="http://schemas.microsoft.com/office/drawing/2014/main" id="{7FC650F4-CCA4-77E2-0103-F7110B16F4D8}"/>
                </a:ext>
              </a:extLst>
            </p:cNvPr>
            <p:cNvCxnSpPr/>
            <p:nvPr/>
          </p:nvCxnSpPr>
          <p:spPr>
            <a:xfrm>
              <a:off x="3583832" y="1857562"/>
              <a:ext cx="1508700" cy="0"/>
            </a:xfrm>
            <a:prstGeom prst="straightConnector1">
              <a:avLst/>
            </a:prstGeom>
            <a:noFill/>
            <a:ln w="28575" cap="flat" cmpd="sng">
              <a:solidFill>
                <a:srgbClr val="A5B7C6"/>
              </a:solidFill>
              <a:prstDash val="solid"/>
              <a:round/>
              <a:headEnd type="none" w="med" len="med"/>
              <a:tailEnd type="triangle" w="med" len="med"/>
            </a:ln>
          </p:spPr>
        </p:cxnSp>
        <p:grpSp>
          <p:nvGrpSpPr>
            <p:cNvPr id="40" name="Google Shape;4288;p81">
              <a:extLst>
                <a:ext uri="{FF2B5EF4-FFF2-40B4-BE49-F238E27FC236}">
                  <a16:creationId xmlns:a16="http://schemas.microsoft.com/office/drawing/2014/main" id="{3D3E93BA-6D21-3DAC-0183-917418343BAA}"/>
                </a:ext>
              </a:extLst>
            </p:cNvPr>
            <p:cNvGrpSpPr/>
            <p:nvPr/>
          </p:nvGrpSpPr>
          <p:grpSpPr>
            <a:xfrm>
              <a:off x="3530532" y="1496185"/>
              <a:ext cx="323430" cy="463587"/>
              <a:chOff x="3530532" y="1496185"/>
              <a:chExt cx="323430" cy="463587"/>
            </a:xfrm>
          </p:grpSpPr>
          <p:grpSp>
            <p:nvGrpSpPr>
              <p:cNvPr id="56" name="Google Shape;4289;p81">
                <a:extLst>
                  <a:ext uri="{FF2B5EF4-FFF2-40B4-BE49-F238E27FC236}">
                    <a16:creationId xmlns:a16="http://schemas.microsoft.com/office/drawing/2014/main" id="{6EB9CD5A-212B-7456-A508-E5656108D104}"/>
                  </a:ext>
                </a:extLst>
              </p:cNvPr>
              <p:cNvGrpSpPr/>
              <p:nvPr/>
            </p:nvGrpSpPr>
            <p:grpSpPr>
              <a:xfrm>
                <a:off x="3567462" y="1496185"/>
                <a:ext cx="286500" cy="361376"/>
                <a:chOff x="3567462" y="1496185"/>
                <a:chExt cx="286500" cy="361376"/>
              </a:xfrm>
            </p:grpSpPr>
            <p:cxnSp>
              <p:nvCxnSpPr>
                <p:cNvPr id="58" name="Google Shape;4290;p81">
                  <a:extLst>
                    <a:ext uri="{FF2B5EF4-FFF2-40B4-BE49-F238E27FC236}">
                      <a16:creationId xmlns:a16="http://schemas.microsoft.com/office/drawing/2014/main" id="{CE11A3B1-C93E-DAB5-1516-EC8042AF0873}"/>
                    </a:ext>
                  </a:extLst>
                </p:cNvPr>
                <p:cNvCxnSpPr/>
                <p:nvPr/>
              </p:nvCxnSpPr>
              <p:spPr>
                <a:xfrm rot="10800000">
                  <a:off x="3626630"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59" name="Google Shape;4291;p81">
                  <a:extLst>
                    <a:ext uri="{FF2B5EF4-FFF2-40B4-BE49-F238E27FC236}">
                      <a16:creationId xmlns:a16="http://schemas.microsoft.com/office/drawing/2014/main" id="{AE227118-8066-FA5A-B488-76E3A75F23AD}"/>
                    </a:ext>
                  </a:extLst>
                </p:cNvPr>
                <p:cNvSpPr/>
                <p:nvPr/>
              </p:nvSpPr>
              <p:spPr>
                <a:xfrm>
                  <a:off x="3567462"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Google Shape;4292;p81">
                <a:extLst>
                  <a:ext uri="{FF2B5EF4-FFF2-40B4-BE49-F238E27FC236}">
                    <a16:creationId xmlns:a16="http://schemas.microsoft.com/office/drawing/2014/main" id="{7AFBBDDA-D280-D21B-CE94-63B0D9C04743}"/>
                  </a:ext>
                </a:extLst>
              </p:cNvPr>
              <p:cNvSpPr/>
              <p:nvPr/>
            </p:nvSpPr>
            <p:spPr>
              <a:xfrm>
                <a:off x="3530532"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4293;p81">
              <a:extLst>
                <a:ext uri="{FF2B5EF4-FFF2-40B4-BE49-F238E27FC236}">
                  <a16:creationId xmlns:a16="http://schemas.microsoft.com/office/drawing/2014/main" id="{6ED82FA0-4F8A-7BD6-EE7D-0D8F94642161}"/>
                </a:ext>
              </a:extLst>
            </p:cNvPr>
            <p:cNvGrpSpPr/>
            <p:nvPr/>
          </p:nvGrpSpPr>
          <p:grpSpPr>
            <a:xfrm>
              <a:off x="3891569" y="1779209"/>
              <a:ext cx="323945" cy="423706"/>
              <a:chOff x="3891569" y="1779209"/>
              <a:chExt cx="323945" cy="423706"/>
            </a:xfrm>
          </p:grpSpPr>
          <p:grpSp>
            <p:nvGrpSpPr>
              <p:cNvPr id="52" name="Google Shape;4294;p81">
                <a:extLst>
                  <a:ext uri="{FF2B5EF4-FFF2-40B4-BE49-F238E27FC236}">
                    <a16:creationId xmlns:a16="http://schemas.microsoft.com/office/drawing/2014/main" id="{C4D4DA6C-B281-30D6-7B03-9D6B72E4D710}"/>
                  </a:ext>
                </a:extLst>
              </p:cNvPr>
              <p:cNvGrpSpPr/>
              <p:nvPr/>
            </p:nvGrpSpPr>
            <p:grpSpPr>
              <a:xfrm>
                <a:off x="3929014" y="1881638"/>
                <a:ext cx="286500" cy="321278"/>
                <a:chOff x="3929014" y="1881638"/>
                <a:chExt cx="286500" cy="321278"/>
              </a:xfrm>
            </p:grpSpPr>
            <p:cxnSp>
              <p:nvCxnSpPr>
                <p:cNvPr id="54" name="Google Shape;4295;p81">
                  <a:extLst>
                    <a:ext uri="{FF2B5EF4-FFF2-40B4-BE49-F238E27FC236}">
                      <a16:creationId xmlns:a16="http://schemas.microsoft.com/office/drawing/2014/main" id="{61E55836-04A5-6CA1-C16D-6F83D891AF69}"/>
                    </a:ext>
                  </a:extLst>
                </p:cNvPr>
                <p:cNvCxnSpPr/>
                <p:nvPr/>
              </p:nvCxnSpPr>
              <p:spPr>
                <a:xfrm rot="10800000">
                  <a:off x="3988388" y="1881638"/>
                  <a:ext cx="0" cy="291900"/>
                </a:xfrm>
                <a:prstGeom prst="straightConnector1">
                  <a:avLst/>
                </a:prstGeom>
                <a:noFill/>
                <a:ln w="28575" cap="flat" cmpd="sng">
                  <a:solidFill>
                    <a:srgbClr val="A5B7C6"/>
                  </a:solidFill>
                  <a:prstDash val="solid"/>
                  <a:round/>
                  <a:headEnd type="none" w="med" len="med"/>
                  <a:tailEnd type="none" w="med" len="med"/>
                </a:ln>
              </p:spPr>
            </p:cxnSp>
            <p:sp>
              <p:nvSpPr>
                <p:cNvPr id="55" name="Google Shape;4296;p81">
                  <a:extLst>
                    <a:ext uri="{FF2B5EF4-FFF2-40B4-BE49-F238E27FC236}">
                      <a16:creationId xmlns:a16="http://schemas.microsoft.com/office/drawing/2014/main" id="{01C1CD7C-236E-491E-DA3E-1DBD673F98A5}"/>
                    </a:ext>
                  </a:extLst>
                </p:cNvPr>
                <p:cNvSpPr/>
                <p:nvPr/>
              </p:nvSpPr>
              <p:spPr>
                <a:xfrm>
                  <a:off x="3929014"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 name="Google Shape;4297;p81">
                <a:extLst>
                  <a:ext uri="{FF2B5EF4-FFF2-40B4-BE49-F238E27FC236}">
                    <a16:creationId xmlns:a16="http://schemas.microsoft.com/office/drawing/2014/main" id="{67F2A0E4-2A04-CAE7-4298-D30CF98D0606}"/>
                  </a:ext>
                </a:extLst>
              </p:cNvPr>
              <p:cNvSpPr/>
              <p:nvPr/>
            </p:nvSpPr>
            <p:spPr>
              <a:xfrm>
                <a:off x="3891569" y="1779209"/>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98;p81">
              <a:extLst>
                <a:ext uri="{FF2B5EF4-FFF2-40B4-BE49-F238E27FC236}">
                  <a16:creationId xmlns:a16="http://schemas.microsoft.com/office/drawing/2014/main" id="{7AA46F99-230F-1860-0AA5-5D26E99D8503}"/>
                </a:ext>
              </a:extLst>
            </p:cNvPr>
            <p:cNvGrpSpPr/>
            <p:nvPr/>
          </p:nvGrpSpPr>
          <p:grpSpPr>
            <a:xfrm>
              <a:off x="4252606" y="1496185"/>
              <a:ext cx="324721" cy="463587"/>
              <a:chOff x="4252606" y="1496185"/>
              <a:chExt cx="324721" cy="463587"/>
            </a:xfrm>
          </p:grpSpPr>
          <p:grpSp>
            <p:nvGrpSpPr>
              <p:cNvPr id="48" name="Google Shape;4299;p81">
                <a:extLst>
                  <a:ext uri="{FF2B5EF4-FFF2-40B4-BE49-F238E27FC236}">
                    <a16:creationId xmlns:a16="http://schemas.microsoft.com/office/drawing/2014/main" id="{0EDFF578-BBA6-C653-B036-AC3217BADF1E}"/>
                  </a:ext>
                </a:extLst>
              </p:cNvPr>
              <p:cNvGrpSpPr/>
              <p:nvPr/>
            </p:nvGrpSpPr>
            <p:grpSpPr>
              <a:xfrm>
                <a:off x="4290828" y="1496185"/>
                <a:ext cx="286500" cy="361376"/>
                <a:chOff x="4290828" y="1496185"/>
                <a:chExt cx="286500" cy="361376"/>
              </a:xfrm>
            </p:grpSpPr>
            <p:cxnSp>
              <p:nvCxnSpPr>
                <p:cNvPr id="50" name="Google Shape;4300;p81">
                  <a:extLst>
                    <a:ext uri="{FF2B5EF4-FFF2-40B4-BE49-F238E27FC236}">
                      <a16:creationId xmlns:a16="http://schemas.microsoft.com/office/drawing/2014/main" id="{82974D86-76D8-0B7A-CF33-BBA9C728D3FA}"/>
                    </a:ext>
                  </a:extLst>
                </p:cNvPr>
                <p:cNvCxnSpPr/>
                <p:nvPr/>
              </p:nvCxnSpPr>
              <p:spPr>
                <a:xfrm rot="10800000">
                  <a:off x="4349995"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51" name="Google Shape;4301;p81">
                  <a:extLst>
                    <a:ext uri="{FF2B5EF4-FFF2-40B4-BE49-F238E27FC236}">
                      <a16:creationId xmlns:a16="http://schemas.microsoft.com/office/drawing/2014/main" id="{A9E681DF-5B77-CFFA-0EE3-204D6BAC8493}"/>
                    </a:ext>
                  </a:extLst>
                </p:cNvPr>
                <p:cNvSpPr/>
                <p:nvPr/>
              </p:nvSpPr>
              <p:spPr>
                <a:xfrm>
                  <a:off x="4290828"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 name="Google Shape;4302;p81">
                <a:extLst>
                  <a:ext uri="{FF2B5EF4-FFF2-40B4-BE49-F238E27FC236}">
                    <a16:creationId xmlns:a16="http://schemas.microsoft.com/office/drawing/2014/main" id="{13CF7D21-FAE6-AEBB-D209-74AED5E401A6}"/>
                  </a:ext>
                </a:extLst>
              </p:cNvPr>
              <p:cNvSpPr/>
              <p:nvPr/>
            </p:nvSpPr>
            <p:spPr>
              <a:xfrm>
                <a:off x="4252606"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03;p81">
              <a:extLst>
                <a:ext uri="{FF2B5EF4-FFF2-40B4-BE49-F238E27FC236}">
                  <a16:creationId xmlns:a16="http://schemas.microsoft.com/office/drawing/2014/main" id="{62FA63B0-4DC8-7379-AADB-9E4F1EC61714}"/>
                </a:ext>
              </a:extLst>
            </p:cNvPr>
            <p:cNvGrpSpPr/>
            <p:nvPr/>
          </p:nvGrpSpPr>
          <p:grpSpPr>
            <a:xfrm>
              <a:off x="4613643" y="1763716"/>
              <a:ext cx="325308" cy="439200"/>
              <a:chOff x="4613643" y="1763716"/>
              <a:chExt cx="325308" cy="439200"/>
            </a:xfrm>
          </p:grpSpPr>
          <p:grpSp>
            <p:nvGrpSpPr>
              <p:cNvPr id="44" name="Google Shape;4304;p81">
                <a:extLst>
                  <a:ext uri="{FF2B5EF4-FFF2-40B4-BE49-F238E27FC236}">
                    <a16:creationId xmlns:a16="http://schemas.microsoft.com/office/drawing/2014/main" id="{5669A8AB-A5E5-E5A2-6E6F-9C2B9E5B8364}"/>
                  </a:ext>
                </a:extLst>
              </p:cNvPr>
              <p:cNvGrpSpPr/>
              <p:nvPr/>
            </p:nvGrpSpPr>
            <p:grpSpPr>
              <a:xfrm>
                <a:off x="4652451" y="1879538"/>
                <a:ext cx="286500" cy="323378"/>
                <a:chOff x="4652451" y="1879538"/>
                <a:chExt cx="286500" cy="323378"/>
              </a:xfrm>
            </p:grpSpPr>
            <p:cxnSp>
              <p:nvCxnSpPr>
                <p:cNvPr id="46" name="Google Shape;4305;p81">
                  <a:extLst>
                    <a:ext uri="{FF2B5EF4-FFF2-40B4-BE49-F238E27FC236}">
                      <a16:creationId xmlns:a16="http://schemas.microsoft.com/office/drawing/2014/main" id="{3BCD97FE-51CB-5DA4-B6B2-7C47F0967BF9}"/>
                    </a:ext>
                  </a:extLst>
                </p:cNvPr>
                <p:cNvCxnSpPr/>
                <p:nvPr/>
              </p:nvCxnSpPr>
              <p:spPr>
                <a:xfrm rot="10800000">
                  <a:off x="4707486" y="1879538"/>
                  <a:ext cx="0" cy="294000"/>
                </a:xfrm>
                <a:prstGeom prst="straightConnector1">
                  <a:avLst/>
                </a:prstGeom>
                <a:noFill/>
                <a:ln w="28575" cap="flat" cmpd="sng">
                  <a:solidFill>
                    <a:srgbClr val="A5B7C6"/>
                  </a:solidFill>
                  <a:prstDash val="solid"/>
                  <a:round/>
                  <a:headEnd type="none" w="med" len="med"/>
                  <a:tailEnd type="none" w="med" len="med"/>
                </a:ln>
              </p:spPr>
            </p:cxnSp>
            <p:sp>
              <p:nvSpPr>
                <p:cNvPr id="47" name="Google Shape;4306;p81">
                  <a:extLst>
                    <a:ext uri="{FF2B5EF4-FFF2-40B4-BE49-F238E27FC236}">
                      <a16:creationId xmlns:a16="http://schemas.microsoft.com/office/drawing/2014/main" id="{4DAD3290-AD8A-951A-5335-3844BD32C40B}"/>
                    </a:ext>
                  </a:extLst>
                </p:cNvPr>
                <p:cNvSpPr/>
                <p:nvPr/>
              </p:nvSpPr>
              <p:spPr>
                <a:xfrm>
                  <a:off x="4652451"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307;p81">
                <a:extLst>
                  <a:ext uri="{FF2B5EF4-FFF2-40B4-BE49-F238E27FC236}">
                    <a16:creationId xmlns:a16="http://schemas.microsoft.com/office/drawing/2014/main" id="{94019A68-398A-6C26-783B-F5923251891F}"/>
                  </a:ext>
                </a:extLst>
              </p:cNvPr>
              <p:cNvSpPr/>
              <p:nvPr/>
            </p:nvSpPr>
            <p:spPr>
              <a:xfrm>
                <a:off x="4613643" y="1763716"/>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 name="Google Shape;5419;p84">
            <a:extLst>
              <a:ext uri="{FF2B5EF4-FFF2-40B4-BE49-F238E27FC236}">
                <a16:creationId xmlns:a16="http://schemas.microsoft.com/office/drawing/2014/main" id="{758DAAD3-4497-3BE2-246E-D468951E336D}"/>
              </a:ext>
            </a:extLst>
          </p:cNvPr>
          <p:cNvGrpSpPr/>
          <p:nvPr/>
        </p:nvGrpSpPr>
        <p:grpSpPr>
          <a:xfrm>
            <a:off x="6415869" y="2896678"/>
            <a:ext cx="1433821" cy="191501"/>
            <a:chOff x="4273350" y="2088443"/>
            <a:chExt cx="1433821" cy="191501"/>
          </a:xfrm>
          <a:solidFill>
            <a:schemeClr val="tx1"/>
          </a:solidFill>
        </p:grpSpPr>
        <p:grpSp>
          <p:nvGrpSpPr>
            <p:cNvPr id="3" name="Google Shape;5420;p84">
              <a:extLst>
                <a:ext uri="{FF2B5EF4-FFF2-40B4-BE49-F238E27FC236}">
                  <a16:creationId xmlns:a16="http://schemas.microsoft.com/office/drawing/2014/main" id="{A7D8D367-CFF9-7E48-A2B8-C615D27FFBFD}"/>
                </a:ext>
              </a:extLst>
            </p:cNvPr>
            <p:cNvGrpSpPr/>
            <p:nvPr/>
          </p:nvGrpSpPr>
          <p:grpSpPr>
            <a:xfrm>
              <a:off x="4273350" y="2088443"/>
              <a:ext cx="1433821" cy="0"/>
              <a:chOff x="5224975" y="2962250"/>
              <a:chExt cx="1544400" cy="0"/>
            </a:xfrm>
            <a:grpFill/>
          </p:grpSpPr>
          <p:cxnSp>
            <p:nvCxnSpPr>
              <p:cNvPr id="62" name="Google Shape;5421;p84">
                <a:extLst>
                  <a:ext uri="{FF2B5EF4-FFF2-40B4-BE49-F238E27FC236}">
                    <a16:creationId xmlns:a16="http://schemas.microsoft.com/office/drawing/2014/main" id="{E8111AFB-DC3C-9081-73C5-CF21C2E069D0}"/>
                  </a:ext>
                </a:extLst>
              </p:cNvPr>
              <p:cNvCxnSpPr/>
              <p:nvPr/>
            </p:nvCxnSpPr>
            <p:spPr>
              <a:xfrm>
                <a:off x="5224975" y="2962250"/>
                <a:ext cx="1544400" cy="0"/>
              </a:xfrm>
              <a:prstGeom prst="straightConnector1">
                <a:avLst/>
              </a:prstGeom>
              <a:grpFill/>
              <a:ln w="19050" cap="flat" cmpd="sng">
                <a:solidFill>
                  <a:schemeClr val="tx1"/>
                </a:solidFill>
                <a:prstDash val="solid"/>
                <a:round/>
                <a:headEnd type="none" w="med" len="med"/>
                <a:tailEnd type="none" w="med" len="med"/>
              </a:ln>
            </p:spPr>
          </p:cxnSp>
          <p:cxnSp>
            <p:nvCxnSpPr>
              <p:cNvPr id="63" name="Google Shape;5422;p84">
                <a:extLst>
                  <a:ext uri="{FF2B5EF4-FFF2-40B4-BE49-F238E27FC236}">
                    <a16:creationId xmlns:a16="http://schemas.microsoft.com/office/drawing/2014/main" id="{14D7D037-C71C-71F0-B290-1FC85B330001}"/>
                  </a:ext>
                </a:extLst>
              </p:cNvPr>
              <p:cNvCxnSpPr/>
              <p:nvPr/>
            </p:nvCxnSpPr>
            <p:spPr>
              <a:xfrm>
                <a:off x="5225150" y="2962250"/>
                <a:ext cx="453300" cy="0"/>
              </a:xfrm>
              <a:prstGeom prst="straightConnector1">
                <a:avLst/>
              </a:prstGeom>
              <a:grpFill/>
              <a:ln w="19050" cap="flat" cmpd="sng">
                <a:solidFill>
                  <a:schemeClr val="tx1"/>
                </a:solidFill>
                <a:prstDash val="solid"/>
                <a:round/>
                <a:headEnd type="none" w="med" len="med"/>
                <a:tailEnd type="oval" w="med" len="med"/>
              </a:ln>
            </p:spPr>
          </p:cxnSp>
        </p:grpSp>
        <p:grpSp>
          <p:nvGrpSpPr>
            <p:cNvPr id="4" name="Google Shape;5423;p84">
              <a:extLst>
                <a:ext uri="{FF2B5EF4-FFF2-40B4-BE49-F238E27FC236}">
                  <a16:creationId xmlns:a16="http://schemas.microsoft.com/office/drawing/2014/main" id="{CDFE63BD-3387-C39F-246C-0A40359B5230}"/>
                </a:ext>
              </a:extLst>
            </p:cNvPr>
            <p:cNvGrpSpPr/>
            <p:nvPr/>
          </p:nvGrpSpPr>
          <p:grpSpPr>
            <a:xfrm>
              <a:off x="4273350" y="2279944"/>
              <a:ext cx="1433821" cy="0"/>
              <a:chOff x="5224975" y="2962250"/>
              <a:chExt cx="1544400" cy="0"/>
            </a:xfrm>
            <a:grpFill/>
          </p:grpSpPr>
          <p:cxnSp>
            <p:nvCxnSpPr>
              <p:cNvPr id="60" name="Google Shape;5424;p84">
                <a:extLst>
                  <a:ext uri="{FF2B5EF4-FFF2-40B4-BE49-F238E27FC236}">
                    <a16:creationId xmlns:a16="http://schemas.microsoft.com/office/drawing/2014/main" id="{CAD8C6C6-BDFC-346A-6168-2F86EBEA336E}"/>
                  </a:ext>
                </a:extLst>
              </p:cNvPr>
              <p:cNvCxnSpPr/>
              <p:nvPr/>
            </p:nvCxnSpPr>
            <p:spPr>
              <a:xfrm>
                <a:off x="5224975" y="2962250"/>
                <a:ext cx="1544400" cy="0"/>
              </a:xfrm>
              <a:prstGeom prst="straightConnector1">
                <a:avLst/>
              </a:prstGeom>
              <a:grpFill/>
              <a:ln w="19050" cap="flat" cmpd="sng">
                <a:solidFill>
                  <a:schemeClr val="tx1"/>
                </a:solidFill>
                <a:prstDash val="solid"/>
                <a:round/>
                <a:headEnd type="none" w="med" len="med"/>
                <a:tailEnd type="none" w="med" len="med"/>
              </a:ln>
            </p:spPr>
          </p:cxnSp>
          <p:cxnSp>
            <p:nvCxnSpPr>
              <p:cNvPr id="61" name="Google Shape;5425;p84">
                <a:extLst>
                  <a:ext uri="{FF2B5EF4-FFF2-40B4-BE49-F238E27FC236}">
                    <a16:creationId xmlns:a16="http://schemas.microsoft.com/office/drawing/2014/main" id="{C500D5BA-A624-958F-AC16-8729E00257D0}"/>
                  </a:ext>
                </a:extLst>
              </p:cNvPr>
              <p:cNvCxnSpPr/>
              <p:nvPr/>
            </p:nvCxnSpPr>
            <p:spPr>
              <a:xfrm>
                <a:off x="5225150" y="2962250"/>
                <a:ext cx="998700" cy="0"/>
              </a:xfrm>
              <a:prstGeom prst="straightConnector1">
                <a:avLst/>
              </a:prstGeom>
              <a:grpFill/>
              <a:ln w="19050" cap="flat" cmpd="sng">
                <a:solidFill>
                  <a:schemeClr val="tx1"/>
                </a:solidFill>
                <a:prstDash val="solid"/>
                <a:round/>
                <a:headEnd type="none" w="med" len="med"/>
                <a:tailEnd type="oval" w="med" len="med"/>
              </a:ln>
            </p:spPr>
          </p:cxnSp>
        </p:grpSp>
      </p:grpSp>
      <p:grpSp>
        <p:nvGrpSpPr>
          <p:cNvPr id="64" name="Google Shape;5442;p84">
            <a:extLst>
              <a:ext uri="{FF2B5EF4-FFF2-40B4-BE49-F238E27FC236}">
                <a16:creationId xmlns:a16="http://schemas.microsoft.com/office/drawing/2014/main" id="{06B915D4-954D-C30C-A59A-F6FF4FD46BC5}"/>
              </a:ext>
            </a:extLst>
          </p:cNvPr>
          <p:cNvGrpSpPr/>
          <p:nvPr/>
        </p:nvGrpSpPr>
        <p:grpSpPr>
          <a:xfrm>
            <a:off x="6417424" y="1984276"/>
            <a:ext cx="1430711" cy="751237"/>
            <a:chOff x="5159450" y="1919950"/>
            <a:chExt cx="1541050" cy="862500"/>
          </a:xfrm>
          <a:solidFill>
            <a:schemeClr val="tx1"/>
          </a:solidFill>
        </p:grpSpPr>
        <p:sp>
          <p:nvSpPr>
            <p:cNvPr id="65" name="Google Shape;5443;p84">
              <a:extLst>
                <a:ext uri="{FF2B5EF4-FFF2-40B4-BE49-F238E27FC236}">
                  <a16:creationId xmlns:a16="http://schemas.microsoft.com/office/drawing/2014/main" id="{8A7EFFAD-98B9-2C6D-59AF-D0EA1ABBAF3F}"/>
                </a:ext>
              </a:extLst>
            </p:cNvPr>
            <p:cNvSpPr/>
            <p:nvPr/>
          </p:nvSpPr>
          <p:spPr>
            <a:xfrm>
              <a:off x="5216414" y="2060033"/>
              <a:ext cx="1436820" cy="600250"/>
            </a:xfrm>
            <a:custGeom>
              <a:avLst/>
              <a:gdLst/>
              <a:ahLst/>
              <a:cxnLst/>
              <a:rect l="l" t="t" r="r" b="b"/>
              <a:pathLst>
                <a:path w="165771" h="69253" extrusionOk="0">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grpFill/>
            <a:ln w="19050" cap="flat" cmpd="sng">
              <a:solidFill>
                <a:schemeClr val="tx1"/>
              </a:solidFill>
              <a:prstDash val="solid"/>
              <a:round/>
              <a:headEnd type="oval" w="med" len="med"/>
              <a:tailEnd type="oval" w="med" len="med"/>
            </a:ln>
          </p:spPr>
        </p:sp>
        <p:grpSp>
          <p:nvGrpSpPr>
            <p:cNvPr id="66" name="Google Shape;5444;p84">
              <a:extLst>
                <a:ext uri="{FF2B5EF4-FFF2-40B4-BE49-F238E27FC236}">
                  <a16:creationId xmlns:a16="http://schemas.microsoft.com/office/drawing/2014/main" id="{8513A1D5-F0C8-B62C-3F13-E717C10E151F}"/>
                </a:ext>
              </a:extLst>
            </p:cNvPr>
            <p:cNvGrpSpPr/>
            <p:nvPr/>
          </p:nvGrpSpPr>
          <p:grpSpPr>
            <a:xfrm>
              <a:off x="5159450" y="1919950"/>
              <a:ext cx="1541050" cy="862500"/>
              <a:chOff x="5159450" y="1919950"/>
              <a:chExt cx="1541050" cy="862500"/>
            </a:xfrm>
            <a:grpFill/>
          </p:grpSpPr>
          <p:cxnSp>
            <p:nvCxnSpPr>
              <p:cNvPr id="67" name="Google Shape;5445;p84">
                <a:extLst>
                  <a:ext uri="{FF2B5EF4-FFF2-40B4-BE49-F238E27FC236}">
                    <a16:creationId xmlns:a16="http://schemas.microsoft.com/office/drawing/2014/main" id="{22E2F9A2-0D45-8CE6-CD97-4E4A02051FDA}"/>
                  </a:ext>
                </a:extLst>
              </p:cNvPr>
              <p:cNvCxnSpPr/>
              <p:nvPr/>
            </p:nvCxnSpPr>
            <p:spPr>
              <a:xfrm>
                <a:off x="5159450" y="1919950"/>
                <a:ext cx="0" cy="862500"/>
              </a:xfrm>
              <a:prstGeom prst="straightConnector1">
                <a:avLst/>
              </a:prstGeom>
              <a:grpFill/>
              <a:ln w="9525" cap="flat" cmpd="sng">
                <a:solidFill>
                  <a:schemeClr val="tx1"/>
                </a:solidFill>
                <a:prstDash val="solid"/>
                <a:round/>
                <a:headEnd type="none" w="med" len="med"/>
                <a:tailEnd type="none" w="med" len="med"/>
              </a:ln>
            </p:spPr>
          </p:cxnSp>
          <p:cxnSp>
            <p:nvCxnSpPr>
              <p:cNvPr id="68" name="Google Shape;5446;p84">
                <a:extLst>
                  <a:ext uri="{FF2B5EF4-FFF2-40B4-BE49-F238E27FC236}">
                    <a16:creationId xmlns:a16="http://schemas.microsoft.com/office/drawing/2014/main" id="{1D461673-2D85-B571-3724-7F766FB3EF43}"/>
                  </a:ext>
                </a:extLst>
              </p:cNvPr>
              <p:cNvCxnSpPr/>
              <p:nvPr/>
            </p:nvCxnSpPr>
            <p:spPr>
              <a:xfrm>
                <a:off x="5161200" y="2778975"/>
                <a:ext cx="1539300" cy="0"/>
              </a:xfrm>
              <a:prstGeom prst="straightConnector1">
                <a:avLst/>
              </a:prstGeom>
              <a:grpFill/>
              <a:ln w="9525" cap="flat" cmpd="sng">
                <a:solidFill>
                  <a:schemeClr val="tx1"/>
                </a:solidFill>
                <a:prstDash val="solid"/>
                <a:round/>
                <a:headEnd type="none" w="med" len="med"/>
                <a:tailEnd type="none" w="med" len="med"/>
              </a:ln>
            </p:spPr>
          </p:cxnSp>
        </p:grpSp>
      </p:grpSp>
    </p:spTree>
    <p:extLst>
      <p:ext uri="{BB962C8B-B14F-4D97-AF65-F5344CB8AC3E}">
        <p14:creationId xmlns:p14="http://schemas.microsoft.com/office/powerpoint/2010/main" val="3986992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Is Cred Planning to Launch Co-Branded Credit Cards?">
            <a:extLst>
              <a:ext uri="{FF2B5EF4-FFF2-40B4-BE49-F238E27FC236}">
                <a16:creationId xmlns:a16="http://schemas.microsoft.com/office/drawing/2014/main" id="{B7226144-28DF-39A9-F581-0D041CCB5062}"/>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ABBC6DA3-E9F1-EB92-6430-44623A22EF2F}"/>
              </a:ext>
            </a:extLst>
          </p:cNvPr>
          <p:cNvPicPr>
            <a:picLocks noChangeAspect="1"/>
          </p:cNvPicPr>
          <p:nvPr/>
        </p:nvPicPr>
        <p:blipFill>
          <a:blip r:embed="rId2"/>
          <a:stretch>
            <a:fillRect/>
          </a:stretch>
        </p:blipFill>
        <p:spPr>
          <a:xfrm>
            <a:off x="0" y="449853"/>
            <a:ext cx="9144000" cy="4243793"/>
          </a:xfrm>
          <a:prstGeom prst="rect">
            <a:avLst/>
          </a:prstGeom>
        </p:spPr>
      </p:pic>
    </p:spTree>
    <p:extLst>
      <p:ext uri="{BB962C8B-B14F-4D97-AF65-F5344CB8AC3E}">
        <p14:creationId xmlns:p14="http://schemas.microsoft.com/office/powerpoint/2010/main" val="3098742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84742-EC1E-10EE-9428-F9B8228D34E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EE27615-C214-416C-2B7D-8A775BFA78C5}"/>
              </a:ext>
            </a:extLst>
          </p:cNvPr>
          <p:cNvSpPr txBox="1"/>
          <p:nvPr/>
        </p:nvSpPr>
        <p:spPr>
          <a:xfrm>
            <a:off x="664143" y="503986"/>
            <a:ext cx="5736657" cy="3046988"/>
          </a:xfrm>
          <a:prstGeom prst="rect">
            <a:avLst/>
          </a:prstGeom>
          <a:blipFill dpi="0" rotWithShape="1">
            <a:blip r:embed="rId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a:blipFill>
        </p:spPr>
        <p:txBody>
          <a:bodyPr wrap="square" rtlCol="0">
            <a:spAutoFit/>
          </a:bodyPr>
          <a:lstStyle/>
          <a:p>
            <a:r>
              <a:rPr lang="en-US" sz="1600" b="1" dirty="0"/>
              <a:t>3. Partnerships &amp; International Expansion</a:t>
            </a:r>
          </a:p>
          <a:p>
            <a:pPr marL="285750" indent="-285750">
              <a:buFont typeface="Arial" panose="020B0604020202020204" pitchFamily="34" charset="0"/>
              <a:buChar char="•"/>
            </a:pPr>
            <a:r>
              <a:rPr lang="en-US" sz="1600" b="1" dirty="0"/>
              <a:t>Where growth could come from next:</a:t>
            </a:r>
            <a:endParaRPr lang="en-US" sz="1600" dirty="0"/>
          </a:p>
          <a:p>
            <a:pPr marL="285750" indent="-285750">
              <a:buFont typeface="Arial" panose="020B0604020202020204" pitchFamily="34" charset="0"/>
              <a:buChar char="•"/>
            </a:pPr>
            <a:r>
              <a:rPr lang="en-US" sz="1600" dirty="0"/>
              <a:t>CRED can </a:t>
            </a:r>
            <a:r>
              <a:rPr lang="en-US" sz="1600" b="1" dirty="0"/>
              <a:t>partner with e-commerce platforms, lifestyle brands, and travel services</a:t>
            </a:r>
            <a:r>
              <a:rPr lang="en-US" sz="1600" dirty="0"/>
              <a:t> to build a premium rewards and payments ecosystem.</a:t>
            </a:r>
          </a:p>
          <a:p>
            <a:pPr marL="285750" indent="-285750">
              <a:buFont typeface="Arial" panose="020B0604020202020204" pitchFamily="34" charset="0"/>
              <a:buChar char="•"/>
            </a:pPr>
            <a:r>
              <a:rPr lang="en-US" sz="1600" dirty="0"/>
              <a:t>With India’s fintech market getting crowded, expanding into </a:t>
            </a:r>
            <a:r>
              <a:rPr lang="en-US" sz="1600" b="1" dirty="0"/>
              <a:t>Southeast Asia, the Middle East, or NRI markets</a:t>
            </a:r>
            <a:r>
              <a:rPr lang="en-US" sz="1600" dirty="0"/>
              <a:t> could open up similar affluent segments.</a:t>
            </a:r>
          </a:p>
          <a:p>
            <a:pPr marL="285750" indent="-285750">
              <a:buFont typeface="Arial" panose="020B0604020202020204" pitchFamily="34" charset="0"/>
              <a:buChar char="•"/>
            </a:pPr>
            <a:r>
              <a:rPr lang="en-US" sz="1600" dirty="0"/>
              <a:t>Strategic partnerships could also involve </a:t>
            </a:r>
            <a:r>
              <a:rPr lang="en-US" sz="1600" b="1" dirty="0" err="1"/>
              <a:t>wealthtech</a:t>
            </a:r>
            <a:r>
              <a:rPr lang="en-US" sz="1600" b="1" dirty="0"/>
              <a:t>, </a:t>
            </a:r>
            <a:r>
              <a:rPr lang="en-US" sz="1600" b="1" dirty="0" err="1"/>
              <a:t>insurtech</a:t>
            </a:r>
            <a:r>
              <a:rPr lang="en-US" sz="1600" b="1" dirty="0"/>
              <a:t>, or neobanks</a:t>
            </a:r>
            <a:r>
              <a:rPr lang="en-US" sz="1600" dirty="0"/>
              <a:t> — creating a network effect across financial services.</a:t>
            </a:r>
          </a:p>
          <a:p>
            <a:endParaRPr lang="en-IN" sz="1600" dirty="0">
              <a:latin typeface="Aptos Display" panose="020B0004020202020204" pitchFamily="34" charset="0"/>
            </a:endParaRPr>
          </a:p>
        </p:txBody>
      </p:sp>
      <p:pic>
        <p:nvPicPr>
          <p:cNvPr id="7" name="Picture 6">
            <a:extLst>
              <a:ext uri="{FF2B5EF4-FFF2-40B4-BE49-F238E27FC236}">
                <a16:creationId xmlns:a16="http://schemas.microsoft.com/office/drawing/2014/main" id="{3CAB30C0-C787-1DA5-52DC-575D131E63E3}"/>
              </a:ext>
            </a:extLst>
          </p:cNvPr>
          <p:cNvPicPr>
            <a:picLocks noChangeAspect="1"/>
          </p:cNvPicPr>
          <p:nvPr/>
        </p:nvPicPr>
        <p:blipFill>
          <a:blip r:embed="rId3"/>
          <a:srcRect t="12112" b="18825"/>
          <a:stretch>
            <a:fillRect/>
          </a:stretch>
        </p:blipFill>
        <p:spPr>
          <a:xfrm>
            <a:off x="1414913" y="3410342"/>
            <a:ext cx="5728621" cy="1733158"/>
          </a:xfrm>
          <a:prstGeom prst="rect">
            <a:avLst/>
          </a:prstGeom>
        </p:spPr>
      </p:pic>
      <p:grpSp>
        <p:nvGrpSpPr>
          <p:cNvPr id="8" name="Google Shape;3975;p80">
            <a:extLst>
              <a:ext uri="{FF2B5EF4-FFF2-40B4-BE49-F238E27FC236}">
                <a16:creationId xmlns:a16="http://schemas.microsoft.com/office/drawing/2014/main" id="{36A3D5CD-4B85-CEF5-EF09-FE93ABE3BC9E}"/>
              </a:ext>
            </a:extLst>
          </p:cNvPr>
          <p:cNvGrpSpPr/>
          <p:nvPr/>
        </p:nvGrpSpPr>
        <p:grpSpPr>
          <a:xfrm>
            <a:off x="6207473" y="1719421"/>
            <a:ext cx="941905" cy="838592"/>
            <a:chOff x="6652154" y="3716623"/>
            <a:chExt cx="560631" cy="511352"/>
          </a:xfrm>
        </p:grpSpPr>
        <p:sp>
          <p:nvSpPr>
            <p:cNvPr id="9" name="Google Shape;3976;p80">
              <a:extLst>
                <a:ext uri="{FF2B5EF4-FFF2-40B4-BE49-F238E27FC236}">
                  <a16:creationId xmlns:a16="http://schemas.microsoft.com/office/drawing/2014/main" id="{4C6C5506-6CA9-FC9B-853E-FED236961B07}"/>
                </a:ext>
              </a:extLst>
            </p:cNvPr>
            <p:cNvSpPr/>
            <p:nvPr/>
          </p:nvSpPr>
          <p:spPr>
            <a:xfrm>
              <a:off x="6652154" y="3716623"/>
              <a:ext cx="560631" cy="511352"/>
            </a:xfrm>
            <a:custGeom>
              <a:avLst/>
              <a:gdLst/>
              <a:ahLst/>
              <a:cxnLst/>
              <a:rect l="l" t="t" r="r" b="b"/>
              <a:pathLst>
                <a:path w="97163" h="88661" extrusionOk="0">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3977;p80">
              <a:extLst>
                <a:ext uri="{FF2B5EF4-FFF2-40B4-BE49-F238E27FC236}">
                  <a16:creationId xmlns:a16="http://schemas.microsoft.com/office/drawing/2014/main" id="{5649313F-CF59-3F6F-9A80-EE41743BD616}"/>
                </a:ext>
              </a:extLst>
            </p:cNvPr>
            <p:cNvGrpSpPr/>
            <p:nvPr/>
          </p:nvGrpSpPr>
          <p:grpSpPr>
            <a:xfrm>
              <a:off x="6669657" y="3716715"/>
              <a:ext cx="466779" cy="464290"/>
              <a:chOff x="6669657" y="3716715"/>
              <a:chExt cx="466779" cy="464290"/>
            </a:xfrm>
          </p:grpSpPr>
          <p:sp>
            <p:nvSpPr>
              <p:cNvPr id="11" name="Google Shape;3978;p80">
                <a:extLst>
                  <a:ext uri="{FF2B5EF4-FFF2-40B4-BE49-F238E27FC236}">
                    <a16:creationId xmlns:a16="http://schemas.microsoft.com/office/drawing/2014/main" id="{92EC3BF2-0E9C-BCA1-CE3D-E15951F44DBC}"/>
                  </a:ext>
                </a:extLst>
              </p:cNvPr>
              <p:cNvSpPr/>
              <p:nvPr/>
            </p:nvSpPr>
            <p:spPr>
              <a:xfrm>
                <a:off x="6669657" y="3716715"/>
                <a:ext cx="386382" cy="464290"/>
              </a:xfrm>
              <a:custGeom>
                <a:avLst/>
                <a:gdLst/>
                <a:ahLst/>
                <a:cxnLst/>
                <a:rect l="l" t="t" r="r" b="b"/>
                <a:pathLst>
                  <a:path w="66964" h="80501" extrusionOk="0">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979;p80">
                <a:extLst>
                  <a:ext uri="{FF2B5EF4-FFF2-40B4-BE49-F238E27FC236}">
                    <a16:creationId xmlns:a16="http://schemas.microsoft.com/office/drawing/2014/main" id="{DC1D6F72-A456-EE6B-6FFB-0189A2FE687E}"/>
                  </a:ext>
                </a:extLst>
              </p:cNvPr>
              <p:cNvSpPr/>
              <p:nvPr/>
            </p:nvSpPr>
            <p:spPr>
              <a:xfrm>
                <a:off x="7010819" y="4061082"/>
                <a:ext cx="117645" cy="102137"/>
              </a:xfrm>
              <a:custGeom>
                <a:avLst/>
                <a:gdLst/>
                <a:ahLst/>
                <a:cxnLst/>
                <a:rect l="l" t="t" r="r" b="b"/>
                <a:pathLst>
                  <a:path w="20389" h="17709" extrusionOk="0">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980;p80">
                <a:extLst>
                  <a:ext uri="{FF2B5EF4-FFF2-40B4-BE49-F238E27FC236}">
                    <a16:creationId xmlns:a16="http://schemas.microsoft.com/office/drawing/2014/main" id="{A3D8082C-5D83-6970-ADFD-B0F9A053FDF7}"/>
                  </a:ext>
                </a:extLst>
              </p:cNvPr>
              <p:cNvSpPr/>
              <p:nvPr/>
            </p:nvSpPr>
            <p:spPr>
              <a:xfrm>
                <a:off x="6995058" y="4000087"/>
                <a:ext cx="41059" cy="51071"/>
              </a:xfrm>
              <a:custGeom>
                <a:avLst/>
                <a:gdLst/>
                <a:ahLst/>
                <a:cxnLst/>
                <a:rect l="l" t="t" r="r" b="b"/>
                <a:pathLst>
                  <a:path w="7116" h="8855" extrusionOk="0">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981;p80">
                <a:extLst>
                  <a:ext uri="{FF2B5EF4-FFF2-40B4-BE49-F238E27FC236}">
                    <a16:creationId xmlns:a16="http://schemas.microsoft.com/office/drawing/2014/main" id="{A0BFFBAC-8312-45C0-BBF5-30983D0901B6}"/>
                  </a:ext>
                </a:extLst>
              </p:cNvPr>
              <p:cNvSpPr/>
              <p:nvPr/>
            </p:nvSpPr>
            <p:spPr>
              <a:xfrm>
                <a:off x="7078892" y="4018504"/>
                <a:ext cx="57544" cy="36030"/>
              </a:xfrm>
              <a:custGeom>
                <a:avLst/>
                <a:gdLst/>
                <a:ahLst/>
                <a:cxnLst/>
                <a:rect l="l" t="t" r="r" b="b"/>
                <a:pathLst>
                  <a:path w="9973" h="6247" extrusionOk="0">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982;p80">
                <a:extLst>
                  <a:ext uri="{FF2B5EF4-FFF2-40B4-BE49-F238E27FC236}">
                    <a16:creationId xmlns:a16="http://schemas.microsoft.com/office/drawing/2014/main" id="{102FADFE-F0A0-1462-E27B-1FBE4C690F96}"/>
                  </a:ext>
                </a:extLst>
              </p:cNvPr>
              <p:cNvSpPr/>
              <p:nvPr/>
            </p:nvSpPr>
            <p:spPr>
              <a:xfrm>
                <a:off x="7051663" y="3806456"/>
                <a:ext cx="38503" cy="70819"/>
              </a:xfrm>
              <a:custGeom>
                <a:avLst/>
                <a:gdLst/>
                <a:ahLst/>
                <a:cxnLst/>
                <a:rect l="l" t="t" r="r" b="b"/>
                <a:pathLst>
                  <a:path w="6673" h="12279" extrusionOk="0">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983;p80">
                <a:extLst>
                  <a:ext uri="{FF2B5EF4-FFF2-40B4-BE49-F238E27FC236}">
                    <a16:creationId xmlns:a16="http://schemas.microsoft.com/office/drawing/2014/main" id="{DBFCF814-EDB5-B95C-0295-0FAE96A79FE6}"/>
                  </a:ext>
                </a:extLst>
              </p:cNvPr>
              <p:cNvSpPr/>
              <p:nvPr/>
            </p:nvSpPr>
            <p:spPr>
              <a:xfrm>
                <a:off x="6984824" y="4061618"/>
                <a:ext cx="42081" cy="8893"/>
              </a:xfrm>
              <a:custGeom>
                <a:avLst/>
                <a:gdLst/>
                <a:ahLst/>
                <a:cxnLst/>
                <a:rect l="l" t="t" r="r" b="b"/>
                <a:pathLst>
                  <a:path w="7293" h="1542" extrusionOk="0">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984;p80">
                <a:extLst>
                  <a:ext uri="{FF2B5EF4-FFF2-40B4-BE49-F238E27FC236}">
                    <a16:creationId xmlns:a16="http://schemas.microsoft.com/office/drawing/2014/main" id="{9796126C-B648-4CEC-7F9C-5AF542524C1D}"/>
                  </a:ext>
                </a:extLst>
              </p:cNvPr>
              <p:cNvSpPr/>
              <p:nvPr/>
            </p:nvSpPr>
            <p:spPr>
              <a:xfrm>
                <a:off x="7035181" y="4030478"/>
                <a:ext cx="15469" cy="21703"/>
              </a:xfrm>
              <a:custGeom>
                <a:avLst/>
                <a:gdLst/>
                <a:ahLst/>
                <a:cxnLst/>
                <a:rect l="l" t="t" r="r" b="b"/>
                <a:pathLst>
                  <a:path w="2681" h="3763" extrusionOk="0">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985;p80">
                <a:extLst>
                  <a:ext uri="{FF2B5EF4-FFF2-40B4-BE49-F238E27FC236}">
                    <a16:creationId xmlns:a16="http://schemas.microsoft.com/office/drawing/2014/main" id="{4654F6CA-E7ED-F4DB-1503-BB24B846E4CA}"/>
                  </a:ext>
                </a:extLst>
              </p:cNvPr>
              <p:cNvSpPr/>
              <p:nvPr/>
            </p:nvSpPr>
            <p:spPr>
              <a:xfrm>
                <a:off x="7045011" y="3983609"/>
                <a:ext cx="19047" cy="18121"/>
              </a:xfrm>
              <a:custGeom>
                <a:avLst/>
                <a:gdLst/>
                <a:ahLst/>
                <a:cxnLst/>
                <a:rect l="l" t="t" r="r" b="b"/>
                <a:pathLst>
                  <a:path w="3301" h="3142" extrusionOk="0">
                    <a:moveTo>
                      <a:pt x="3301" y="0"/>
                    </a:moveTo>
                    <a:lnTo>
                      <a:pt x="0" y="1455"/>
                    </a:lnTo>
                    <a:lnTo>
                      <a:pt x="550" y="2520"/>
                    </a:lnTo>
                    <a:lnTo>
                      <a:pt x="1154" y="1793"/>
                    </a:lnTo>
                    <a:lnTo>
                      <a:pt x="2804" y="3141"/>
                    </a:lnTo>
                    <a:lnTo>
                      <a:pt x="3301"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986;p80">
                <a:extLst>
                  <a:ext uri="{FF2B5EF4-FFF2-40B4-BE49-F238E27FC236}">
                    <a16:creationId xmlns:a16="http://schemas.microsoft.com/office/drawing/2014/main" id="{225EF9E3-B40D-32C3-9305-0C133B3213AF}"/>
                  </a:ext>
                </a:extLst>
              </p:cNvPr>
              <p:cNvSpPr/>
              <p:nvPr/>
            </p:nvSpPr>
            <p:spPr>
              <a:xfrm>
                <a:off x="7034362" y="3943182"/>
                <a:ext cx="9734" cy="24570"/>
              </a:xfrm>
              <a:custGeom>
                <a:avLst/>
                <a:gdLst/>
                <a:ahLst/>
                <a:cxnLst/>
                <a:rect l="l" t="t" r="r" b="b"/>
                <a:pathLst>
                  <a:path w="1687" h="4260" extrusionOk="0">
                    <a:moveTo>
                      <a:pt x="249" y="1"/>
                    </a:moveTo>
                    <a:cubicBezTo>
                      <a:pt x="1" y="2627"/>
                      <a:pt x="1" y="2627"/>
                      <a:pt x="977" y="4259"/>
                    </a:cubicBezTo>
                    <a:cubicBezTo>
                      <a:pt x="1687" y="1261"/>
                      <a:pt x="1687" y="1261"/>
                      <a:pt x="249"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987;p80">
                <a:extLst>
                  <a:ext uri="{FF2B5EF4-FFF2-40B4-BE49-F238E27FC236}">
                    <a16:creationId xmlns:a16="http://schemas.microsoft.com/office/drawing/2014/main" id="{18B5BBDD-FE38-C91B-4E8C-27C5381639A5}"/>
                  </a:ext>
                </a:extLst>
              </p:cNvPr>
              <p:cNvSpPr/>
              <p:nvPr/>
            </p:nvSpPr>
            <p:spPr>
              <a:xfrm>
                <a:off x="6724214" y="4015234"/>
                <a:ext cx="1131" cy="513"/>
              </a:xfrm>
              <a:custGeom>
                <a:avLst/>
                <a:gdLst/>
                <a:ahLst/>
                <a:cxnLst/>
                <a:rect l="l" t="t" r="r" b="b"/>
                <a:pathLst>
                  <a:path w="196" h="89" extrusionOk="0">
                    <a:moveTo>
                      <a:pt x="196" y="0"/>
                    </a:moveTo>
                    <a:lnTo>
                      <a:pt x="1" y="89"/>
                    </a:lnTo>
                    <a:lnTo>
                      <a:pt x="1" y="89"/>
                    </a:lnTo>
                    <a:lnTo>
                      <a:pt x="196" y="18"/>
                    </a:lnTo>
                    <a:lnTo>
                      <a:pt x="196"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988;p80">
                <a:extLst>
                  <a:ext uri="{FF2B5EF4-FFF2-40B4-BE49-F238E27FC236}">
                    <a16:creationId xmlns:a16="http://schemas.microsoft.com/office/drawing/2014/main" id="{0B2486A4-7C41-2EF5-9CF3-D8CE412B927C}"/>
                  </a:ext>
                </a:extLst>
              </p:cNvPr>
              <p:cNvSpPr/>
              <p:nvPr/>
            </p:nvSpPr>
            <p:spPr>
              <a:xfrm>
                <a:off x="7071623" y="3755083"/>
                <a:ext cx="16589" cy="16380"/>
              </a:xfrm>
              <a:custGeom>
                <a:avLst/>
                <a:gdLst/>
                <a:ahLst/>
                <a:cxnLst/>
                <a:rect l="l" t="t" r="r" b="b"/>
                <a:pathLst>
                  <a:path w="2875" h="2840" extrusionOk="0">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989;p80">
                <a:extLst>
                  <a:ext uri="{FF2B5EF4-FFF2-40B4-BE49-F238E27FC236}">
                    <a16:creationId xmlns:a16="http://schemas.microsoft.com/office/drawing/2014/main" id="{D29227F7-331C-C288-57C0-032311146DEB}"/>
                  </a:ext>
                </a:extLst>
              </p:cNvPr>
              <p:cNvSpPr/>
              <p:nvPr/>
            </p:nvSpPr>
            <p:spPr>
              <a:xfrm>
                <a:off x="6722575" y="4015741"/>
                <a:ext cx="1541" cy="727"/>
              </a:xfrm>
              <a:custGeom>
                <a:avLst/>
                <a:gdLst/>
                <a:ahLst/>
                <a:cxnLst/>
                <a:rect l="l" t="t" r="r" b="b"/>
                <a:pathLst>
                  <a:path w="267" h="126" extrusionOk="0">
                    <a:moveTo>
                      <a:pt x="267" y="1"/>
                    </a:moveTo>
                    <a:cubicBezTo>
                      <a:pt x="178" y="36"/>
                      <a:pt x="89" y="72"/>
                      <a:pt x="1" y="125"/>
                    </a:cubicBezTo>
                    <a:cubicBezTo>
                      <a:pt x="107" y="90"/>
                      <a:pt x="178" y="36"/>
                      <a:pt x="26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990;p80">
                <a:extLst>
                  <a:ext uri="{FF2B5EF4-FFF2-40B4-BE49-F238E27FC236}">
                    <a16:creationId xmlns:a16="http://schemas.microsoft.com/office/drawing/2014/main" id="{146F4C4A-5CC9-88B7-D714-AE94A5F722BF}"/>
                  </a:ext>
                </a:extLst>
              </p:cNvPr>
              <p:cNvSpPr/>
              <p:nvPr/>
            </p:nvSpPr>
            <p:spPr>
              <a:xfrm>
                <a:off x="6772321" y="4116142"/>
                <a:ext cx="30927" cy="46769"/>
              </a:xfrm>
              <a:custGeom>
                <a:avLst/>
                <a:gdLst/>
                <a:ahLst/>
                <a:cxnLst/>
                <a:rect l="l" t="t" r="r" b="b"/>
                <a:pathLst>
                  <a:path w="5360" h="8109" extrusionOk="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 name="Google Shape;5932;p85">
            <a:extLst>
              <a:ext uri="{FF2B5EF4-FFF2-40B4-BE49-F238E27FC236}">
                <a16:creationId xmlns:a16="http://schemas.microsoft.com/office/drawing/2014/main" id="{A114BED8-F454-F7CF-D25F-EA87D4699DFD}"/>
              </a:ext>
            </a:extLst>
          </p:cNvPr>
          <p:cNvGrpSpPr/>
          <p:nvPr/>
        </p:nvGrpSpPr>
        <p:grpSpPr>
          <a:xfrm rot="1879346">
            <a:off x="7157541" y="1217866"/>
            <a:ext cx="744504" cy="723792"/>
            <a:chOff x="898875" y="4399275"/>
            <a:chExt cx="483700" cy="481850"/>
          </a:xfrm>
        </p:grpSpPr>
        <p:sp>
          <p:nvSpPr>
            <p:cNvPr id="25" name="Google Shape;5933;p85">
              <a:extLst>
                <a:ext uri="{FF2B5EF4-FFF2-40B4-BE49-F238E27FC236}">
                  <a16:creationId xmlns:a16="http://schemas.microsoft.com/office/drawing/2014/main" id="{4556BB5A-3C75-DA49-8DB8-945BF637852E}"/>
                </a:ext>
              </a:extLst>
            </p:cNvPr>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6" name="Google Shape;5934;p85">
              <a:extLst>
                <a:ext uri="{FF2B5EF4-FFF2-40B4-BE49-F238E27FC236}">
                  <a16:creationId xmlns:a16="http://schemas.microsoft.com/office/drawing/2014/main" id="{4E49B3F2-5DB2-859D-DC91-1DD2354DBFBF}"/>
                </a:ext>
              </a:extLst>
            </p:cNvPr>
            <p:cNvSpPr/>
            <p:nvPr/>
          </p:nvSpPr>
          <p:spPr>
            <a:xfrm>
              <a:off x="1138025" y="4763350"/>
              <a:ext cx="25" cy="25"/>
            </a:xfrm>
            <a:custGeom>
              <a:avLst/>
              <a:gdLst/>
              <a:ahLst/>
              <a:cxnLst/>
              <a:rect l="l" t="t" r="r" b="b"/>
              <a:pathLst>
                <a:path w="1" h="1" extrusionOk="0">
                  <a:moveTo>
                    <a:pt x="1" y="0"/>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7" name="Google Shape;5935;p85">
              <a:extLst>
                <a:ext uri="{FF2B5EF4-FFF2-40B4-BE49-F238E27FC236}">
                  <a16:creationId xmlns:a16="http://schemas.microsoft.com/office/drawing/2014/main" id="{FA62E00D-E6F9-CE8C-D8A4-932F7BEA7BD7}"/>
                </a:ext>
              </a:extLst>
            </p:cNvPr>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8" name="Google Shape;5936;p85">
              <a:extLst>
                <a:ext uri="{FF2B5EF4-FFF2-40B4-BE49-F238E27FC236}">
                  <a16:creationId xmlns:a16="http://schemas.microsoft.com/office/drawing/2014/main" id="{360E69DD-95A5-6B60-C740-B440297DD305}"/>
                </a:ext>
              </a:extLst>
            </p:cNvPr>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9" name="Google Shape;5937;p85">
              <a:extLst>
                <a:ext uri="{FF2B5EF4-FFF2-40B4-BE49-F238E27FC236}">
                  <a16:creationId xmlns:a16="http://schemas.microsoft.com/office/drawing/2014/main" id="{9ED8AE72-A407-3527-2CEC-D96E10429E6B}"/>
                </a:ext>
              </a:extLst>
            </p:cNvPr>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0" name="Google Shape;5938;p85">
              <a:extLst>
                <a:ext uri="{FF2B5EF4-FFF2-40B4-BE49-F238E27FC236}">
                  <a16:creationId xmlns:a16="http://schemas.microsoft.com/office/drawing/2014/main" id="{345DEB12-5845-EEF6-19CE-DCD019C08B54}"/>
                </a:ext>
              </a:extLst>
            </p:cNvPr>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1" name="Google Shape;5939;p85">
              <a:extLst>
                <a:ext uri="{FF2B5EF4-FFF2-40B4-BE49-F238E27FC236}">
                  <a16:creationId xmlns:a16="http://schemas.microsoft.com/office/drawing/2014/main" id="{086411FE-D2E7-C8FD-FBAE-45DB3BD3492E}"/>
                </a:ext>
              </a:extLst>
            </p:cNvPr>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2" name="Google Shape;5940;p85">
              <a:extLst>
                <a:ext uri="{FF2B5EF4-FFF2-40B4-BE49-F238E27FC236}">
                  <a16:creationId xmlns:a16="http://schemas.microsoft.com/office/drawing/2014/main" id="{6F760CDD-841A-1BAC-12C1-D9B90ED9E0E0}"/>
                </a:ext>
              </a:extLst>
            </p:cNvPr>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33" name="Google Shape;3963;p80">
            <a:extLst>
              <a:ext uri="{FF2B5EF4-FFF2-40B4-BE49-F238E27FC236}">
                <a16:creationId xmlns:a16="http://schemas.microsoft.com/office/drawing/2014/main" id="{39BD3FCB-AC7C-FB53-C9D4-115AE73392E7}"/>
              </a:ext>
            </a:extLst>
          </p:cNvPr>
          <p:cNvGrpSpPr/>
          <p:nvPr/>
        </p:nvGrpSpPr>
        <p:grpSpPr>
          <a:xfrm>
            <a:off x="7835716" y="1685409"/>
            <a:ext cx="941905" cy="838592"/>
            <a:chOff x="6644304" y="3073628"/>
            <a:chExt cx="576302" cy="511871"/>
          </a:xfrm>
        </p:grpSpPr>
        <p:sp>
          <p:nvSpPr>
            <p:cNvPr id="34" name="Google Shape;3964;p80">
              <a:extLst>
                <a:ext uri="{FF2B5EF4-FFF2-40B4-BE49-F238E27FC236}">
                  <a16:creationId xmlns:a16="http://schemas.microsoft.com/office/drawing/2014/main" id="{402A6A48-B4D2-D6EC-7848-CB517ED5226A}"/>
                </a:ext>
              </a:extLst>
            </p:cNvPr>
            <p:cNvSpPr/>
            <p:nvPr/>
          </p:nvSpPr>
          <p:spPr>
            <a:xfrm>
              <a:off x="6644304" y="3073628"/>
              <a:ext cx="576302" cy="511871"/>
            </a:xfrm>
            <a:custGeom>
              <a:avLst/>
              <a:gdLst/>
              <a:ahLst/>
              <a:cxnLst/>
              <a:rect l="l" t="t" r="r" b="b"/>
              <a:pathLst>
                <a:path w="99879" h="88751" extrusionOk="0">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965;p80">
              <a:extLst>
                <a:ext uri="{FF2B5EF4-FFF2-40B4-BE49-F238E27FC236}">
                  <a16:creationId xmlns:a16="http://schemas.microsoft.com/office/drawing/2014/main" id="{AAE09BF7-F397-99E9-9258-09A5DFF9AA47}"/>
                </a:ext>
              </a:extLst>
            </p:cNvPr>
            <p:cNvGrpSpPr/>
            <p:nvPr/>
          </p:nvGrpSpPr>
          <p:grpSpPr>
            <a:xfrm>
              <a:off x="6712169" y="3085440"/>
              <a:ext cx="481622" cy="494913"/>
              <a:chOff x="6712169" y="3085440"/>
              <a:chExt cx="481622" cy="494913"/>
            </a:xfrm>
          </p:grpSpPr>
          <p:sp>
            <p:nvSpPr>
              <p:cNvPr id="70" name="Google Shape;3966;p80">
                <a:extLst>
                  <a:ext uri="{FF2B5EF4-FFF2-40B4-BE49-F238E27FC236}">
                    <a16:creationId xmlns:a16="http://schemas.microsoft.com/office/drawing/2014/main" id="{F6164AF5-E6C8-298F-CD19-240B7E7167DA}"/>
                  </a:ext>
                </a:extLst>
              </p:cNvPr>
              <p:cNvSpPr/>
              <p:nvPr/>
            </p:nvSpPr>
            <p:spPr>
              <a:xfrm>
                <a:off x="6712169" y="3085440"/>
                <a:ext cx="238757" cy="315615"/>
              </a:xfrm>
              <a:custGeom>
                <a:avLst/>
                <a:gdLst/>
                <a:ahLst/>
                <a:cxnLst/>
                <a:rect l="l" t="t" r="r" b="b"/>
                <a:pathLst>
                  <a:path w="41379" h="54723" extrusionOk="0">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967;p80">
                <a:extLst>
                  <a:ext uri="{FF2B5EF4-FFF2-40B4-BE49-F238E27FC236}">
                    <a16:creationId xmlns:a16="http://schemas.microsoft.com/office/drawing/2014/main" id="{8324A419-C405-2980-FD86-0D7EE4D8FEE1}"/>
                  </a:ext>
                </a:extLst>
              </p:cNvPr>
              <p:cNvSpPr/>
              <p:nvPr/>
            </p:nvSpPr>
            <p:spPr>
              <a:xfrm>
                <a:off x="6913100" y="3367694"/>
                <a:ext cx="190537" cy="212659"/>
              </a:xfrm>
              <a:custGeom>
                <a:avLst/>
                <a:gdLst/>
                <a:ahLst/>
                <a:cxnLst/>
                <a:rect l="l" t="t" r="r" b="b"/>
                <a:pathLst>
                  <a:path w="33022" h="36872" extrusionOk="0">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3968;p80">
                <a:extLst>
                  <a:ext uri="{FF2B5EF4-FFF2-40B4-BE49-F238E27FC236}">
                    <a16:creationId xmlns:a16="http://schemas.microsoft.com/office/drawing/2014/main" id="{5A03A0C1-600A-7D9B-9A6A-8329BC07F276}"/>
                  </a:ext>
                </a:extLst>
              </p:cNvPr>
              <p:cNvSpPr/>
              <p:nvPr/>
            </p:nvSpPr>
            <p:spPr>
              <a:xfrm>
                <a:off x="7135734" y="3186037"/>
                <a:ext cx="58058" cy="152383"/>
              </a:xfrm>
              <a:custGeom>
                <a:avLst/>
                <a:gdLst/>
                <a:ahLst/>
                <a:cxnLst/>
                <a:rect l="l" t="t" r="r" b="b"/>
                <a:pathLst>
                  <a:path w="10062" h="26421" extrusionOk="0">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3969;p80">
                <a:extLst>
                  <a:ext uri="{FF2B5EF4-FFF2-40B4-BE49-F238E27FC236}">
                    <a16:creationId xmlns:a16="http://schemas.microsoft.com/office/drawing/2014/main" id="{F2AD23CC-8C8B-A25F-2F24-827F715A11EA}"/>
                  </a:ext>
                </a:extLst>
              </p:cNvPr>
              <p:cNvSpPr/>
              <p:nvPr/>
            </p:nvSpPr>
            <p:spPr>
              <a:xfrm>
                <a:off x="6870416" y="3332822"/>
                <a:ext cx="47510" cy="11685"/>
              </a:xfrm>
              <a:custGeom>
                <a:avLst/>
                <a:gdLst/>
                <a:ahLst/>
                <a:cxnLst/>
                <a:rect l="l" t="t" r="r" b="b"/>
                <a:pathLst>
                  <a:path w="8234" h="2026" extrusionOk="0">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3970;p80">
                <a:extLst>
                  <a:ext uri="{FF2B5EF4-FFF2-40B4-BE49-F238E27FC236}">
                    <a16:creationId xmlns:a16="http://schemas.microsoft.com/office/drawing/2014/main" id="{18B8A668-7C21-584B-F172-2FEE7276FAA9}"/>
                  </a:ext>
                </a:extLst>
              </p:cNvPr>
              <p:cNvSpPr/>
              <p:nvPr/>
            </p:nvSpPr>
            <p:spPr>
              <a:xfrm>
                <a:off x="6925590" y="3336277"/>
                <a:ext cx="38094" cy="14228"/>
              </a:xfrm>
              <a:custGeom>
                <a:avLst/>
                <a:gdLst/>
                <a:ahLst/>
                <a:cxnLst/>
                <a:rect l="l" t="t" r="r" b="b"/>
                <a:pathLst>
                  <a:path w="6602" h="2467" extrusionOk="0">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971;p80">
              <a:extLst>
                <a:ext uri="{FF2B5EF4-FFF2-40B4-BE49-F238E27FC236}">
                  <a16:creationId xmlns:a16="http://schemas.microsoft.com/office/drawing/2014/main" id="{A4157742-20A9-FA29-3276-9D05012A19BB}"/>
                </a:ext>
              </a:extLst>
            </p:cNvPr>
            <p:cNvSpPr/>
            <p:nvPr/>
          </p:nvSpPr>
          <p:spPr>
            <a:xfrm>
              <a:off x="6867451" y="3073651"/>
              <a:ext cx="102383" cy="56919"/>
            </a:xfrm>
            <a:custGeom>
              <a:avLst/>
              <a:gdLst/>
              <a:ahLst/>
              <a:cxnLst/>
              <a:rect l="l" t="t" r="r" b="b"/>
              <a:pathLst>
                <a:path w="17744" h="9869" extrusionOk="0">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972;p80">
              <a:extLst>
                <a:ext uri="{FF2B5EF4-FFF2-40B4-BE49-F238E27FC236}">
                  <a16:creationId xmlns:a16="http://schemas.microsoft.com/office/drawing/2014/main" id="{78759FFB-CEB6-137F-56E3-EC5A227ECF64}"/>
                </a:ext>
              </a:extLst>
            </p:cNvPr>
            <p:cNvSpPr/>
            <p:nvPr/>
          </p:nvSpPr>
          <p:spPr>
            <a:xfrm>
              <a:off x="7069097" y="3119476"/>
              <a:ext cx="78535" cy="76898"/>
            </a:xfrm>
            <a:custGeom>
              <a:avLst/>
              <a:gdLst/>
              <a:ahLst/>
              <a:cxnLst/>
              <a:rect l="l" t="t" r="r" b="b"/>
              <a:pathLst>
                <a:path w="13611" h="13333" extrusionOk="0">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3973;p80">
              <a:extLst>
                <a:ext uri="{FF2B5EF4-FFF2-40B4-BE49-F238E27FC236}">
                  <a16:creationId xmlns:a16="http://schemas.microsoft.com/office/drawing/2014/main" id="{D9DBF6F9-82F1-7AF9-5EEA-63DD6CDF0E1B}"/>
                </a:ext>
              </a:extLst>
            </p:cNvPr>
            <p:cNvSpPr/>
            <p:nvPr/>
          </p:nvSpPr>
          <p:spPr>
            <a:xfrm>
              <a:off x="6946266" y="3181844"/>
              <a:ext cx="21095" cy="14742"/>
            </a:xfrm>
            <a:custGeom>
              <a:avLst/>
              <a:gdLst/>
              <a:ahLst/>
              <a:cxnLst/>
              <a:rect l="l" t="t" r="r" b="b"/>
              <a:pathLst>
                <a:path w="3656" h="2556" extrusionOk="0">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671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EE5A3-5155-3E8E-36AB-6BA1BE27E58E}"/>
            </a:ext>
          </a:extLst>
        </p:cNvPr>
        <p:cNvGrpSpPr/>
        <p:nvPr/>
      </p:nvGrpSpPr>
      <p:grpSpPr>
        <a:xfrm>
          <a:off x="0" y="0"/>
          <a:ext cx="0" cy="0"/>
          <a:chOff x="0" y="0"/>
          <a:chExt cx="0" cy="0"/>
        </a:xfrm>
      </p:grpSpPr>
      <p:sp>
        <p:nvSpPr>
          <p:cNvPr id="5" name="Google Shape;1065;p65">
            <a:extLst>
              <a:ext uri="{FF2B5EF4-FFF2-40B4-BE49-F238E27FC236}">
                <a16:creationId xmlns:a16="http://schemas.microsoft.com/office/drawing/2014/main" id="{B1E4D00D-C5AB-C965-E007-9B3C308373C8}"/>
              </a:ext>
            </a:extLst>
          </p:cNvPr>
          <p:cNvSpPr txBox="1"/>
          <p:nvPr/>
        </p:nvSpPr>
        <p:spPr>
          <a:xfrm>
            <a:off x="1193127" y="85663"/>
            <a:ext cx="3282619" cy="449100"/>
          </a:xfrm>
          <a:prstGeom prst="rect">
            <a:avLst/>
          </a:prstGeom>
          <a:solidFill>
            <a:schemeClr val="tx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IN" sz="2400" dirty="0">
                <a:solidFill>
                  <a:schemeClr val="tx1"/>
                </a:solidFill>
                <a:latin typeface="Krona One"/>
                <a:ea typeface="Krona One"/>
                <a:cs typeface="Krona One"/>
                <a:sym typeface="Krona One"/>
              </a:rPr>
              <a:t>Threats</a:t>
            </a:r>
            <a:endParaRPr sz="2400" dirty="0">
              <a:solidFill>
                <a:schemeClr val="tx1"/>
              </a:solidFill>
              <a:latin typeface="Krona One"/>
              <a:ea typeface="Krona One"/>
              <a:cs typeface="Krona One"/>
              <a:sym typeface="Krona One"/>
            </a:endParaRPr>
          </a:p>
        </p:txBody>
      </p:sp>
      <p:sp>
        <p:nvSpPr>
          <p:cNvPr id="64" name="TextBox 63">
            <a:extLst>
              <a:ext uri="{FF2B5EF4-FFF2-40B4-BE49-F238E27FC236}">
                <a16:creationId xmlns:a16="http://schemas.microsoft.com/office/drawing/2014/main" id="{F7A34F98-4AA5-F86C-5757-505C17E59833}"/>
              </a:ext>
            </a:extLst>
          </p:cNvPr>
          <p:cNvSpPr txBox="1"/>
          <p:nvPr/>
        </p:nvSpPr>
        <p:spPr>
          <a:xfrm>
            <a:off x="683123" y="789530"/>
            <a:ext cx="5720019" cy="4185761"/>
          </a:xfrm>
          <a:prstGeom prst="rect">
            <a:avLst/>
          </a:prstGeom>
          <a:blipFill dpi="0" rotWithShape="1">
            <a:blip r:embed="rId2">
              <a:lum bright="70000" contrast="-70000"/>
              <a:extLst>
                <a:ext uri="{28A0092B-C50C-407E-A947-70E740481C1C}">
                  <a14:useLocalDpi xmlns:a14="http://schemas.microsoft.com/office/drawing/2010/main" val="0"/>
                </a:ext>
              </a:extLst>
            </a:blip>
            <a:srcRect/>
            <a:stretch>
              <a:fillRect/>
            </a:stretch>
          </a:blipFill>
        </p:spPr>
        <p:txBody>
          <a:bodyPr wrap="square" rtlCol="0">
            <a:spAutoFit/>
          </a:bodyPr>
          <a:lstStyle/>
          <a:p>
            <a:r>
              <a:rPr lang="en-US" b="1" dirty="0"/>
              <a:t>1. Intense Competition</a:t>
            </a:r>
          </a:p>
          <a:p>
            <a:r>
              <a:rPr lang="en-US" dirty="0"/>
              <a:t>CRED operates in a saturated market, competing with well-funded fin-techs, digital wallets, and traditional banks. As these players roll out similar rewards, credit, and investment products, CRED risks losing its edge.</a:t>
            </a:r>
          </a:p>
          <a:p>
            <a:endParaRPr lang="en-US" dirty="0"/>
          </a:p>
          <a:p>
            <a:r>
              <a:rPr lang="en-US" b="1" dirty="0"/>
              <a:t>2. Regulatory Uncertainty</a:t>
            </a:r>
          </a:p>
          <a:p>
            <a:r>
              <a:rPr lang="en-US" dirty="0"/>
              <a:t>As CRED expands into lending, UPI, and wealth products, it becomes more exposed to RBI and SEBI regulations. Any tightening of rules around digital credit, data privacy, or user eligibility could disrupt its growth plans.</a:t>
            </a:r>
          </a:p>
          <a:p>
            <a:endParaRPr lang="en-US" dirty="0"/>
          </a:p>
          <a:p>
            <a:r>
              <a:rPr lang="en-US" b="1" dirty="0"/>
              <a:t>3. Engagement Fatigue</a:t>
            </a:r>
          </a:p>
          <a:p>
            <a:r>
              <a:rPr lang="en-US" dirty="0"/>
              <a:t>CRED’s heavy reliance on gamified rewards and exclusivity may wear thin over time. In a utility-driven market like India, users may shift toward apps offering simpler, more practical financial solutions.</a:t>
            </a:r>
          </a:p>
          <a:p>
            <a:endParaRPr lang="en-US" dirty="0"/>
          </a:p>
          <a:p>
            <a:endParaRPr lang="en-US" dirty="0"/>
          </a:p>
          <a:p>
            <a:endParaRPr lang="en-IN" dirty="0"/>
          </a:p>
        </p:txBody>
      </p:sp>
      <p:grpSp>
        <p:nvGrpSpPr>
          <p:cNvPr id="79" name="Google Shape;1983;p79">
            <a:extLst>
              <a:ext uri="{FF2B5EF4-FFF2-40B4-BE49-F238E27FC236}">
                <a16:creationId xmlns:a16="http://schemas.microsoft.com/office/drawing/2014/main" id="{FF902CF3-667D-697A-1B5B-9950C40B48AE}"/>
              </a:ext>
            </a:extLst>
          </p:cNvPr>
          <p:cNvGrpSpPr/>
          <p:nvPr/>
        </p:nvGrpSpPr>
        <p:grpSpPr>
          <a:xfrm>
            <a:off x="7250319" y="658186"/>
            <a:ext cx="1196938" cy="1151364"/>
            <a:chOff x="5080188" y="927900"/>
            <a:chExt cx="961200" cy="961200"/>
          </a:xfrm>
        </p:grpSpPr>
        <p:sp>
          <p:nvSpPr>
            <p:cNvPr id="80" name="Google Shape;1984;p79">
              <a:extLst>
                <a:ext uri="{FF2B5EF4-FFF2-40B4-BE49-F238E27FC236}">
                  <a16:creationId xmlns:a16="http://schemas.microsoft.com/office/drawing/2014/main" id="{48579A59-BEBC-E973-32A9-29DF6C9623BD}"/>
                </a:ext>
              </a:extLst>
            </p:cNvPr>
            <p:cNvSpPr/>
            <p:nvPr/>
          </p:nvSpPr>
          <p:spPr>
            <a:xfrm>
              <a:off x="5201900" y="1050116"/>
              <a:ext cx="716700" cy="716700"/>
            </a:xfrm>
            <a:prstGeom prst="donut">
              <a:avLst>
                <a:gd name="adj" fmla="val 4716"/>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985;p79">
              <a:extLst>
                <a:ext uri="{FF2B5EF4-FFF2-40B4-BE49-F238E27FC236}">
                  <a16:creationId xmlns:a16="http://schemas.microsoft.com/office/drawing/2014/main" id="{F452A94D-E32D-D293-1B8F-7EE01A245D41}"/>
                </a:ext>
              </a:extLst>
            </p:cNvPr>
            <p:cNvSpPr/>
            <p:nvPr/>
          </p:nvSpPr>
          <p:spPr>
            <a:xfrm>
              <a:off x="5269594" y="1117818"/>
              <a:ext cx="581100" cy="581100"/>
            </a:xfrm>
            <a:prstGeom prst="donut">
              <a:avLst>
                <a:gd name="adj" fmla="val 5814"/>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986;p79">
              <a:extLst>
                <a:ext uri="{FF2B5EF4-FFF2-40B4-BE49-F238E27FC236}">
                  <a16:creationId xmlns:a16="http://schemas.microsoft.com/office/drawing/2014/main" id="{B4519139-DDE2-80B6-0FAE-CA8F203F6F0C}"/>
                </a:ext>
              </a:extLst>
            </p:cNvPr>
            <p:cNvSpPr/>
            <p:nvPr/>
          </p:nvSpPr>
          <p:spPr>
            <a:xfrm>
              <a:off x="5339279" y="1187526"/>
              <a:ext cx="441900" cy="441600"/>
            </a:xfrm>
            <a:prstGeom prst="donut">
              <a:avLst>
                <a:gd name="adj" fmla="val 7648"/>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987;p79">
              <a:extLst>
                <a:ext uri="{FF2B5EF4-FFF2-40B4-BE49-F238E27FC236}">
                  <a16:creationId xmlns:a16="http://schemas.microsoft.com/office/drawing/2014/main" id="{A4479EB9-CBDA-A71D-37EB-E7E4A8FD9857}"/>
                </a:ext>
              </a:extLst>
            </p:cNvPr>
            <p:cNvSpPr/>
            <p:nvPr/>
          </p:nvSpPr>
          <p:spPr>
            <a:xfrm>
              <a:off x="5414892" y="1263155"/>
              <a:ext cx="290700" cy="290700"/>
            </a:xfrm>
            <a:prstGeom prst="donut">
              <a:avLst>
                <a:gd name="adj" fmla="val 10182"/>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988;p79">
              <a:extLst>
                <a:ext uri="{FF2B5EF4-FFF2-40B4-BE49-F238E27FC236}">
                  <a16:creationId xmlns:a16="http://schemas.microsoft.com/office/drawing/2014/main" id="{1482C005-8757-1B2C-FE75-BC4D777B5DD8}"/>
                </a:ext>
              </a:extLst>
            </p:cNvPr>
            <p:cNvSpPr/>
            <p:nvPr/>
          </p:nvSpPr>
          <p:spPr>
            <a:xfrm rot="-3809958">
              <a:off x="5202435" y="1050148"/>
              <a:ext cx="716705" cy="716705"/>
            </a:xfrm>
            <a:prstGeom prst="blockArc">
              <a:avLst>
                <a:gd name="adj1" fmla="val 5266439"/>
                <a:gd name="adj2" fmla="val 19995741"/>
                <a:gd name="adj3" fmla="val 4692"/>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989;p79">
              <a:extLst>
                <a:ext uri="{FF2B5EF4-FFF2-40B4-BE49-F238E27FC236}">
                  <a16:creationId xmlns:a16="http://schemas.microsoft.com/office/drawing/2014/main" id="{41A79248-9F78-6A9C-CF84-2E6C659E844D}"/>
                </a:ext>
              </a:extLst>
            </p:cNvPr>
            <p:cNvSpPr/>
            <p:nvPr/>
          </p:nvSpPr>
          <p:spPr>
            <a:xfrm rot="-3906059">
              <a:off x="5269616" y="1117617"/>
              <a:ext cx="581445" cy="581445"/>
            </a:xfrm>
            <a:prstGeom prst="blockArc">
              <a:avLst>
                <a:gd name="adj1" fmla="val 3085776"/>
                <a:gd name="adj2" fmla="val 20100839"/>
                <a:gd name="adj3" fmla="val 5564"/>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990;p79">
              <a:extLst>
                <a:ext uri="{FF2B5EF4-FFF2-40B4-BE49-F238E27FC236}">
                  <a16:creationId xmlns:a16="http://schemas.microsoft.com/office/drawing/2014/main" id="{F7B35611-562C-126C-C5A1-67EC77273C4D}"/>
                </a:ext>
              </a:extLst>
            </p:cNvPr>
            <p:cNvSpPr/>
            <p:nvPr/>
          </p:nvSpPr>
          <p:spPr>
            <a:xfrm rot="-4222340">
              <a:off x="5339825" y="1187386"/>
              <a:ext cx="442087" cy="442087"/>
            </a:xfrm>
            <a:prstGeom prst="blockArc">
              <a:avLst>
                <a:gd name="adj1" fmla="val 8884448"/>
                <a:gd name="adj2" fmla="val 20414899"/>
                <a:gd name="adj3" fmla="val 7688"/>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991;p79">
              <a:extLst>
                <a:ext uri="{FF2B5EF4-FFF2-40B4-BE49-F238E27FC236}">
                  <a16:creationId xmlns:a16="http://schemas.microsoft.com/office/drawing/2014/main" id="{6AC1BF76-006F-411E-90E8-6F6D30CB1A49}"/>
                </a:ext>
              </a:extLst>
            </p:cNvPr>
            <p:cNvSpPr/>
            <p:nvPr/>
          </p:nvSpPr>
          <p:spPr>
            <a:xfrm rot="-4538880">
              <a:off x="5414922" y="1262925"/>
              <a:ext cx="290465" cy="290465"/>
            </a:xfrm>
            <a:prstGeom prst="blockArc">
              <a:avLst>
                <a:gd name="adj1" fmla="val 6490304"/>
                <a:gd name="adj2" fmla="val 20700625"/>
                <a:gd name="adj3" fmla="val 10156"/>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 name="Google Shape;6288;p86">
            <a:extLst>
              <a:ext uri="{FF2B5EF4-FFF2-40B4-BE49-F238E27FC236}">
                <a16:creationId xmlns:a16="http://schemas.microsoft.com/office/drawing/2014/main" id="{D43BF26F-1CE0-5C2F-C01F-233F0E314DCE}"/>
              </a:ext>
            </a:extLst>
          </p:cNvPr>
          <p:cNvGrpSpPr/>
          <p:nvPr/>
        </p:nvGrpSpPr>
        <p:grpSpPr>
          <a:xfrm>
            <a:off x="767792" y="85663"/>
            <a:ext cx="353757" cy="331241"/>
            <a:chOff x="-25834600" y="3564375"/>
            <a:chExt cx="296950" cy="278050"/>
          </a:xfrm>
        </p:grpSpPr>
        <p:sp>
          <p:nvSpPr>
            <p:cNvPr id="89" name="Google Shape;6289;p86">
              <a:extLst>
                <a:ext uri="{FF2B5EF4-FFF2-40B4-BE49-F238E27FC236}">
                  <a16:creationId xmlns:a16="http://schemas.microsoft.com/office/drawing/2014/main" id="{12F1DA93-056D-5D7B-2D2D-E2AD8D70C903}"/>
                </a:ext>
              </a:extLst>
            </p:cNvPr>
            <p:cNvSpPr/>
            <p:nvPr/>
          </p:nvSpPr>
          <p:spPr>
            <a:xfrm>
              <a:off x="-25694400" y="3703775"/>
              <a:ext cx="17350" cy="17375"/>
            </a:xfrm>
            <a:custGeom>
              <a:avLst/>
              <a:gdLst/>
              <a:ahLst/>
              <a:cxnLst/>
              <a:rect l="l" t="t" r="r" b="b"/>
              <a:pathLst>
                <a:path w="694" h="695" extrusionOk="0">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6290;p86">
              <a:extLst>
                <a:ext uri="{FF2B5EF4-FFF2-40B4-BE49-F238E27FC236}">
                  <a16:creationId xmlns:a16="http://schemas.microsoft.com/office/drawing/2014/main" id="{2FB32163-9C12-965C-B86A-6BA8FCFA011D}"/>
                </a:ext>
              </a:extLst>
            </p:cNvPr>
            <p:cNvSpPr/>
            <p:nvPr/>
          </p:nvSpPr>
          <p:spPr>
            <a:xfrm>
              <a:off x="-25591225" y="3703775"/>
              <a:ext cx="53575" cy="18150"/>
            </a:xfrm>
            <a:custGeom>
              <a:avLst/>
              <a:gdLst/>
              <a:ahLst/>
              <a:cxnLst/>
              <a:rect l="l" t="t" r="r" b="b"/>
              <a:pathLst>
                <a:path w="2143" h="726" extrusionOk="0">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6291;p86">
              <a:extLst>
                <a:ext uri="{FF2B5EF4-FFF2-40B4-BE49-F238E27FC236}">
                  <a16:creationId xmlns:a16="http://schemas.microsoft.com/office/drawing/2014/main" id="{CB78418B-0D53-54A9-5C93-00113835EC31}"/>
                </a:ext>
              </a:extLst>
            </p:cNvPr>
            <p:cNvSpPr/>
            <p:nvPr/>
          </p:nvSpPr>
          <p:spPr>
            <a:xfrm>
              <a:off x="-25834600" y="3703775"/>
              <a:ext cx="53575" cy="18150"/>
            </a:xfrm>
            <a:custGeom>
              <a:avLst/>
              <a:gdLst/>
              <a:ahLst/>
              <a:cxnLst/>
              <a:rect l="l" t="t" r="r" b="b"/>
              <a:pathLst>
                <a:path w="2143" h="726" extrusionOk="0">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6292;p86">
              <a:extLst>
                <a:ext uri="{FF2B5EF4-FFF2-40B4-BE49-F238E27FC236}">
                  <a16:creationId xmlns:a16="http://schemas.microsoft.com/office/drawing/2014/main" id="{7883E2D7-B174-68DD-9A4B-92CEB58553CB}"/>
                </a:ext>
              </a:extLst>
            </p:cNvPr>
            <p:cNvSpPr/>
            <p:nvPr/>
          </p:nvSpPr>
          <p:spPr>
            <a:xfrm>
              <a:off x="-25695200" y="3564375"/>
              <a:ext cx="17350" cy="52800"/>
            </a:xfrm>
            <a:custGeom>
              <a:avLst/>
              <a:gdLst/>
              <a:ahLst/>
              <a:cxnLst/>
              <a:rect l="l" t="t" r="r" b="b"/>
              <a:pathLst>
                <a:path w="694" h="2112" extrusionOk="0">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6293;p86">
              <a:extLst>
                <a:ext uri="{FF2B5EF4-FFF2-40B4-BE49-F238E27FC236}">
                  <a16:creationId xmlns:a16="http://schemas.microsoft.com/office/drawing/2014/main" id="{027A8F61-283B-BA5D-0638-C22ABEA23DF6}"/>
                </a:ext>
              </a:extLst>
            </p:cNvPr>
            <p:cNvSpPr/>
            <p:nvPr/>
          </p:nvSpPr>
          <p:spPr>
            <a:xfrm>
              <a:off x="-25792850" y="3606125"/>
              <a:ext cx="42550" cy="40975"/>
            </a:xfrm>
            <a:custGeom>
              <a:avLst/>
              <a:gdLst/>
              <a:ahLst/>
              <a:cxnLst/>
              <a:rect l="l" t="t" r="r" b="b"/>
              <a:pathLst>
                <a:path w="1702" h="1639" extrusionOk="0">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6294;p86">
              <a:extLst>
                <a:ext uri="{FF2B5EF4-FFF2-40B4-BE49-F238E27FC236}">
                  <a16:creationId xmlns:a16="http://schemas.microsoft.com/office/drawing/2014/main" id="{47358128-DCCD-5FA1-C0E5-07325923EF8D}"/>
                </a:ext>
              </a:extLst>
            </p:cNvPr>
            <p:cNvSpPr/>
            <p:nvPr/>
          </p:nvSpPr>
          <p:spPr>
            <a:xfrm>
              <a:off x="-25621950" y="3606125"/>
              <a:ext cx="43350" cy="40975"/>
            </a:xfrm>
            <a:custGeom>
              <a:avLst/>
              <a:gdLst/>
              <a:ahLst/>
              <a:cxnLst/>
              <a:rect l="l" t="t" r="r" b="b"/>
              <a:pathLst>
                <a:path w="1734" h="1639" extrusionOk="0">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6295;p86">
              <a:extLst>
                <a:ext uri="{FF2B5EF4-FFF2-40B4-BE49-F238E27FC236}">
                  <a16:creationId xmlns:a16="http://schemas.microsoft.com/office/drawing/2014/main" id="{22D438B0-08AB-81B3-45FA-FCA5A70BD73F}"/>
                </a:ext>
              </a:extLst>
            </p:cNvPr>
            <p:cNvSpPr/>
            <p:nvPr/>
          </p:nvSpPr>
          <p:spPr>
            <a:xfrm>
              <a:off x="-25783400" y="3806975"/>
              <a:ext cx="192200" cy="35450"/>
            </a:xfrm>
            <a:custGeom>
              <a:avLst/>
              <a:gdLst/>
              <a:ahLst/>
              <a:cxnLst/>
              <a:rect l="l" t="t" r="r" b="b"/>
              <a:pathLst>
                <a:path w="7688" h="1418" extrusionOk="0">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6296;p86">
              <a:extLst>
                <a:ext uri="{FF2B5EF4-FFF2-40B4-BE49-F238E27FC236}">
                  <a16:creationId xmlns:a16="http://schemas.microsoft.com/office/drawing/2014/main" id="{A8A83E4C-DB98-07C8-4E38-74278B4D8894}"/>
                </a:ext>
              </a:extLst>
            </p:cNvPr>
            <p:cNvSpPr/>
            <p:nvPr/>
          </p:nvSpPr>
          <p:spPr>
            <a:xfrm>
              <a:off x="-25764500" y="3635275"/>
              <a:ext cx="153600" cy="155175"/>
            </a:xfrm>
            <a:custGeom>
              <a:avLst/>
              <a:gdLst/>
              <a:ahLst/>
              <a:cxnLst/>
              <a:rect l="l" t="t" r="r" b="b"/>
              <a:pathLst>
                <a:path w="6144" h="6207" extrusionOk="0">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04966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idden Startup Secrets of CRED | CRED Business Model">
            <a:extLst>
              <a:ext uri="{FF2B5EF4-FFF2-40B4-BE49-F238E27FC236}">
                <a16:creationId xmlns:a16="http://schemas.microsoft.com/office/drawing/2014/main" id="{E631CD45-B7BF-4512-5A22-8459F6F07F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197"/>
          <a:stretch>
            <a:fillRect/>
          </a:stretch>
        </p:blipFill>
        <p:spPr bwMode="auto">
          <a:xfrm>
            <a:off x="0" y="587442"/>
            <a:ext cx="9144000" cy="3968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434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1000"/>
                                        <p:tgtEl>
                                          <p:spTgt spid="4098"/>
                                        </p:tgtEl>
                                      </p:cBhvr>
                                    </p:animEffect>
                                    <p:anim calcmode="lin" valueType="num">
                                      <p:cBhvr>
                                        <p:cTn id="8" dur="1000" fill="hold"/>
                                        <p:tgtEl>
                                          <p:spTgt spid="4098"/>
                                        </p:tgtEl>
                                        <p:attrNameLst>
                                          <p:attrName>ppt_x</p:attrName>
                                        </p:attrNameLst>
                                      </p:cBhvr>
                                      <p:tavLst>
                                        <p:tav tm="0">
                                          <p:val>
                                            <p:strVal val="#ppt_x"/>
                                          </p:val>
                                        </p:tav>
                                        <p:tav tm="100000">
                                          <p:val>
                                            <p:strVal val="#ppt_x"/>
                                          </p:val>
                                        </p:tav>
                                      </p:tavLst>
                                    </p:anim>
                                    <p:anim calcmode="lin" valueType="num">
                                      <p:cBhvr>
                                        <p:cTn id="9" dur="1000" fill="hold"/>
                                        <p:tgtEl>
                                          <p:spTgt spid="40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0E8CA-F43B-4C01-0976-5AF6F6209179}"/>
            </a:ext>
          </a:extLst>
        </p:cNvPr>
        <p:cNvGrpSpPr/>
        <p:nvPr/>
      </p:nvGrpSpPr>
      <p:grpSpPr>
        <a:xfrm>
          <a:off x="0" y="0"/>
          <a:ext cx="0" cy="0"/>
          <a:chOff x="0" y="0"/>
          <a:chExt cx="0" cy="0"/>
        </a:xfrm>
      </p:grpSpPr>
      <p:sp>
        <p:nvSpPr>
          <p:cNvPr id="5" name="Google Shape;1065;p65">
            <a:extLst>
              <a:ext uri="{FF2B5EF4-FFF2-40B4-BE49-F238E27FC236}">
                <a16:creationId xmlns:a16="http://schemas.microsoft.com/office/drawing/2014/main" id="{4F2389D0-085B-7484-FD62-5000CA08A312}"/>
              </a:ext>
            </a:extLst>
          </p:cNvPr>
          <p:cNvSpPr txBox="1"/>
          <p:nvPr/>
        </p:nvSpPr>
        <p:spPr>
          <a:xfrm>
            <a:off x="1193127" y="85663"/>
            <a:ext cx="3282619" cy="449100"/>
          </a:xfrm>
          <a:prstGeom prst="rect">
            <a:avLst/>
          </a:prstGeom>
          <a:solidFill>
            <a:schemeClr val="tx2"/>
          </a:solid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IN" sz="2400" dirty="0">
                <a:solidFill>
                  <a:schemeClr val="tx1"/>
                </a:solidFill>
                <a:latin typeface="Krona One"/>
                <a:ea typeface="Krona One"/>
                <a:cs typeface="Krona One"/>
                <a:sym typeface="Krona One"/>
              </a:rPr>
              <a:t>Threats</a:t>
            </a:r>
            <a:endParaRPr sz="2400" dirty="0">
              <a:solidFill>
                <a:schemeClr val="tx1"/>
              </a:solidFill>
              <a:latin typeface="Krona One"/>
              <a:ea typeface="Krona One"/>
              <a:cs typeface="Krona One"/>
              <a:sym typeface="Krona One"/>
            </a:endParaRPr>
          </a:p>
        </p:txBody>
      </p:sp>
      <p:sp>
        <p:nvSpPr>
          <p:cNvPr id="64" name="TextBox 63">
            <a:extLst>
              <a:ext uri="{FF2B5EF4-FFF2-40B4-BE49-F238E27FC236}">
                <a16:creationId xmlns:a16="http://schemas.microsoft.com/office/drawing/2014/main" id="{0613B21E-4C46-584D-5649-F62247E97C7D}"/>
              </a:ext>
            </a:extLst>
          </p:cNvPr>
          <p:cNvSpPr txBox="1"/>
          <p:nvPr/>
        </p:nvSpPr>
        <p:spPr>
          <a:xfrm>
            <a:off x="683123" y="789530"/>
            <a:ext cx="5720019" cy="3970318"/>
          </a:xfrm>
          <a:prstGeom prst="rect">
            <a:avLst/>
          </a:prstGeom>
          <a:blipFill dpi="0" rotWithShape="1">
            <a:blip r:embed="rId2">
              <a:lum bright="70000" contrast="-70000"/>
              <a:extLst>
                <a:ext uri="{28A0092B-C50C-407E-A947-70E740481C1C}">
                  <a14:useLocalDpi xmlns:a14="http://schemas.microsoft.com/office/drawing/2010/main" val="0"/>
                </a:ext>
              </a:extLst>
            </a:blip>
            <a:srcRect/>
            <a:stretch>
              <a:fillRect/>
            </a:stretch>
          </a:blipFill>
        </p:spPr>
        <p:txBody>
          <a:bodyPr wrap="square" rtlCol="0">
            <a:spAutoFit/>
          </a:bodyPr>
          <a:lstStyle/>
          <a:p>
            <a:r>
              <a:rPr lang="en-US" b="1" dirty="0"/>
              <a:t>4. Changes in Credit Card Market Dynamics</a:t>
            </a:r>
            <a:endParaRPr lang="en-US" dirty="0"/>
          </a:p>
          <a:p>
            <a:r>
              <a:rPr lang="en-US" dirty="0"/>
              <a:t>Changes in the credit card market pose a threat to CRED. Market saturation and the rise of BNPL services could reduce CRED's transaction volume. BNPL is projected to reach $850 billion by 2025. This shift challenges CRED's reliance on credit card payments. It could decrease revenue.</a:t>
            </a:r>
          </a:p>
          <a:p>
            <a:endParaRPr lang="en-US" dirty="0"/>
          </a:p>
          <a:p>
            <a:r>
              <a:rPr lang="en-US" b="1" dirty="0"/>
              <a:t>5. Economic downturns can significantly impact CRED’s business model</a:t>
            </a:r>
            <a:r>
              <a:rPr lang="en-US" dirty="0"/>
              <a:t>, which depends heavily on discretionary spending and timely credit card repayments. In times of financial stress—like job losses or inflation spikes—users may cut back on spending, miss payment deadlines, or avoid credit altogether. This reduces transaction volume on the platform and weakens the effectiveness of reward-based engagement. If defaults rise or credit usage falls, it could directly hit CRED’s revenue streams from lending, offers, and partnerships tied to user activity.</a:t>
            </a:r>
          </a:p>
          <a:p>
            <a:endParaRPr lang="en-US" dirty="0"/>
          </a:p>
          <a:p>
            <a:endParaRPr lang="en-IN" dirty="0"/>
          </a:p>
        </p:txBody>
      </p:sp>
      <p:grpSp>
        <p:nvGrpSpPr>
          <p:cNvPr id="79" name="Google Shape;1983;p79">
            <a:extLst>
              <a:ext uri="{FF2B5EF4-FFF2-40B4-BE49-F238E27FC236}">
                <a16:creationId xmlns:a16="http://schemas.microsoft.com/office/drawing/2014/main" id="{86CA8B1F-5D04-4BD5-1562-E53ACB936B00}"/>
              </a:ext>
            </a:extLst>
          </p:cNvPr>
          <p:cNvGrpSpPr/>
          <p:nvPr/>
        </p:nvGrpSpPr>
        <p:grpSpPr>
          <a:xfrm>
            <a:off x="7250319" y="658186"/>
            <a:ext cx="1196938" cy="1151364"/>
            <a:chOff x="5080188" y="927900"/>
            <a:chExt cx="961200" cy="961200"/>
          </a:xfrm>
        </p:grpSpPr>
        <p:sp>
          <p:nvSpPr>
            <p:cNvPr id="80" name="Google Shape;1984;p79">
              <a:extLst>
                <a:ext uri="{FF2B5EF4-FFF2-40B4-BE49-F238E27FC236}">
                  <a16:creationId xmlns:a16="http://schemas.microsoft.com/office/drawing/2014/main" id="{647DD41D-68EA-9B41-DCCB-6612AB7064CB}"/>
                </a:ext>
              </a:extLst>
            </p:cNvPr>
            <p:cNvSpPr/>
            <p:nvPr/>
          </p:nvSpPr>
          <p:spPr>
            <a:xfrm>
              <a:off x="5201900" y="1050116"/>
              <a:ext cx="716700" cy="716700"/>
            </a:xfrm>
            <a:prstGeom prst="donut">
              <a:avLst>
                <a:gd name="adj" fmla="val 4716"/>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985;p79">
              <a:extLst>
                <a:ext uri="{FF2B5EF4-FFF2-40B4-BE49-F238E27FC236}">
                  <a16:creationId xmlns:a16="http://schemas.microsoft.com/office/drawing/2014/main" id="{E36AC4B1-633D-5BD0-DFA6-4C32D5647F84}"/>
                </a:ext>
              </a:extLst>
            </p:cNvPr>
            <p:cNvSpPr/>
            <p:nvPr/>
          </p:nvSpPr>
          <p:spPr>
            <a:xfrm>
              <a:off x="5269594" y="1117818"/>
              <a:ext cx="581100" cy="581100"/>
            </a:xfrm>
            <a:prstGeom prst="donut">
              <a:avLst>
                <a:gd name="adj" fmla="val 5814"/>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986;p79">
              <a:extLst>
                <a:ext uri="{FF2B5EF4-FFF2-40B4-BE49-F238E27FC236}">
                  <a16:creationId xmlns:a16="http://schemas.microsoft.com/office/drawing/2014/main" id="{66E8F80D-CBD0-8C12-B6BA-C25C4F8B7C04}"/>
                </a:ext>
              </a:extLst>
            </p:cNvPr>
            <p:cNvSpPr/>
            <p:nvPr/>
          </p:nvSpPr>
          <p:spPr>
            <a:xfrm>
              <a:off x="5339279" y="1187526"/>
              <a:ext cx="441900" cy="441600"/>
            </a:xfrm>
            <a:prstGeom prst="donut">
              <a:avLst>
                <a:gd name="adj" fmla="val 7648"/>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987;p79">
              <a:extLst>
                <a:ext uri="{FF2B5EF4-FFF2-40B4-BE49-F238E27FC236}">
                  <a16:creationId xmlns:a16="http://schemas.microsoft.com/office/drawing/2014/main" id="{9D9F3C93-0001-7D38-C5B3-C55810215183}"/>
                </a:ext>
              </a:extLst>
            </p:cNvPr>
            <p:cNvSpPr/>
            <p:nvPr/>
          </p:nvSpPr>
          <p:spPr>
            <a:xfrm>
              <a:off x="5414892" y="1263155"/>
              <a:ext cx="290700" cy="290700"/>
            </a:xfrm>
            <a:prstGeom prst="donut">
              <a:avLst>
                <a:gd name="adj" fmla="val 10182"/>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988;p79">
              <a:extLst>
                <a:ext uri="{FF2B5EF4-FFF2-40B4-BE49-F238E27FC236}">
                  <a16:creationId xmlns:a16="http://schemas.microsoft.com/office/drawing/2014/main" id="{080D2A8F-4D64-6FEC-D33C-3C5626712871}"/>
                </a:ext>
              </a:extLst>
            </p:cNvPr>
            <p:cNvSpPr/>
            <p:nvPr/>
          </p:nvSpPr>
          <p:spPr>
            <a:xfrm rot="-3809958">
              <a:off x="5202435" y="1050148"/>
              <a:ext cx="716705" cy="716705"/>
            </a:xfrm>
            <a:prstGeom prst="blockArc">
              <a:avLst>
                <a:gd name="adj1" fmla="val 5266439"/>
                <a:gd name="adj2" fmla="val 19995741"/>
                <a:gd name="adj3" fmla="val 4692"/>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989;p79">
              <a:extLst>
                <a:ext uri="{FF2B5EF4-FFF2-40B4-BE49-F238E27FC236}">
                  <a16:creationId xmlns:a16="http://schemas.microsoft.com/office/drawing/2014/main" id="{68C4225E-24DA-8E80-3CB6-A0A5FD48935D}"/>
                </a:ext>
              </a:extLst>
            </p:cNvPr>
            <p:cNvSpPr/>
            <p:nvPr/>
          </p:nvSpPr>
          <p:spPr>
            <a:xfrm rot="-3906059">
              <a:off x="5269616" y="1117617"/>
              <a:ext cx="581445" cy="581445"/>
            </a:xfrm>
            <a:prstGeom prst="blockArc">
              <a:avLst>
                <a:gd name="adj1" fmla="val 3085776"/>
                <a:gd name="adj2" fmla="val 20100839"/>
                <a:gd name="adj3" fmla="val 5564"/>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990;p79">
              <a:extLst>
                <a:ext uri="{FF2B5EF4-FFF2-40B4-BE49-F238E27FC236}">
                  <a16:creationId xmlns:a16="http://schemas.microsoft.com/office/drawing/2014/main" id="{7301459A-8302-4DBE-4134-C81B726BEEC8}"/>
                </a:ext>
              </a:extLst>
            </p:cNvPr>
            <p:cNvSpPr/>
            <p:nvPr/>
          </p:nvSpPr>
          <p:spPr>
            <a:xfrm rot="-4222340">
              <a:off x="5339825" y="1187386"/>
              <a:ext cx="442087" cy="442087"/>
            </a:xfrm>
            <a:prstGeom prst="blockArc">
              <a:avLst>
                <a:gd name="adj1" fmla="val 8884448"/>
                <a:gd name="adj2" fmla="val 20414899"/>
                <a:gd name="adj3" fmla="val 7688"/>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991;p79">
              <a:extLst>
                <a:ext uri="{FF2B5EF4-FFF2-40B4-BE49-F238E27FC236}">
                  <a16:creationId xmlns:a16="http://schemas.microsoft.com/office/drawing/2014/main" id="{98CE6099-6DEC-7C66-D676-B41D36D68C1C}"/>
                </a:ext>
              </a:extLst>
            </p:cNvPr>
            <p:cNvSpPr/>
            <p:nvPr/>
          </p:nvSpPr>
          <p:spPr>
            <a:xfrm rot="-4538880">
              <a:off x="5414922" y="1262925"/>
              <a:ext cx="290465" cy="290465"/>
            </a:xfrm>
            <a:prstGeom prst="blockArc">
              <a:avLst>
                <a:gd name="adj1" fmla="val 6490304"/>
                <a:gd name="adj2" fmla="val 20700625"/>
                <a:gd name="adj3" fmla="val 10156"/>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 name="Google Shape;6288;p86">
            <a:extLst>
              <a:ext uri="{FF2B5EF4-FFF2-40B4-BE49-F238E27FC236}">
                <a16:creationId xmlns:a16="http://schemas.microsoft.com/office/drawing/2014/main" id="{6CCE772B-40B7-7EE7-4E71-356221D5EF7E}"/>
              </a:ext>
            </a:extLst>
          </p:cNvPr>
          <p:cNvGrpSpPr/>
          <p:nvPr/>
        </p:nvGrpSpPr>
        <p:grpSpPr>
          <a:xfrm>
            <a:off x="767792" y="85663"/>
            <a:ext cx="353757" cy="331241"/>
            <a:chOff x="-25834600" y="3564375"/>
            <a:chExt cx="296950" cy="278050"/>
          </a:xfrm>
        </p:grpSpPr>
        <p:sp>
          <p:nvSpPr>
            <p:cNvPr id="89" name="Google Shape;6289;p86">
              <a:extLst>
                <a:ext uri="{FF2B5EF4-FFF2-40B4-BE49-F238E27FC236}">
                  <a16:creationId xmlns:a16="http://schemas.microsoft.com/office/drawing/2014/main" id="{8D0DAEFF-0A90-12D0-3576-B94037AC03A2}"/>
                </a:ext>
              </a:extLst>
            </p:cNvPr>
            <p:cNvSpPr/>
            <p:nvPr/>
          </p:nvSpPr>
          <p:spPr>
            <a:xfrm>
              <a:off x="-25694400" y="3703775"/>
              <a:ext cx="17350" cy="17375"/>
            </a:xfrm>
            <a:custGeom>
              <a:avLst/>
              <a:gdLst/>
              <a:ahLst/>
              <a:cxnLst/>
              <a:rect l="l" t="t" r="r" b="b"/>
              <a:pathLst>
                <a:path w="694" h="695" extrusionOk="0">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6290;p86">
              <a:extLst>
                <a:ext uri="{FF2B5EF4-FFF2-40B4-BE49-F238E27FC236}">
                  <a16:creationId xmlns:a16="http://schemas.microsoft.com/office/drawing/2014/main" id="{2AB58F41-8459-2CCD-FDE9-F69C938F63C2}"/>
                </a:ext>
              </a:extLst>
            </p:cNvPr>
            <p:cNvSpPr/>
            <p:nvPr/>
          </p:nvSpPr>
          <p:spPr>
            <a:xfrm>
              <a:off x="-25591225" y="3703775"/>
              <a:ext cx="53575" cy="18150"/>
            </a:xfrm>
            <a:custGeom>
              <a:avLst/>
              <a:gdLst/>
              <a:ahLst/>
              <a:cxnLst/>
              <a:rect l="l" t="t" r="r" b="b"/>
              <a:pathLst>
                <a:path w="2143" h="726" extrusionOk="0">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6291;p86">
              <a:extLst>
                <a:ext uri="{FF2B5EF4-FFF2-40B4-BE49-F238E27FC236}">
                  <a16:creationId xmlns:a16="http://schemas.microsoft.com/office/drawing/2014/main" id="{8297DE7A-323F-9DE4-058C-157852A4FE74}"/>
                </a:ext>
              </a:extLst>
            </p:cNvPr>
            <p:cNvSpPr/>
            <p:nvPr/>
          </p:nvSpPr>
          <p:spPr>
            <a:xfrm>
              <a:off x="-25834600" y="3703775"/>
              <a:ext cx="53575" cy="18150"/>
            </a:xfrm>
            <a:custGeom>
              <a:avLst/>
              <a:gdLst/>
              <a:ahLst/>
              <a:cxnLst/>
              <a:rect l="l" t="t" r="r" b="b"/>
              <a:pathLst>
                <a:path w="2143" h="726" extrusionOk="0">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6292;p86">
              <a:extLst>
                <a:ext uri="{FF2B5EF4-FFF2-40B4-BE49-F238E27FC236}">
                  <a16:creationId xmlns:a16="http://schemas.microsoft.com/office/drawing/2014/main" id="{DE888AA7-5541-370A-2358-C15C60F57887}"/>
                </a:ext>
              </a:extLst>
            </p:cNvPr>
            <p:cNvSpPr/>
            <p:nvPr/>
          </p:nvSpPr>
          <p:spPr>
            <a:xfrm>
              <a:off x="-25695200" y="3564375"/>
              <a:ext cx="17350" cy="52800"/>
            </a:xfrm>
            <a:custGeom>
              <a:avLst/>
              <a:gdLst/>
              <a:ahLst/>
              <a:cxnLst/>
              <a:rect l="l" t="t" r="r" b="b"/>
              <a:pathLst>
                <a:path w="694" h="2112" extrusionOk="0">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6293;p86">
              <a:extLst>
                <a:ext uri="{FF2B5EF4-FFF2-40B4-BE49-F238E27FC236}">
                  <a16:creationId xmlns:a16="http://schemas.microsoft.com/office/drawing/2014/main" id="{FBD8F507-85BA-942D-99B6-439995AEA7E9}"/>
                </a:ext>
              </a:extLst>
            </p:cNvPr>
            <p:cNvSpPr/>
            <p:nvPr/>
          </p:nvSpPr>
          <p:spPr>
            <a:xfrm>
              <a:off x="-25792850" y="3606125"/>
              <a:ext cx="42550" cy="40975"/>
            </a:xfrm>
            <a:custGeom>
              <a:avLst/>
              <a:gdLst/>
              <a:ahLst/>
              <a:cxnLst/>
              <a:rect l="l" t="t" r="r" b="b"/>
              <a:pathLst>
                <a:path w="1702" h="1639" extrusionOk="0">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6294;p86">
              <a:extLst>
                <a:ext uri="{FF2B5EF4-FFF2-40B4-BE49-F238E27FC236}">
                  <a16:creationId xmlns:a16="http://schemas.microsoft.com/office/drawing/2014/main" id="{B8FE736D-933E-A361-7A8A-909C1C7FC731}"/>
                </a:ext>
              </a:extLst>
            </p:cNvPr>
            <p:cNvSpPr/>
            <p:nvPr/>
          </p:nvSpPr>
          <p:spPr>
            <a:xfrm>
              <a:off x="-25621950" y="3606125"/>
              <a:ext cx="43350" cy="40975"/>
            </a:xfrm>
            <a:custGeom>
              <a:avLst/>
              <a:gdLst/>
              <a:ahLst/>
              <a:cxnLst/>
              <a:rect l="l" t="t" r="r" b="b"/>
              <a:pathLst>
                <a:path w="1734" h="1639" extrusionOk="0">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6295;p86">
              <a:extLst>
                <a:ext uri="{FF2B5EF4-FFF2-40B4-BE49-F238E27FC236}">
                  <a16:creationId xmlns:a16="http://schemas.microsoft.com/office/drawing/2014/main" id="{5F10D423-18EC-F24D-FAF3-3D8EBA578B24}"/>
                </a:ext>
              </a:extLst>
            </p:cNvPr>
            <p:cNvSpPr/>
            <p:nvPr/>
          </p:nvSpPr>
          <p:spPr>
            <a:xfrm>
              <a:off x="-25783400" y="3806975"/>
              <a:ext cx="192200" cy="35450"/>
            </a:xfrm>
            <a:custGeom>
              <a:avLst/>
              <a:gdLst/>
              <a:ahLst/>
              <a:cxnLst/>
              <a:rect l="l" t="t" r="r" b="b"/>
              <a:pathLst>
                <a:path w="7688" h="1418" extrusionOk="0">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6296;p86">
              <a:extLst>
                <a:ext uri="{FF2B5EF4-FFF2-40B4-BE49-F238E27FC236}">
                  <a16:creationId xmlns:a16="http://schemas.microsoft.com/office/drawing/2014/main" id="{A40363B4-B414-1285-063C-3342A1A90CEE}"/>
                </a:ext>
              </a:extLst>
            </p:cNvPr>
            <p:cNvSpPr/>
            <p:nvPr/>
          </p:nvSpPr>
          <p:spPr>
            <a:xfrm>
              <a:off x="-25764500" y="3635275"/>
              <a:ext cx="153600" cy="155175"/>
            </a:xfrm>
            <a:custGeom>
              <a:avLst/>
              <a:gdLst/>
              <a:ahLst/>
              <a:cxnLst/>
              <a:rect l="l" t="t" r="r" b="b"/>
              <a:pathLst>
                <a:path w="6144" h="6207" extrusionOk="0">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39364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pic>
        <p:nvPicPr>
          <p:cNvPr id="535" name="Google Shape;535;p50"/>
          <p:cNvPicPr preferRelativeResize="0">
            <a:picLocks noGrp="1"/>
          </p:cNvPicPr>
          <p:nvPr>
            <p:ph type="pic" idx="2"/>
          </p:nvPr>
        </p:nvPicPr>
        <p:blipFill rotWithShape="1">
          <a:blip r:embed="rId3">
            <a:alphaModFix/>
          </a:blip>
          <a:srcRect l="7015" r="7015"/>
          <a:stretch/>
        </p:blipFill>
        <p:spPr>
          <a:xfrm>
            <a:off x="868200" y="1102200"/>
            <a:ext cx="3051600" cy="2939100"/>
          </a:xfrm>
          <a:prstGeom prst="round2DiagRect">
            <a:avLst>
              <a:gd name="adj1" fmla="val 26765"/>
              <a:gd name="adj2" fmla="val 0"/>
            </a:avLst>
          </a:prstGeom>
        </p:spPr>
      </p:pic>
      <p:pic>
        <p:nvPicPr>
          <p:cNvPr id="7" name="Picture 6">
            <a:extLst>
              <a:ext uri="{FF2B5EF4-FFF2-40B4-BE49-F238E27FC236}">
                <a16:creationId xmlns:a16="http://schemas.microsoft.com/office/drawing/2014/main" id="{0FC48667-625D-DCFB-93C0-0BC7B330C141}"/>
              </a:ext>
            </a:extLst>
          </p:cNvPr>
          <p:cNvPicPr>
            <a:picLocks noChangeAspect="1"/>
          </p:cNvPicPr>
          <p:nvPr/>
        </p:nvPicPr>
        <p:blipFill>
          <a:blip r:embed="rId4"/>
          <a:stretch>
            <a:fillRect/>
          </a:stretch>
        </p:blipFill>
        <p:spPr>
          <a:xfrm>
            <a:off x="4370406" y="537878"/>
            <a:ext cx="3810532" cy="406774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255;p71">
            <a:extLst>
              <a:ext uri="{FF2B5EF4-FFF2-40B4-BE49-F238E27FC236}">
                <a16:creationId xmlns:a16="http://schemas.microsoft.com/office/drawing/2014/main" id="{3C396727-394D-56B7-211A-2A26C51D0265}"/>
              </a:ext>
            </a:extLst>
          </p:cNvPr>
          <p:cNvSpPr txBox="1">
            <a:spLocks noGrp="1"/>
          </p:cNvSpPr>
          <p:nvPr>
            <p:ph type="title"/>
          </p:nvPr>
        </p:nvSpPr>
        <p:spPr>
          <a:xfrm>
            <a:off x="673769" y="2183250"/>
            <a:ext cx="7911966" cy="777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600" dirty="0"/>
              <a:t>The End of </a:t>
            </a:r>
            <a:r>
              <a:rPr lang="en" sz="3600" dirty="0">
                <a:solidFill>
                  <a:schemeClr val="accent2"/>
                </a:solidFill>
              </a:rPr>
              <a:t>the Beginning</a:t>
            </a:r>
            <a:endParaRPr sz="3600" dirty="0">
              <a:solidFill>
                <a:schemeClr val="accent2"/>
              </a:solidFill>
            </a:endParaRPr>
          </a:p>
        </p:txBody>
      </p:sp>
    </p:spTree>
    <p:extLst>
      <p:ext uri="{BB962C8B-B14F-4D97-AF65-F5344CB8AC3E}">
        <p14:creationId xmlns:p14="http://schemas.microsoft.com/office/powerpoint/2010/main" val="4084048113"/>
      </p:ext>
    </p:extLst>
  </p:cSld>
  <p:clrMapOvr>
    <a:masterClrMapping/>
  </p:clrMapOvr>
</p:sld>
</file>

<file path=ppt/theme/theme1.xml><?xml version="1.0" encoding="utf-8"?>
<a:theme xmlns:a="http://schemas.openxmlformats.org/drawingml/2006/main" name="Korean Brand MK SWOT Analysis by Slidesgo">
  <a:themeElements>
    <a:clrScheme name="Simple Light">
      <a:dk1>
        <a:srgbClr val="000000"/>
      </a:dk1>
      <a:lt1>
        <a:srgbClr val="FFFFFF"/>
      </a:lt1>
      <a:dk2>
        <a:srgbClr val="7FCCC1"/>
      </a:dk2>
      <a:lt2>
        <a:srgbClr val="507DCC"/>
      </a:lt2>
      <a:accent1>
        <a:srgbClr val="F7A54B"/>
      </a:accent1>
      <a:accent2>
        <a:srgbClr val="F86B77"/>
      </a:accent2>
      <a:accent3>
        <a:srgbClr val="FCE754"/>
      </a:accent3>
      <a:accent4>
        <a:srgbClr val="C26C99"/>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192</TotalTime>
  <Words>1489</Words>
  <Application>Microsoft Office PowerPoint</Application>
  <PresentationFormat>On-screen Show (16:9)</PresentationFormat>
  <Paragraphs>99</Paragraphs>
  <Slides>25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Aptos Display</vt:lpstr>
      <vt:lpstr>Archivo</vt:lpstr>
      <vt:lpstr>Krona One</vt:lpstr>
      <vt:lpstr>Korean Brand MK SWOT Analysis by Slidesgo</vt:lpstr>
      <vt:lpstr>  SWOT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End of the Beginning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Jayanta Kr Pradhan</dc:creator>
  <cp:lastModifiedBy>Jasbir Pradhan</cp:lastModifiedBy>
  <cp:revision>4</cp:revision>
  <dcterms:modified xsi:type="dcterms:W3CDTF">2025-08-08T07:05:11Z</dcterms:modified>
</cp:coreProperties>
</file>